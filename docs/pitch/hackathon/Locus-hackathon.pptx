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charts/chart1.xml" ContentType="application/vnd.openxmlformats-officedocument.drawingml.chart+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charts/chart2.xml" ContentType="application/vnd.openxmlformats-officedocument.drawingml.chart+xml"/>
  <Override PartName="/ppt/slideMasters/slideMaster10.xml" ContentType="application/vnd.openxmlformats-officedocument.presentationml.slideMaster+xml"/>
  <Override PartName="/ppt/slides/slide10.xml" ContentType="application/vnd.openxmlformats-officedocument.presentationml.slide+xml"/>
  <Override PartName="/ppt/charts/chart3.xml" ContentType="application/vnd.openxmlformats-officedocument.drawingml.chart+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notesMasterIdLst>
    <p:notesMasterId r:id="rId1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notesMaster" Target="notesMasters/notesMaster1.xml"/><Relationship Id="rId18" Type="http://schemas.openxmlformats.org/officeDocument/2006/relationships/presProps" Target="presProps.xml"/><Relationship Id="rId19" Type="http://schemas.openxmlformats.org/officeDocument/2006/relationships/viewProps" Target="viewProps.xml"/><Relationship Id="rId20" Type="http://schemas.openxmlformats.org/officeDocument/2006/relationships/theme" Target="theme/theme1.xml"/><Relationship Id="rId21"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stacked"/>
        <c:varyColors val="0"/>
        <c:ser>
          <c:idx val="0"/>
          <c:order val="0"/>
          <c:tx>
            <c:strRef>
              <c:f>Sheet1!$B$1</c:f>
              <c:strCache>
                <c:ptCount val="1"/>
                <c:pt idx="0">
                  <c:v>Done by hand</c:v>
                </c:pt>
              </c:strCache>
            </c:strRef>
          </c:tx>
          <c:spPr>
            <a:solidFill>
              <a:srgbClr val="D97757"/>
            </a:solidFill>
            <a:effectLst/>
          </c:spPr>
          <c:invertIfNegative val="0"/>
          <c:dLbls>
            <c:numFmt formatCode="#,##0" sourceLinked="0"/>
            <c:txPr>
              <a:bodyPr/>
              <a:lstStyle/>
              <a:p>
                <a:pPr>
                  <a:defRPr b="0" i="0" strike="noStrike" sz="1000" u="none">
                    <a:solidFill>
                      <a:srgbClr val="191919"/>
                    </a:solidFill>
                    <a:latin typeface="Calibri"/>
                  </a:defRPr>
                </a:pPr>
              </a:p>
            </c:txPr>
            <c:dLblPos val="ctr"/>
            <c:showLegendKey val="0"/>
            <c:showVal val="1"/>
            <c:showCatName val="0"/>
            <c:showSerName val="0"/>
            <c:showPercent val="0"/>
            <c:showBubbleSize val="0"/>
            <c:showLeaderLines val="0"/>
          </c:dLbls>
          <c:cat>
            <c:multiLvlStrRef>
              <c:f>Sheet1!$A$2:$A$4</c:f>
              <c:multiLvlStrCache>
                <c:ptCount val="3"/>
                <c:lvl>
                  <c:pt idx="0">
                    <c:v>Today</c:v>
                  </c:pt>
                  <c:pt idx="1">
                    <c:v>Locus · Assisted</c:v>
                  </c:pt>
                  <c:pt idx="2">
                    <c:v>Locus · Autonomous</c:v>
                  </c:pt>
                </c:lvl>
              </c:multiLvlStrCache>
            </c:multiLvlStrRef>
          </c:cat>
          <c:val>
            <c:numRef>
              <c:f>Sheet1!$B$2:$B$4</c:f>
              <c:numCache>
                <c:formatCode>General</c:formatCode>
                <c:ptCount val="3"/>
                <c:pt idx="0">
                  <c:v>10</c:v>
                </c:pt>
                <c:pt idx="1">
                  <c:v>1</c:v>
                </c:pt>
                <c:pt idx="2">
                  <c:v>0</c:v>
                </c:pt>
              </c:numCache>
            </c:numRef>
          </c:val>
        </c:ser>
        <c:ser>
          <c:idx val="1"/>
          <c:order val="1"/>
          <c:tx>
            <c:strRef>
              <c:f>Sheet1!$C$1</c:f>
              <c:strCache>
                <c:ptCount val="1"/>
                <c:pt idx="0">
                  <c:v>Human judgement</c:v>
                </c:pt>
              </c:strCache>
            </c:strRef>
          </c:tx>
          <c:spPr>
            <a:solidFill>
              <a:srgbClr val="D4A27F"/>
            </a:solidFill>
            <a:effectLst/>
          </c:spPr>
          <c:invertIfNegative val="0"/>
          <c:dLbls>
            <c:numFmt formatCode="#,##0" sourceLinked="0"/>
            <c:txPr>
              <a:bodyPr/>
              <a:lstStyle/>
              <a:p>
                <a:pPr>
                  <a:defRPr b="0" i="0" strike="noStrike" sz="1000" u="none">
                    <a:solidFill>
                      <a:srgbClr val="191919"/>
                    </a:solidFill>
                    <a:latin typeface="Calibri"/>
                  </a:defRPr>
                </a:pPr>
              </a:p>
            </c:txPr>
            <c:dLblPos val="ctr"/>
            <c:showLegendKey val="0"/>
            <c:showVal val="1"/>
            <c:showCatName val="0"/>
            <c:showSerName val="0"/>
            <c:showPercent val="0"/>
            <c:showBubbleSize val="0"/>
            <c:showLeaderLines val="0"/>
          </c:dLbls>
          <c:cat>
            <c:multiLvlStrRef>
              <c:f>Sheet1!$A$2:$A$4</c:f>
              <c:multiLvlStrCache>
                <c:ptCount val="3"/>
                <c:lvl>
                  <c:pt idx="0">
                    <c:v>Today</c:v>
                  </c:pt>
                  <c:pt idx="1">
                    <c:v>Locus · Assisted</c:v>
                  </c:pt>
                  <c:pt idx="2">
                    <c:v>Locus · Autonomous</c:v>
                  </c:pt>
                </c:lvl>
              </c:multiLvlStrCache>
            </c:multiLvlStrRef>
          </c:cat>
          <c:val>
            <c:numRef>
              <c:f>Sheet1!$C$2:$C$4</c:f>
              <c:numCache>
                <c:formatCode>General</c:formatCode>
                <c:ptCount val="3"/>
                <c:pt idx="0">
                  <c:v>2</c:v>
                </c:pt>
                <c:pt idx="1">
                  <c:v>2</c:v>
                </c:pt>
                <c:pt idx="2">
                  <c:v>2</c:v>
                </c:pt>
              </c:numCache>
            </c:numRef>
          </c:val>
        </c:ser>
        <c:ser>
          <c:idx val="2"/>
          <c:order val="2"/>
          <c:tx>
            <c:strRef>
              <c:f>Sheet1!$D$1</c:f>
              <c:strCache>
                <c:ptCount val="1"/>
                <c:pt idx="0">
                  <c:v>Automated</c:v>
                </c:pt>
              </c:strCache>
            </c:strRef>
          </c:tx>
          <c:spPr>
            <a:solidFill>
              <a:srgbClr val="C9C3B8"/>
            </a:solidFill>
            <a:effectLst/>
          </c:spPr>
          <c:invertIfNegative val="0"/>
          <c:dLbls>
            <c:numFmt formatCode="#,##0" sourceLinked="0"/>
            <c:txPr>
              <a:bodyPr/>
              <a:lstStyle/>
              <a:p>
                <a:pPr>
                  <a:defRPr b="0" i="0" strike="noStrike" sz="1000" u="none">
                    <a:solidFill>
                      <a:srgbClr val="191919"/>
                    </a:solidFill>
                    <a:latin typeface="Calibri"/>
                  </a:defRPr>
                </a:pPr>
              </a:p>
            </c:txPr>
            <c:dLblPos val="ctr"/>
            <c:showLegendKey val="0"/>
            <c:showVal val="1"/>
            <c:showCatName val="0"/>
            <c:showSerName val="0"/>
            <c:showPercent val="0"/>
            <c:showBubbleSize val="0"/>
            <c:showLeaderLines val="0"/>
          </c:dLbls>
          <c:cat>
            <c:multiLvlStrRef>
              <c:f>Sheet1!$A$2:$A$4</c:f>
              <c:multiLvlStrCache>
                <c:ptCount val="3"/>
                <c:lvl>
                  <c:pt idx="0">
                    <c:v>Today</c:v>
                  </c:pt>
                  <c:pt idx="1">
                    <c:v>Locus · Assisted</c:v>
                  </c:pt>
                  <c:pt idx="2">
                    <c:v>Locus · Autonomous</c:v>
                  </c:pt>
                </c:lvl>
              </c:multiLvlStrCache>
            </c:multiLvlStrRef>
          </c:cat>
          <c:val>
            <c:numRef>
              <c:f>Sheet1!$D$2:$D$4</c:f>
              <c:numCache>
                <c:formatCode>General</c:formatCode>
                <c:ptCount val="3"/>
                <c:pt idx="0">
                  <c:v>0</c:v>
                </c:pt>
                <c:pt idx="1">
                  <c:v>9</c:v>
                </c:pt>
                <c:pt idx="2">
                  <c:v>10</c:v>
                </c:pt>
              </c:numCache>
            </c:numRef>
          </c:val>
        </c:ser>
        <c:dLbls>
          <c:numFmt formatCode="#,##0" sourceLinked="0"/>
          <c:txPr>
            <a:bodyPr/>
            <a:lstStyle/>
            <a:p>
              <a:pPr>
                <a:defRPr b="0" i="0" strike="noStrike" sz="1000" u="none">
                  <a:solidFill>
                    <a:srgbClr val="191919"/>
                  </a:solidFill>
                  <a:latin typeface="Calibri"/>
                </a:defRPr>
              </a:pPr>
            </a:p>
          </c:txPr>
          <c:dLblPos val="ctr"/>
          <c:showLegendKey val="0"/>
          <c:showVal val="1"/>
          <c:showCatName val="0"/>
          <c:showSerName val="0"/>
          <c:showPercent val="0"/>
          <c:showBubbleSize val="0"/>
          <c:showLeaderLines val="0"/>
        </c:dLbls>
        <c:gapWidth val="55"/>
        <c:overlap val="10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050" b="0" i="0" u="none" strike="noStrike">
                <a:solidFill>
                  <a:srgbClr val="73716C"/>
                </a:solidFill>
                <a:latin typeface="Calibri"/>
              </a:defRPr>
            </a:pPr>
            <a:endParaRPr lang="en-US"/>
          </a:p>
        </c:txPr>
        <c:crossAx val="2094734552"/>
        <c:crosses val="autoZero"/>
        <c:auto val="1"/>
        <c:lblAlgn val="ctr"/>
        <c:noMultiLvlLbl val="1"/>
      </c:catAx>
      <c:valAx>
        <c:axId val="2094734552"/>
        <c:scaling>
          <c:orientation val="minMax"/>
          <c:max val="12"/>
        </c:scaling>
        <c:delete val="0"/>
        <c:axPos val="b"/>
        <c:majorGridlines>
          <c:spPr>
            <a:ln w="9525" cap="flat">
              <a:solidFill>
                <a:srgbClr val="DFDBD1"/>
              </a:solidFill>
              <a:prstDash val="solid"/>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950" b="0" i="0" u="none" strike="noStrike">
                <a:solidFill>
                  <a:srgbClr val="73716C"/>
                </a:solidFill>
                <a:latin typeface="Calibri"/>
              </a:defRPr>
            </a:pPr>
            <a:endParaRPr lang="en-US"/>
          </a:p>
        </c:txPr>
        <c:crossAx val="2094734554"/>
        <c:crosses val="autoZero"/>
        <c:crossBetween val="between"/>
      </c:valAx>
      <c:spPr>
        <a:solidFill>
          <a:srgbClr val="FAF9F5"/>
        </a:solidFill>
        <a:ln>
          <a:noFill/>
        </a:ln>
        <a:effectLst/>
      </c:spPr>
    </c:plotArea>
    <c:legend>
      <c:legendPos val="b"/>
      <c:overlay val="0"/>
      <c:txPr>
        <a:bodyPr/>
        <a:lstStyle/>
        <a:p>
          <a:pPr>
            <a:defRPr sz="1050">
              <a:solidFill>
                <a:srgbClr val="73716C"/>
              </a:solidFill>
              <a:latin typeface="Calibri"/>
              <a:cs typeface="Calibri"/>
            </a:defRPr>
          </a:pPr>
          <a:endParaRPr lang="en-US"/>
        </a:p>
      </c:txPr>
    </c:legend>
    <c:plotVisOnly val="1"/>
    <c:dispBlanksAs val="span"/>
  </c:chart>
  <c:spPr>
    <a:solidFill>
      <a:srgbClr val="FAF9F5"/>
    </a:solid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Tests</c:v>
                </c:pt>
              </c:strCache>
            </c:strRef>
          </c:tx>
          <c:spPr>
            <a:solidFill>
              <a:srgbClr val="D97757"/>
            </a:solidFill>
            <a:effectLst/>
          </c:spPr>
          <c:invertIfNegative val="0"/>
          <c:dLbls>
            <c:numFmt formatCode="#,##0" sourceLinked="0"/>
            <c:txPr>
              <a:bodyPr/>
              <a:lstStyle/>
              <a:p>
                <a:pPr>
                  <a:defRPr b="0" i="0" strike="noStrike" sz="1000" u="none">
                    <a:solidFill>
                      <a:srgbClr val="73716C"/>
                    </a:solidFill>
                    <a:latin typeface="Calibri"/>
                  </a:defRPr>
                </a:pPr>
              </a:p>
            </c:txPr>
            <c:showLegendKey val="0"/>
            <c:showVal val="1"/>
            <c:showCatName val="0"/>
            <c:showSerName val="0"/>
            <c:showPercent val="0"/>
            <c:showBubbleSize val="0"/>
            <c:showLeaderLines val="0"/>
          </c:dLbls>
          <c:cat>
            <c:multiLvlStrRef>
              <c:f>Sheet1!$A$2:$A$10</c:f>
              <c:multiLvlStrCache>
                <c:ptCount val="9"/>
                <c:lvl>
                  <c:pt idx="0">
                    <c:v>Authoring &amp; modes</c:v>
                  </c:pt>
                  <c:pt idx="1">
                    <c:v>Task board &amp; worklist</c:v>
                  </c:pt>
                  <c:pt idx="2">
                    <c:v>Context &amp; records</c:v>
                  </c:pt>
                  <c:pt idx="3">
                    <c:v>Scheduler &amp; availability</c:v>
                  </c:pt>
                  <c:pt idx="4">
                    <c:v>Review &amp; merge loop</c:v>
                  </c:pt>
                  <c:pt idx="5">
                    <c:v>Integrations &amp; auth</c:v>
                  </c:pt>
                  <c:pt idx="6">
                    <c:v>Security &amp; code review</c:v>
                  </c:pt>
                  <c:pt idx="7">
                    <c:v>QA sign-off loop</c:v>
                  </c:pt>
                  <c:pt idx="8">
                    <c:v>Worker &amp; platform</c:v>
                  </c:pt>
                </c:lvl>
              </c:multiLvlStrCache>
            </c:multiLvlStrRef>
          </c:cat>
          <c:val>
            <c:numRef>
              <c:f>Sheet1!$B$2:$B$10</c:f>
              <c:numCache>
                <c:formatCode>General</c:formatCode>
                <c:ptCount val="9"/>
                <c:pt idx="0">
                  <c:v>156</c:v>
                </c:pt>
                <c:pt idx="1">
                  <c:v>120</c:v>
                </c:pt>
                <c:pt idx="2">
                  <c:v>116</c:v>
                </c:pt>
                <c:pt idx="3">
                  <c:v>108</c:v>
                </c:pt>
                <c:pt idx="4">
                  <c:v>94</c:v>
                </c:pt>
                <c:pt idx="5">
                  <c:v>94</c:v>
                </c:pt>
                <c:pt idx="6">
                  <c:v>90</c:v>
                </c:pt>
                <c:pt idx="7">
                  <c:v>33</c:v>
                </c:pt>
                <c:pt idx="8">
                  <c:v>21</c:v>
                </c:pt>
              </c:numCache>
            </c:numRef>
          </c:val>
        </c:ser>
        <c:dLbls>
          <c:numFmt formatCode="#,##0" sourceLinked="0"/>
          <c:txPr>
            <a:bodyPr/>
            <a:lstStyle/>
            <a:p>
              <a:pPr>
                <a:defRPr b="0" i="0" strike="noStrike" sz="1000" u="none">
                  <a:solidFill>
                    <a:srgbClr val="73716C"/>
                  </a:solidFill>
                  <a:latin typeface="Calibri"/>
                </a:defRPr>
              </a:pPr>
            </a:p>
          </c:txPr>
          <c:showLegendKey val="0"/>
          <c:showVal val="1"/>
          <c:showCatName val="0"/>
          <c:showSerName val="0"/>
          <c:showPercent val="0"/>
          <c:showBubbleSize val="0"/>
          <c:showLeaderLines val="0"/>
        </c:dLbls>
        <c:gapWidth val="42"/>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000" b="0" i="0" u="none" strike="noStrike">
                <a:solidFill>
                  <a:srgbClr val="73716C"/>
                </a:solidFill>
                <a:latin typeface="Calibri"/>
              </a:defRPr>
            </a:pPr>
            <a:endParaRPr lang="en-US"/>
          </a:p>
        </c:txPr>
        <c:crossAx val="2094734552"/>
        <c:crosses val="autoZero"/>
        <c:auto val="1"/>
        <c:lblAlgn val="ctr"/>
        <c:noMultiLvlLbl val="1"/>
      </c:catAx>
      <c:valAx>
        <c:axId val="2094734552"/>
        <c:scaling>
          <c:orientation val="minMax"/>
          <c:max val="175"/>
          <c:min val="0"/>
        </c:scaling>
        <c:delete val="0"/>
        <c:axPos val="b"/>
        <c:majorGridlines>
          <c:spPr>
            <a:ln w="9525" cap="flat">
              <a:solidFill>
                <a:srgbClr val="DFDBD1"/>
              </a:solidFill>
              <a:prstDash val="solid"/>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950" b="0" i="0" u="none" strike="noStrike">
                <a:solidFill>
                  <a:srgbClr val="73716C"/>
                </a:solidFill>
                <a:latin typeface="Calibri"/>
              </a:defRPr>
            </a:pPr>
            <a:endParaRPr lang="en-US"/>
          </a:p>
        </c:txPr>
        <c:crossAx val="2094734554"/>
        <c:crosses val="autoZero"/>
        <c:crossBetween val="between"/>
        <c:majorUnit val="25"/>
      </c:valAx>
      <c:spPr>
        <a:solidFill>
          <a:srgbClr val="FAF9F5"/>
        </a:solidFill>
        <a:ln>
          <a:noFill/>
        </a:ln>
        <a:effectLst/>
      </c:spPr>
    </c:plotArea>
    <c:plotVisOnly val="1"/>
    <c:dispBlanksAs val="span"/>
  </c:chart>
  <c:spPr>
    <a:solidFill>
      <a:srgbClr val="FAF9F5"/>
    </a:solid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doughnutChart>
        <c:varyColors val="1"/>
        <c:ser>
          <c:idx val="0"/>
          <c:order val="0"/>
          <c:tx>
            <c:strRef>
              <c:f>Sheet1!$B$1</c:f>
              <c:strCache>
                <c:ptCount val="1"/>
                <c:pt idx="0">
                  <c:v>Lines of code</c:v>
                </c:pt>
              </c:strCache>
            </c:strRef>
          </c:tx>
          <c:spPr>
            <a:solidFill>
              <a:schemeClr val="accent1"/>
            </a:solidFill>
            <a:ln w="9525" cap="flat">
              <a:solidFill>
                <a:srgbClr val="F9F9F9"/>
              </a:solidFill>
              <a:prstDash val="solid"/>
              <a:round/>
            </a:ln>
            <a:effectLst/>
          </c:spPr>
          <c:dPt>
            <c:idx val="0"/>
            <c:bubble3D val="0"/>
            <c:spPr>
              <a:solidFill>
                <a:srgbClr val="D97757"/>
              </a:solidFill>
              <a:effectLst/>
            </c:spPr>
          </c:dPt>
          <c:dPt>
            <c:idx val="1"/>
            <c:bubble3D val="0"/>
            <c:spPr>
              <a:solidFill>
                <a:srgbClr val="CC785C"/>
              </a:solidFill>
              <a:effectLst/>
            </c:spPr>
          </c:dPt>
          <c:dPt>
            <c:idx val="2"/>
            <c:bubble3D val="0"/>
            <c:spPr>
              <a:solidFill>
                <a:srgbClr val="D4A27F"/>
              </a:solidFill>
              <a:effectLst/>
            </c:spPr>
          </c:dPt>
          <c:dPt>
            <c:idx val="3"/>
            <c:bubble3D val="0"/>
            <c:spPr>
              <a:solidFill>
                <a:srgbClr val="AFA89C"/>
              </a:solidFill>
              <a:effectLst/>
            </c:spPr>
          </c:dPt>
          <c:dPt>
            <c:idx val="4"/>
            <c:bubble3D val="0"/>
            <c:spPr>
              <a:solidFill>
                <a:srgbClr val="C9C3B8"/>
              </a:solidFill>
              <a:effectLst/>
            </c:spPr>
          </c:dPt>
          <c:dLbls>
            <c:dLbl>
              <c:idx val="0"/>
              <c:numFmt formatCode="0%" sourceLinked="0"/>
              <c:spPr/>
              <c:txPr>
                <a:bodyPr/>
                <a:lstStyle/>
                <a:p>
                  <a:pPr>
                    <a:defRPr sz="950" b="0" i="0" u="none" strike="noStrike">
                      <a:solidFill>
                        <a:srgbClr val="FAF9F5"/>
                      </a:solidFill>
                      <a:latin typeface="Calibri"/>
                    </a:defRPr>
                  </a:pPr>
                </a:p>
              </c:txPr>
              <c:showLegendKey val="0"/>
              <c:showVal val="0"/>
              <c:showCatName val="0"/>
              <c:showSerName val="0"/>
              <c:showPercent val="1"/>
              <c:showBubbleSize val="0"/>
            </c:dLbl>
            <c:dLbl>
              <c:idx val="1"/>
              <c:numFmt formatCode="0%" sourceLinked="0"/>
              <c:spPr/>
              <c:txPr>
                <a:bodyPr/>
                <a:lstStyle/>
                <a:p>
                  <a:pPr>
                    <a:defRPr sz="950" b="0" i="0" u="none" strike="noStrike">
                      <a:solidFill>
                        <a:srgbClr val="FAF9F5"/>
                      </a:solidFill>
                      <a:latin typeface="Calibri"/>
                    </a:defRPr>
                  </a:pPr>
                </a:p>
              </c:txPr>
              <c:showLegendKey val="0"/>
              <c:showVal val="0"/>
              <c:showCatName val="0"/>
              <c:showSerName val="0"/>
              <c:showPercent val="1"/>
              <c:showBubbleSize val="0"/>
            </c:dLbl>
            <c:dLbl>
              <c:idx val="2"/>
              <c:numFmt formatCode="0%" sourceLinked="0"/>
              <c:spPr/>
              <c:txPr>
                <a:bodyPr/>
                <a:lstStyle/>
                <a:p>
                  <a:pPr>
                    <a:defRPr sz="950" b="0" i="0" u="none" strike="noStrike">
                      <a:solidFill>
                        <a:srgbClr val="FAF9F5"/>
                      </a:solidFill>
                      <a:latin typeface="Calibri"/>
                    </a:defRPr>
                  </a:pPr>
                </a:p>
              </c:txPr>
              <c:showLegendKey val="0"/>
              <c:showVal val="0"/>
              <c:showCatName val="0"/>
              <c:showSerName val="0"/>
              <c:showPercent val="1"/>
              <c:showBubbleSize val="0"/>
            </c:dLbl>
            <c:dLbl>
              <c:idx val="3"/>
              <c:numFmt formatCode="0%" sourceLinked="0"/>
              <c:spPr/>
              <c:txPr>
                <a:bodyPr/>
                <a:lstStyle/>
                <a:p>
                  <a:pPr>
                    <a:defRPr sz="950" b="0" i="0" u="none" strike="noStrike">
                      <a:solidFill>
                        <a:srgbClr val="FAF9F5"/>
                      </a:solidFill>
                      <a:latin typeface="Calibri"/>
                    </a:defRPr>
                  </a:pPr>
                </a:p>
              </c:txPr>
              <c:showLegendKey val="0"/>
              <c:showVal val="0"/>
              <c:showCatName val="0"/>
              <c:showSerName val="0"/>
              <c:showPercent val="1"/>
              <c:showBubbleSize val="0"/>
            </c:dLbl>
            <c:dLbl>
              <c:idx val="4"/>
              <c:numFmt formatCode="0%" sourceLinked="0"/>
              <c:spPr/>
              <c:txPr>
                <a:bodyPr/>
                <a:lstStyle/>
                <a:p>
                  <a:pPr>
                    <a:defRPr sz="950" b="0" i="0" u="none" strike="noStrike">
                      <a:solidFill>
                        <a:srgbClr val="FAF9F5"/>
                      </a:solidFill>
                      <a:latin typeface="Calibri"/>
                    </a:defRPr>
                  </a:pPr>
                </a:p>
              </c:txPr>
              <c:showLegendKey val="0"/>
              <c:showVal val="0"/>
              <c:showCatName val="0"/>
              <c:showSerName val="0"/>
              <c:showPercent val="1"/>
              <c:showBubbleSize val="0"/>
            </c:dLbl>
            <c:numFmt formatCode="0%" sourceLinked="0"/>
            <c:txPr>
              <a:bodyPr/>
              <a:lstStyle/>
              <a:p>
                <a:pPr>
                  <a:defRPr sz="1800" b="0" i="0" u="none" strike="noStrike">
                    <a:solidFill>
                      <a:srgbClr val="000000"/>
                    </a:solidFill>
                    <a:latin typeface="Arial"/>
                  </a:defRPr>
                </a:pPr>
              </a:p>
            </c:txPr>
            <c:showLegendKey val="0"/>
            <c:showVal val="0"/>
            <c:showCatName val="1"/>
            <c:showSerName val="0"/>
            <c:showPercent val="1"/>
            <c:showBubbleSize val="0"/>
            <c:showLeaderLines val="0"/>
          </c:dLbls>
          <c:cat>
            <c:strRef>
              <c:f>Sheet1!$A$2:$A$6</c:f>
              <c:strCache>
                <c:ptCount val="5"/>
                <c:pt idx="0">
                  <c:v>Services</c:v>
                </c:pt>
                <c:pt idx="1">
                  <c:v>Tests</c:v>
                </c:pt>
                <c:pt idx="2">
                  <c:v>Frontend</c:v>
                </c:pt>
                <c:pt idx="3">
                  <c:v>Routers</c:v>
                </c:pt>
                <c:pt idx="4">
                  <c:v>Models &amp; schemas</c:v>
                </c:pt>
              </c:strCache>
            </c:strRef>
          </c:cat>
          <c:val>
            <c:numRef>
              <c:f>Sheet1!$B$2:$B$6</c:f>
              <c:numCache>
                <c:ptCount val="5"/>
                <c:pt idx="0">
                  <c:v>22082</c:v>
                </c:pt>
                <c:pt idx="1">
                  <c:v>14249</c:v>
                </c:pt>
                <c:pt idx="2">
                  <c:v>9983</c:v>
                </c:pt>
                <c:pt idx="3">
                  <c:v>4872</c:v>
                </c:pt>
                <c:pt idx="4">
                  <c:v>2505</c:v>
                </c:pt>
              </c:numCache>
            </c:numRef>
          </c:val>
        </c:ser>
        <c:firstSliceAng val="0"/>
        <c:holeSize val="58"/>
      </c:doughnutChart>
      <c:spPr>
        <a:solidFill>
          <a:srgbClr val="FAF9F5"/>
        </a:solidFill>
        <a:ln>
          <a:noFill/>
        </a:ln>
        <a:effectLst/>
      </c:spPr>
    </c:plotArea>
    <c:legend>
      <c:legendPos val="b"/>
      <c:overlay val="0"/>
      <c:txPr>
        <a:bodyPr/>
        <a:lstStyle/>
        <a:p>
          <a:pPr>
            <a:defRPr sz="1050">
              <a:solidFill>
                <a:srgbClr val="73716C"/>
              </a:solidFill>
              <a:latin typeface="Calibri"/>
              <a:cs typeface="Calibri"/>
            </a:defRPr>
          </a:pPr>
          <a:endParaRPr lang="en-US"/>
        </a:p>
      </c:txPr>
    </c:legend>
    <c:plotVisOnly val="1"/>
    <c:dispBlanksAs val="span"/>
  </c:chart>
  <c:spPr>
    <a:solidFill>
      <a:srgbClr val="FAF9F5"/>
    </a:solid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Locus takes a ticket from the moment it is assigned to the moment testing signs it off. Two modes: you write the code, or the agent does. Everything behind that is the same pipeline. Every model that reads your code automatically runs on your own hardware.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Twelve steps in a work item's life. Ten are done by hand today. Only two of them actually need a human: reviewing against the requirement, and verifying it works. Locus takes the other ten.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GitHub's own project workflows trigger on exactly one thing: an item closing. So a ticket sits in Todo through the branch, the review round trip and the whole QA thread, then jumps to Done. Seven of the eight stages are invisible.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Nine steps in three phases. Before the review it gathers context and scans. Around the review it posts findings, tracks the round trip GitHub does not record, and merges when the gate passes. After the merge it briefs testing, reads the verdict, and keeps the board and the record honest.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Assisted: you write the code, Locus does the rest. Autonomous: you hand it the ticket and it opens the pull request. The review and the QA sign-off are unchanged in both. The author is the only difference.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mode resolves work item, then repo, then account default. Most specific wins. A dependency bump goes to the agent; the auth path stays with you.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Bounded at three attempts. No merge capability at all. A human commit ends autonomous mode for that ticket. And a cap on concurrent agent PRs, because the real risk is not the absence of a human, it is rubber-stamping.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React front end over a FastAPI backend. One settings resolver decides what every run does, so the worker, the API and the UI preview cannot disagree. Four background loops. The security scan, the code review and the QA classifier are all loopback-bound to a local model server; only the authoring agent reaches out, and only when you hand it a ticket.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859 tests across nine subsystems. The heaviest coverage sits on the loops that send messages to real people, because those are the ones where a bug is visible to somebody else's team.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quarter of the codebase is tests. Every invariant is written down next to the failure that produced it, because the hardest bugs here all looked like success: a clean scan, a merged PR, a working link.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slide that changed most recently. Until this run, every integration call was written against the documented API and unproven. A ticket was assigned, the agent wrote the code, a human approved it, it merged, the testing team was briefed, a tester replied, and the ticket closed on that reply. The step worth watching is the middle one: GitHub closes a ticket the moment a linked pull request merges, and this repository is configured to close on QA sign-off instead, so Locus reopened it and left it open until a person confirmed.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Six defects, found by running the thing rather than by testing it. The first is the one worth naming: the command this project documents for running the backend puts the application on an event loop that cannot start a subprocess, and the entire authoring feature is a subprocess. It failed in exactly one environment and passed every test. The attribution one matters for a different reason: a commit written by a model carried a human name, which is both dishonest in the record and broke the guard that stops an agent overwriting someone's 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time agent answers on your behalf when you are booked. Importance is decided deterministically first — a reviewer mid-round, or a ticket already blocked on you — and only unstructured messages reach a classifier, which has no tools bound.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AI coding tool solves the same twenty percent: writing the diff. Locus builds the eighty percent around it — which is exactly what makes the author swappable, and why adding autonomous mode changed one setting instead of forking the product.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ticket goes in and a signed-off change comes out. You pick per ticket whether you write the code or Locus does. Thank you.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chart" Target="/ppt/charts/chart3.xml"/><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F1E1D"/>
        </a:solidFill>
      </p:bgPr>
    </p:bg>
    <p:spTree>
      <p:nvGrpSpPr>
        <p:cNvPr id="1" name=""/>
        <p:cNvGrpSpPr/>
        <p:nvPr/>
      </p:nvGrpSpPr>
      <p:grpSpPr>
        <a:xfrm>
          <a:off x="0" y="0"/>
          <a:ext cx="0" cy="0"/>
          <a:chOff x="0" y="0"/>
          <a:chExt cx="0" cy="0"/>
        </a:xfrm>
      </p:grpSpPr>
      <p:sp>
        <p:nvSpPr>
          <p:cNvPr id="2" name="Text 0"/>
          <p:cNvSpPr/>
          <p:nvPr/>
        </p:nvSpPr>
        <p:spPr>
          <a:xfrm>
            <a:off x="685800" y="1298448"/>
            <a:ext cx="5943600" cy="237744"/>
          </a:xfrm>
          <a:prstGeom prst="rect">
            <a:avLst/>
          </a:prstGeom>
          <a:noFill/>
          <a:ln/>
        </p:spPr>
        <p:txBody>
          <a:bodyPr wrap="square" lIns="0" tIns="0" rIns="0" bIns="0" rtlCol="0" anchor="ctr"/>
          <a:lstStyle/>
          <a:p>
            <a:pPr indent="0" marL="0">
              <a:buNone/>
            </a:pPr>
            <a:r>
              <a:rPr lang="en-US" sz="1050" b="1" spc="240" kern="0" dirty="0">
                <a:solidFill>
                  <a:srgbClr val="D4A27F"/>
                </a:solidFill>
                <a:latin typeface="Calibri" pitchFamily="34" charset="0"/>
                <a:ea typeface="Calibri" pitchFamily="34" charset="-122"/>
                <a:cs typeface="Calibri" pitchFamily="34" charset="-120"/>
              </a:rPr>
              <a:t>AI BUILDER HACKATHON 2026</a:t>
            </a:r>
            <a:endParaRPr lang="en-US" sz="1050" dirty="0"/>
          </a:p>
        </p:txBody>
      </p:sp>
      <p:sp>
        <p:nvSpPr>
          <p:cNvPr id="3" name="Text 1"/>
          <p:cNvSpPr/>
          <p:nvPr/>
        </p:nvSpPr>
        <p:spPr>
          <a:xfrm>
            <a:off x="640080" y="1664208"/>
            <a:ext cx="6583680" cy="1234440"/>
          </a:xfrm>
          <a:prstGeom prst="rect">
            <a:avLst/>
          </a:prstGeom>
          <a:noFill/>
          <a:ln/>
        </p:spPr>
        <p:txBody>
          <a:bodyPr wrap="square" lIns="0" tIns="0" rIns="0" bIns="0" rtlCol="0" anchor="ctr"/>
          <a:lstStyle/>
          <a:p>
            <a:pPr indent="0" marL="0">
              <a:buNone/>
            </a:pPr>
            <a:r>
              <a:rPr lang="en-US" sz="7400" b="1" dirty="0">
                <a:solidFill>
                  <a:srgbClr val="F5F3EE"/>
                </a:solidFill>
                <a:latin typeface="Cambria" pitchFamily="34" charset="0"/>
                <a:ea typeface="Cambria" pitchFamily="34" charset="-122"/>
                <a:cs typeface="Cambria" pitchFamily="34" charset="-120"/>
              </a:rPr>
              <a:t>Locus</a:t>
            </a:r>
            <a:endParaRPr lang="en-US" sz="7400" dirty="0"/>
          </a:p>
        </p:txBody>
      </p:sp>
      <p:sp>
        <p:nvSpPr>
          <p:cNvPr id="4" name="Text 2"/>
          <p:cNvSpPr/>
          <p:nvPr/>
        </p:nvSpPr>
        <p:spPr>
          <a:xfrm>
            <a:off x="685800" y="3017520"/>
            <a:ext cx="6035040" cy="868680"/>
          </a:xfrm>
          <a:prstGeom prst="rect">
            <a:avLst/>
          </a:prstGeom>
          <a:noFill/>
          <a:ln/>
        </p:spPr>
        <p:txBody>
          <a:bodyPr wrap="square" lIns="0" tIns="0" rIns="0" bIns="0" rtlCol="0" anchor="ctr"/>
          <a:lstStyle/>
          <a:p>
            <a:pPr indent="0" marL="0">
              <a:lnSpc>
                <a:spcPct val="122000"/>
              </a:lnSpc>
              <a:buNone/>
            </a:pPr>
            <a:r>
              <a:rPr lang="en-US" sz="2000" dirty="0">
                <a:solidFill>
                  <a:srgbClr val="D4A27F"/>
                </a:solidFill>
                <a:latin typeface="Calibri" pitchFamily="34" charset="0"/>
                <a:ea typeface="Calibri" pitchFamily="34" charset="-122"/>
                <a:cs typeface="Calibri" pitchFamily="34" charset="-120"/>
              </a:rPr>
              <a:t>An AI teammate that carries a ticket from assignment to QA sign-off.</a:t>
            </a:r>
            <a:endParaRPr lang="en-US" sz="2000" dirty="0"/>
          </a:p>
        </p:txBody>
      </p:sp>
      <p:sp>
        <p:nvSpPr>
          <p:cNvPr id="5" name="Text 3"/>
          <p:cNvSpPr/>
          <p:nvPr/>
        </p:nvSpPr>
        <p:spPr>
          <a:xfrm>
            <a:off x="685800" y="4114800"/>
            <a:ext cx="6035040" cy="329184"/>
          </a:xfrm>
          <a:prstGeom prst="rect">
            <a:avLst/>
          </a:prstGeom>
          <a:noFill/>
          <a:ln/>
        </p:spPr>
        <p:txBody>
          <a:bodyPr wrap="square" lIns="0" tIns="0" rIns="0" bIns="0" rtlCol="0" anchor="ctr"/>
          <a:lstStyle/>
          <a:p>
            <a:pPr indent="0" marL="0">
              <a:buNone/>
            </a:pPr>
            <a:r>
              <a:rPr lang="en-US" sz="1400" i="1" dirty="0">
                <a:solidFill>
                  <a:srgbClr val="A8A49C"/>
                </a:solidFill>
                <a:latin typeface="Calibri" pitchFamily="34" charset="0"/>
                <a:ea typeface="Calibri" pitchFamily="34" charset="-122"/>
                <a:cs typeface="Calibri" pitchFamily="34" charset="-120"/>
              </a:rPr>
              <a:t>Two modes. One pipeline. Every model that reads your code runs locally.</a:t>
            </a:r>
            <a:endParaRPr lang="en-US" sz="1400" dirty="0"/>
          </a:p>
        </p:txBody>
      </p:sp>
      <p:sp>
        <p:nvSpPr>
          <p:cNvPr id="6" name="Text 4"/>
          <p:cNvSpPr/>
          <p:nvPr/>
        </p:nvSpPr>
        <p:spPr>
          <a:xfrm>
            <a:off x="713232" y="4892040"/>
            <a:ext cx="1463040" cy="777240"/>
          </a:xfrm>
          <a:prstGeom prst="rect">
            <a:avLst/>
          </a:prstGeom>
          <a:noFill/>
          <a:ln/>
        </p:spPr>
        <p:txBody>
          <a:bodyPr wrap="square" lIns="0" tIns="0" rIns="0" bIns="0" rtlCol="0" anchor="ctr"/>
          <a:lstStyle/>
          <a:p>
            <a:pPr indent="0" marL="0">
              <a:buNone/>
            </a:pPr>
            <a:r>
              <a:rPr lang="en-US" sz="3000" b="1" dirty="0">
                <a:solidFill>
                  <a:srgbClr val="D97757"/>
                </a:solidFill>
                <a:latin typeface="Cambria" pitchFamily="34" charset="0"/>
                <a:ea typeface="Cambria" pitchFamily="34" charset="-122"/>
                <a:cs typeface="Cambria" pitchFamily="34" charset="-120"/>
              </a:rPr>
              <a:t>9</a:t>
            </a:r>
            <a:endParaRPr lang="en-US" sz="3000" dirty="0"/>
          </a:p>
        </p:txBody>
      </p:sp>
      <p:sp>
        <p:nvSpPr>
          <p:cNvPr id="7" name="Text 5"/>
          <p:cNvSpPr/>
          <p:nvPr/>
        </p:nvSpPr>
        <p:spPr>
          <a:xfrm>
            <a:off x="713232" y="5641848"/>
            <a:ext cx="1463040" cy="420624"/>
          </a:xfrm>
          <a:prstGeom prst="rect">
            <a:avLst/>
          </a:prstGeom>
          <a:noFill/>
          <a:ln/>
        </p:spPr>
        <p:txBody>
          <a:bodyPr wrap="square" lIns="0" tIns="0" rIns="0" bIns="0" rtlCol="0" anchor="ctr"/>
          <a:lstStyle/>
          <a:p>
            <a:pPr indent="0" marL="0">
              <a:lnSpc>
                <a:spcPct val="115000"/>
              </a:lnSpc>
              <a:buNone/>
            </a:pPr>
            <a:r>
              <a:rPr lang="en-US" sz="1150" dirty="0">
                <a:solidFill>
                  <a:srgbClr val="A8A49C"/>
                </a:solidFill>
                <a:latin typeface="Calibri" pitchFamily="34" charset="0"/>
                <a:ea typeface="Calibri" pitchFamily="34" charset="-122"/>
                <a:cs typeface="Calibri" pitchFamily="34" charset="-120"/>
              </a:rPr>
              <a:t>steps automated</a:t>
            </a:r>
            <a:endParaRPr lang="en-US" sz="1150" dirty="0"/>
          </a:p>
          <a:p>
            <a:pPr indent="0" marL="0">
              <a:lnSpc>
                <a:spcPct val="115000"/>
              </a:lnSpc>
              <a:buNone/>
            </a:pPr>
            <a:r>
              <a:rPr lang="en-US" sz="1150" dirty="0">
                <a:solidFill>
                  <a:srgbClr val="A8A49C"/>
                </a:solidFill>
                <a:latin typeface="Calibri" pitchFamily="34" charset="0"/>
                <a:ea typeface="Calibri" pitchFamily="34" charset="-122"/>
                <a:cs typeface="Calibri" pitchFamily="34" charset="-120"/>
              </a:rPr>
              <a:t>per work item</a:t>
            </a:r>
            <a:endParaRPr lang="en-US" sz="1150" dirty="0"/>
          </a:p>
        </p:txBody>
      </p:sp>
      <p:sp>
        <p:nvSpPr>
          <p:cNvPr id="8" name="Text 6"/>
          <p:cNvSpPr/>
          <p:nvPr/>
        </p:nvSpPr>
        <p:spPr>
          <a:xfrm>
            <a:off x="2286000" y="4892040"/>
            <a:ext cx="1463040" cy="777240"/>
          </a:xfrm>
          <a:prstGeom prst="rect">
            <a:avLst/>
          </a:prstGeom>
          <a:noFill/>
          <a:ln/>
        </p:spPr>
        <p:txBody>
          <a:bodyPr wrap="square" lIns="0" tIns="0" rIns="0" bIns="0" rtlCol="0" anchor="ctr"/>
          <a:lstStyle/>
          <a:p>
            <a:pPr indent="0" marL="0">
              <a:buNone/>
            </a:pPr>
            <a:r>
              <a:rPr lang="en-US" sz="3000" b="1" dirty="0">
                <a:solidFill>
                  <a:srgbClr val="D97757"/>
                </a:solidFill>
                <a:latin typeface="Cambria" pitchFamily="34" charset="0"/>
                <a:ea typeface="Cambria" pitchFamily="34" charset="-122"/>
                <a:cs typeface="Cambria" pitchFamily="34" charset="-120"/>
              </a:rPr>
              <a:t>859</a:t>
            </a:r>
            <a:endParaRPr lang="en-US" sz="3000" dirty="0"/>
          </a:p>
        </p:txBody>
      </p:sp>
      <p:sp>
        <p:nvSpPr>
          <p:cNvPr id="9" name="Text 7"/>
          <p:cNvSpPr/>
          <p:nvPr/>
        </p:nvSpPr>
        <p:spPr>
          <a:xfrm>
            <a:off x="2286000" y="5641848"/>
            <a:ext cx="1463040" cy="420624"/>
          </a:xfrm>
          <a:prstGeom prst="rect">
            <a:avLst/>
          </a:prstGeom>
          <a:noFill/>
          <a:ln/>
        </p:spPr>
        <p:txBody>
          <a:bodyPr wrap="square" lIns="0" tIns="0" rIns="0" bIns="0" rtlCol="0" anchor="ctr"/>
          <a:lstStyle/>
          <a:p>
            <a:pPr indent="0" marL="0">
              <a:lnSpc>
                <a:spcPct val="115000"/>
              </a:lnSpc>
              <a:buNone/>
            </a:pPr>
            <a:r>
              <a:rPr lang="en-US" sz="1150" dirty="0">
                <a:solidFill>
                  <a:srgbClr val="A8A49C"/>
                </a:solidFill>
                <a:latin typeface="Calibri" pitchFamily="34" charset="0"/>
                <a:ea typeface="Calibri" pitchFamily="34" charset="-122"/>
                <a:cs typeface="Calibri" pitchFamily="34" charset="-120"/>
              </a:rPr>
              <a:t>tests</a:t>
            </a:r>
            <a:endParaRPr lang="en-US" sz="1150" dirty="0"/>
          </a:p>
          <a:p>
            <a:pPr indent="0" marL="0">
              <a:lnSpc>
                <a:spcPct val="115000"/>
              </a:lnSpc>
              <a:buNone/>
            </a:pPr>
            <a:r>
              <a:rPr lang="en-US" sz="1150" dirty="0">
                <a:solidFill>
                  <a:srgbClr val="A8A49C"/>
                </a:solidFill>
                <a:latin typeface="Calibri" pitchFamily="34" charset="0"/>
                <a:ea typeface="Calibri" pitchFamily="34" charset="-122"/>
                <a:cs typeface="Calibri" pitchFamily="34" charset="-120"/>
              </a:rPr>
              <a:t>passing</a:t>
            </a:r>
            <a:endParaRPr lang="en-US" sz="1150" dirty="0"/>
          </a:p>
        </p:txBody>
      </p:sp>
      <p:sp>
        <p:nvSpPr>
          <p:cNvPr id="10" name="Text 8"/>
          <p:cNvSpPr/>
          <p:nvPr/>
        </p:nvSpPr>
        <p:spPr>
          <a:xfrm>
            <a:off x="3858768" y="4892040"/>
            <a:ext cx="1463040" cy="777240"/>
          </a:xfrm>
          <a:prstGeom prst="rect">
            <a:avLst/>
          </a:prstGeom>
          <a:noFill/>
          <a:ln/>
        </p:spPr>
        <p:txBody>
          <a:bodyPr wrap="square" lIns="0" tIns="0" rIns="0" bIns="0" rtlCol="0" anchor="ctr"/>
          <a:lstStyle/>
          <a:p>
            <a:pPr indent="0" marL="0">
              <a:buNone/>
            </a:pPr>
            <a:r>
              <a:rPr lang="en-US" sz="3000" b="1" dirty="0">
                <a:solidFill>
                  <a:srgbClr val="D97757"/>
                </a:solidFill>
                <a:latin typeface="Cambria" pitchFamily="34" charset="0"/>
                <a:ea typeface="Cambria" pitchFamily="34" charset="-122"/>
                <a:cs typeface="Cambria" pitchFamily="34" charset="-120"/>
              </a:rPr>
              <a:t>8</a:t>
            </a:r>
            <a:endParaRPr lang="en-US" sz="3000" dirty="0"/>
          </a:p>
        </p:txBody>
      </p:sp>
      <p:sp>
        <p:nvSpPr>
          <p:cNvPr id="11" name="Text 9"/>
          <p:cNvSpPr/>
          <p:nvPr/>
        </p:nvSpPr>
        <p:spPr>
          <a:xfrm>
            <a:off x="3858768" y="5641848"/>
            <a:ext cx="1463040" cy="420624"/>
          </a:xfrm>
          <a:prstGeom prst="rect">
            <a:avLst/>
          </a:prstGeom>
          <a:noFill/>
          <a:ln/>
        </p:spPr>
        <p:txBody>
          <a:bodyPr wrap="square" lIns="0" tIns="0" rIns="0" bIns="0" rtlCol="0" anchor="ctr"/>
          <a:lstStyle/>
          <a:p>
            <a:pPr indent="0" marL="0">
              <a:lnSpc>
                <a:spcPct val="115000"/>
              </a:lnSpc>
              <a:buNone/>
            </a:pPr>
            <a:r>
              <a:rPr lang="en-US" sz="1150" dirty="0">
                <a:solidFill>
                  <a:srgbClr val="A8A49C"/>
                </a:solidFill>
                <a:latin typeface="Calibri" pitchFamily="34" charset="0"/>
                <a:ea typeface="Calibri" pitchFamily="34" charset="-122"/>
                <a:cs typeface="Calibri" pitchFamily="34" charset="-120"/>
              </a:rPr>
              <a:t>tools</a:t>
            </a:r>
            <a:endParaRPr lang="en-US" sz="1150" dirty="0"/>
          </a:p>
          <a:p>
            <a:pPr indent="0" marL="0">
              <a:lnSpc>
                <a:spcPct val="115000"/>
              </a:lnSpc>
              <a:buNone/>
            </a:pPr>
            <a:r>
              <a:rPr lang="en-US" sz="1150" dirty="0">
                <a:solidFill>
                  <a:srgbClr val="A8A49C"/>
                </a:solidFill>
                <a:latin typeface="Calibri" pitchFamily="34" charset="0"/>
                <a:ea typeface="Calibri" pitchFamily="34" charset="-122"/>
                <a:cs typeface="Calibri" pitchFamily="34" charset="-120"/>
              </a:rPr>
              <a:t>connected</a:t>
            </a:r>
            <a:endParaRPr lang="en-US" sz="1150" dirty="0"/>
          </a:p>
        </p:txBody>
      </p:sp>
      <p:sp>
        <p:nvSpPr>
          <p:cNvPr id="12" name="Text 10"/>
          <p:cNvSpPr/>
          <p:nvPr/>
        </p:nvSpPr>
        <p:spPr>
          <a:xfrm>
            <a:off x="5431536" y="4892040"/>
            <a:ext cx="1463040" cy="777240"/>
          </a:xfrm>
          <a:prstGeom prst="rect">
            <a:avLst/>
          </a:prstGeom>
          <a:noFill/>
          <a:ln/>
        </p:spPr>
        <p:txBody>
          <a:bodyPr wrap="square" lIns="0" tIns="0" rIns="0" bIns="0" rtlCol="0" anchor="ctr"/>
          <a:lstStyle/>
          <a:p>
            <a:pPr indent="0" marL="0">
              <a:buNone/>
            </a:pPr>
            <a:r>
              <a:rPr lang="en-US" sz="3000" b="1" dirty="0">
                <a:solidFill>
                  <a:srgbClr val="D97757"/>
                </a:solidFill>
                <a:latin typeface="Cambria" pitchFamily="34" charset="0"/>
                <a:ea typeface="Cambria" pitchFamily="34" charset="-122"/>
                <a:cs typeface="Cambria" pitchFamily="34" charset="-120"/>
              </a:rPr>
              <a:t>0</a:t>
            </a:r>
            <a:endParaRPr lang="en-US" sz="3000" dirty="0"/>
          </a:p>
        </p:txBody>
      </p:sp>
      <p:sp>
        <p:nvSpPr>
          <p:cNvPr id="13" name="Text 11"/>
          <p:cNvSpPr/>
          <p:nvPr/>
        </p:nvSpPr>
        <p:spPr>
          <a:xfrm>
            <a:off x="5431536" y="5641848"/>
            <a:ext cx="1463040" cy="420624"/>
          </a:xfrm>
          <a:prstGeom prst="rect">
            <a:avLst/>
          </a:prstGeom>
          <a:noFill/>
          <a:ln/>
        </p:spPr>
        <p:txBody>
          <a:bodyPr wrap="square" lIns="0" tIns="0" rIns="0" bIns="0" rtlCol="0" anchor="ctr"/>
          <a:lstStyle/>
          <a:p>
            <a:pPr indent="0" marL="0">
              <a:lnSpc>
                <a:spcPct val="115000"/>
              </a:lnSpc>
              <a:buNone/>
            </a:pPr>
            <a:r>
              <a:rPr lang="en-US" sz="1150" dirty="0">
                <a:solidFill>
                  <a:srgbClr val="A8A49C"/>
                </a:solidFill>
                <a:latin typeface="Calibri" pitchFamily="34" charset="0"/>
                <a:ea typeface="Calibri" pitchFamily="34" charset="-122"/>
                <a:cs typeface="Calibri" pitchFamily="34" charset="-120"/>
              </a:rPr>
              <a:t>cloud calls to</a:t>
            </a:r>
            <a:endParaRPr lang="en-US" sz="1150" dirty="0"/>
          </a:p>
          <a:p>
            <a:pPr indent="0" marL="0">
              <a:lnSpc>
                <a:spcPct val="115000"/>
              </a:lnSpc>
              <a:buNone/>
            </a:pPr>
            <a:r>
              <a:rPr lang="en-US" sz="1150" dirty="0">
                <a:solidFill>
                  <a:srgbClr val="A8A49C"/>
                </a:solidFill>
                <a:latin typeface="Calibri" pitchFamily="34" charset="0"/>
                <a:ea typeface="Calibri" pitchFamily="34" charset="-122"/>
                <a:cs typeface="Calibri" pitchFamily="34" charset="-120"/>
              </a:rPr>
              <a:t>analyse your code</a:t>
            </a:r>
            <a:endParaRPr lang="en-US" sz="1150" dirty="0"/>
          </a:p>
        </p:txBody>
      </p:sp>
      <p:sp>
        <p:nvSpPr>
          <p:cNvPr id="14" name="Shape 12"/>
          <p:cNvSpPr/>
          <p:nvPr/>
        </p:nvSpPr>
        <p:spPr>
          <a:xfrm>
            <a:off x="7818120" y="1874520"/>
            <a:ext cx="1325880" cy="1325880"/>
          </a:xfrm>
          <a:prstGeom prst="ellipse">
            <a:avLst/>
          </a:prstGeom>
          <a:solidFill>
            <a:srgbClr val="2A2826"/>
          </a:solidFill>
          <a:ln w="15875">
            <a:solidFill>
              <a:srgbClr val="A8A49C"/>
            </a:solidFill>
            <a:prstDash val="solid"/>
          </a:ln>
        </p:spPr>
      </p:sp>
      <p:sp>
        <p:nvSpPr>
          <p:cNvPr id="15" name="Text 13"/>
          <p:cNvSpPr/>
          <p:nvPr/>
        </p:nvSpPr>
        <p:spPr>
          <a:xfrm>
            <a:off x="7818120" y="1874520"/>
            <a:ext cx="1325880" cy="1325880"/>
          </a:xfrm>
          <a:prstGeom prst="rect">
            <a:avLst/>
          </a:prstGeom>
          <a:noFill/>
          <a:ln/>
        </p:spPr>
        <p:txBody>
          <a:bodyPr wrap="square" lIns="0" tIns="0" rIns="0" bIns="0" rtlCol="0" anchor="ctr"/>
          <a:lstStyle/>
          <a:p>
            <a:pPr algn="ctr" indent="0" marL="0">
              <a:buNone/>
            </a:pPr>
            <a:r>
              <a:rPr lang="en-US" sz="1400" b="1" dirty="0">
                <a:solidFill>
                  <a:srgbClr val="F5F3EE"/>
                </a:solidFill>
                <a:latin typeface="Calibri" pitchFamily="34" charset="0"/>
                <a:ea typeface="Calibri" pitchFamily="34" charset="-122"/>
                <a:cs typeface="Calibri" pitchFamily="34" charset="-120"/>
              </a:rPr>
              <a:t>YOU</a:t>
            </a:r>
            <a:endParaRPr lang="en-US" sz="1400" dirty="0"/>
          </a:p>
        </p:txBody>
      </p:sp>
      <p:sp>
        <p:nvSpPr>
          <p:cNvPr id="16" name="Text 14"/>
          <p:cNvSpPr/>
          <p:nvPr/>
        </p:nvSpPr>
        <p:spPr>
          <a:xfrm>
            <a:off x="7818120" y="3703320"/>
            <a:ext cx="1325880" cy="1325880"/>
          </a:xfrm>
          <a:prstGeom prst="ellipse">
            <a:avLst/>
          </a:prstGeom>
          <a:solidFill>
            <a:srgbClr val="D97757"/>
          </a:solidFill>
          <a:ln/>
        </p:spPr>
        <p:txBody>
          <a:bodyPr wrap="square" lIns="0" tIns="0" rIns="0" bIns="0" rtlCol="0" anchor="ctr"/>
          <a:lstStyle/>
          <a:p>
            <a:pPr algn="ctr" indent="0" marL="0">
              <a:buNone/>
            </a:pPr>
            <a:r>
              <a:rPr lang="en-US" sz="1200" b="1" dirty="0">
                <a:solidFill>
                  <a:srgbClr val="1F1E1D"/>
                </a:solidFill>
                <a:latin typeface="Calibri" pitchFamily="34" charset="0"/>
                <a:ea typeface="Calibri" pitchFamily="34" charset="-122"/>
                <a:cs typeface="Calibri" pitchFamily="34" charset="-120"/>
              </a:rPr>
              <a:t>AGENT</a:t>
            </a:r>
            <a:endParaRPr lang="en-US" sz="1200" dirty="0"/>
          </a:p>
        </p:txBody>
      </p:sp>
      <p:sp>
        <p:nvSpPr>
          <p:cNvPr id="17" name="Shape 15"/>
          <p:cNvSpPr/>
          <p:nvPr/>
        </p:nvSpPr>
        <p:spPr>
          <a:xfrm>
            <a:off x="9144000" y="2542032"/>
            <a:ext cx="960120" cy="841248"/>
          </a:xfrm>
          <a:prstGeom prst="line">
            <a:avLst/>
          </a:prstGeom>
          <a:noFill/>
          <a:ln w="15875">
            <a:solidFill>
              <a:srgbClr val="A8A49C"/>
            </a:solidFill>
            <a:prstDash val="solid"/>
          </a:ln>
        </p:spPr>
      </p:sp>
      <p:sp>
        <p:nvSpPr>
          <p:cNvPr id="18" name="Shape 16"/>
          <p:cNvSpPr/>
          <p:nvPr/>
        </p:nvSpPr>
        <p:spPr>
          <a:xfrm flipV="1">
            <a:off x="9144000" y="3383280"/>
            <a:ext cx="960120" cy="960120"/>
          </a:xfrm>
          <a:prstGeom prst="line">
            <a:avLst/>
          </a:prstGeom>
          <a:noFill/>
          <a:ln w="15875">
            <a:solidFill>
              <a:srgbClr val="D97757"/>
            </a:solidFill>
            <a:prstDash val="solid"/>
          </a:ln>
        </p:spPr>
      </p:sp>
      <p:sp>
        <p:nvSpPr>
          <p:cNvPr id="19" name="Text 17"/>
          <p:cNvSpPr/>
          <p:nvPr/>
        </p:nvSpPr>
        <p:spPr>
          <a:xfrm>
            <a:off x="10104120" y="2468880"/>
            <a:ext cx="1737360" cy="1828800"/>
          </a:xfrm>
          <a:prstGeom prst="roundRect">
            <a:avLst>
              <a:gd name="adj" fmla="val 5263"/>
            </a:avLst>
          </a:prstGeom>
          <a:solidFill>
            <a:srgbClr val="2A2826"/>
          </a:solidFill>
          <a:ln w="12700">
            <a:solidFill>
              <a:srgbClr val="D4A27F"/>
            </a:solidFill>
          </a:ln>
        </p:spPr>
        <p:txBody>
          <a:bodyPr wrap="square" lIns="0" tIns="0" rIns="0" bIns="0" rtlCol="0" anchor="ctr"/>
          <a:lstStyle/>
          <a:p>
            <a:pPr algn="ctr" indent="0" marL="0">
              <a:buNone/>
            </a:pPr>
            <a:r>
              <a:rPr lang="en-US" sz="1350" b="1" spc="140" kern="0" dirty="0">
                <a:solidFill>
                  <a:srgbClr val="F5F3EE"/>
                </a:solidFill>
                <a:latin typeface="Calibri" pitchFamily="34" charset="0"/>
                <a:ea typeface="Calibri" pitchFamily="34" charset="-122"/>
                <a:cs typeface="Calibri" pitchFamily="34" charset="-120"/>
              </a:rPr>
              <a:t>ONE</a:t>
            </a:r>
            <a:endParaRPr lang="en-US" sz="1350" dirty="0"/>
          </a:p>
          <a:p>
            <a:pPr algn="ctr" indent="0" marL="0">
              <a:buNone/>
            </a:pPr>
            <a:r>
              <a:rPr lang="en-US" sz="1350" b="1" spc="140" kern="0" dirty="0">
                <a:solidFill>
                  <a:srgbClr val="F5F3EE"/>
                </a:solidFill>
                <a:latin typeface="Calibri" pitchFamily="34" charset="0"/>
                <a:ea typeface="Calibri" pitchFamily="34" charset="-122"/>
                <a:cs typeface="Calibri" pitchFamily="34" charset="-120"/>
              </a:rPr>
              <a:t>PIPELINE</a:t>
            </a:r>
            <a:endParaRPr lang="en-US" sz="13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0EEE6"/>
        </a:solidFill>
      </p:bgPr>
    </p:bg>
    <p:spTree>
      <p:nvGrpSpPr>
        <p:cNvPr id="1" name=""/>
        <p:cNvGrpSpPr/>
        <p:nvPr/>
      </p:nvGrpSpPr>
      <p:grpSpPr>
        <a:xfrm>
          <a:off x="0" y="0"/>
          <a:ext cx="0" cy="0"/>
          <a:chOff x="0" y="0"/>
          <a:chExt cx="0" cy="0"/>
        </a:xfrm>
      </p:grpSpPr>
      <p:sp>
        <p:nvSpPr>
          <p:cNvPr id="2" name="Text 0"/>
          <p:cNvSpPr/>
          <p:nvPr/>
        </p:nvSpPr>
        <p:spPr>
          <a:xfrm>
            <a:off x="685800" y="457200"/>
            <a:ext cx="10881360" cy="1170432"/>
          </a:xfrm>
          <a:prstGeom prst="rect">
            <a:avLst/>
          </a:prstGeom>
          <a:noFill/>
          <a:ln/>
        </p:spPr>
        <p:txBody>
          <a:bodyPr wrap="square" lIns="0" tIns="0" rIns="0" bIns="0" rtlCol="0" anchor="ctr"/>
          <a:lstStyle/>
          <a:p>
            <a:pPr indent="0" marL="0">
              <a:buNone/>
            </a:pPr>
            <a:r>
              <a:rPr lang="en-US" sz="3100" b="1" dirty="0">
                <a:solidFill>
                  <a:srgbClr val="191919"/>
                </a:solidFill>
                <a:latin typeface="Cambria" pitchFamily="34" charset="0"/>
                <a:ea typeface="Cambria" pitchFamily="34" charset="-122"/>
                <a:cs typeface="Cambria" pitchFamily="34" charset="-120"/>
              </a:rPr>
              <a:t>A work item takes 12 steps. A person does 10 of them by hand.</a:t>
            </a:r>
            <a:endParaRPr lang="en-US" sz="3100" dirty="0"/>
          </a:p>
        </p:txBody>
      </p:sp>
      <p:sp>
        <p:nvSpPr>
          <p:cNvPr id="3" name="Text 1"/>
          <p:cNvSpPr/>
          <p:nvPr/>
        </p:nvSpPr>
        <p:spPr>
          <a:xfrm>
            <a:off x="685800" y="1682496"/>
            <a:ext cx="10881360" cy="292608"/>
          </a:xfrm>
          <a:prstGeom prst="rect">
            <a:avLst/>
          </a:prstGeom>
          <a:noFill/>
          <a:ln/>
        </p:spPr>
        <p:txBody>
          <a:bodyPr wrap="square" lIns="0" tIns="0" rIns="0" bIns="0" rtlCol="0" anchor="ctr"/>
          <a:lstStyle/>
          <a:p>
            <a:pPr indent="0" marL="0">
              <a:buNone/>
            </a:pPr>
            <a:r>
              <a:rPr lang="en-US" sz="1450" dirty="0">
                <a:solidFill>
                  <a:srgbClr val="73716C"/>
                </a:solidFill>
                <a:latin typeface="Calibri" pitchFamily="34" charset="0"/>
                <a:ea typeface="Calibri" pitchFamily="34" charset="-122"/>
                <a:cs typeface="Calibri" pitchFamily="34" charset="-120"/>
              </a:rPr>
              <a:t>Only two of them need human judgement. Nine are pure coordination.</a:t>
            </a:r>
            <a:endParaRPr lang="en-US" sz="1450" dirty="0"/>
          </a:p>
        </p:txBody>
      </p:sp>
      <p:graphicFrame>
        <p:nvGraphicFramePr>
          <p:cNvPr id="4" name="Chart 0" descr=""/>
          <p:cNvGraphicFramePr/>
          <p:nvPr/>
        </p:nvGraphicFramePr>
        <p:xfrm>
          <a:off x="685800" y="2121408"/>
          <a:ext cx="7086600" cy="3246120"/>
        </p:xfrm>
        <a:graphic xmlns:a="http://schemas.openxmlformats.org/drawingml/2006/main">
          <a:graphicData uri="http://schemas.openxmlformats.org/drawingml/2006/chart">
            <c:chart xmlns:c="http://schemas.openxmlformats.org/drawingml/2006/chart" r:id="rId1"/>
          </a:graphicData>
        </a:graphic>
      </p:graphicFrame>
      <p:sp>
        <p:nvSpPr>
          <p:cNvPr id="5" name="Shape 2"/>
          <p:cNvSpPr/>
          <p:nvPr/>
        </p:nvSpPr>
        <p:spPr>
          <a:xfrm>
            <a:off x="8092440" y="2121408"/>
            <a:ext cx="3429000" cy="3246120"/>
          </a:xfrm>
          <a:prstGeom prst="roundRect">
            <a:avLst>
              <a:gd name="adj" fmla="val 2535"/>
            </a:avLst>
          </a:prstGeom>
          <a:solidFill>
            <a:srgbClr val="FAF9F5"/>
          </a:solidFill>
          <a:ln w="9525">
            <a:solidFill>
              <a:srgbClr val="DFDBD1"/>
            </a:solidFill>
            <a:prstDash val="solid"/>
          </a:ln>
          <a:effectLst>
            <a:outerShdw sx="100000" sy="100000" kx="0" ky="0" algn="bl" rotWithShape="0" blurRad="152400" dist="25400" dir="5400000">
              <a:srgbClr val="8C857A">
                <a:alpha val="16000"/>
              </a:srgbClr>
            </a:outerShdw>
          </a:effectLst>
        </p:spPr>
      </p:sp>
      <p:sp>
        <p:nvSpPr>
          <p:cNvPr id="6" name="Text 3"/>
          <p:cNvSpPr/>
          <p:nvPr/>
        </p:nvSpPr>
        <p:spPr>
          <a:xfrm>
            <a:off x="8366760" y="2395728"/>
            <a:ext cx="2926080" cy="237744"/>
          </a:xfrm>
          <a:prstGeom prst="rect">
            <a:avLst/>
          </a:prstGeom>
          <a:noFill/>
          <a:ln/>
        </p:spPr>
        <p:txBody>
          <a:bodyPr wrap="square" lIns="0" tIns="0" rIns="0" bIns="0" rtlCol="0" anchor="ctr"/>
          <a:lstStyle/>
          <a:p>
            <a:pPr indent="0" marL="0">
              <a:buNone/>
            </a:pPr>
            <a:r>
              <a:rPr lang="en-US" sz="1050" b="1" spc="240" kern="0" dirty="0">
                <a:solidFill>
                  <a:srgbClr val="D97757"/>
                </a:solidFill>
                <a:latin typeface="Calibri" pitchFamily="34" charset="0"/>
                <a:ea typeface="Calibri" pitchFamily="34" charset="-122"/>
                <a:cs typeface="Calibri" pitchFamily="34" charset="-120"/>
              </a:rPr>
              <a:t>THE TWO THAT STAY</a:t>
            </a:r>
            <a:endParaRPr lang="en-US" sz="1050" dirty="0"/>
          </a:p>
        </p:txBody>
      </p:sp>
      <p:sp>
        <p:nvSpPr>
          <p:cNvPr id="7" name="Text 4"/>
          <p:cNvSpPr/>
          <p:nvPr/>
        </p:nvSpPr>
        <p:spPr>
          <a:xfrm>
            <a:off x="8412480" y="2761488"/>
            <a:ext cx="2880360" cy="1280160"/>
          </a:xfrm>
          <a:prstGeom prst="rect">
            <a:avLst/>
          </a:prstGeom>
          <a:noFill/>
          <a:ln/>
        </p:spPr>
        <p:txBody>
          <a:bodyPr wrap="square" lIns="0" tIns="0" rIns="0" bIns="0" rtlCol="0" anchor="ctr"/>
          <a:lstStyle/>
          <a:p>
            <a:pPr marL="342900" indent="-342900">
              <a:lnSpc>
                <a:spcPct val="120000"/>
              </a:lnSpc>
              <a:spcAft>
                <a:spcPts val="900"/>
              </a:spcAft>
              <a:buSzPct val="100000"/>
              <a:buChar char="●"/>
            </a:pPr>
            <a:r>
              <a:rPr lang="en-US" sz="1250" dirty="0">
                <a:solidFill>
                  <a:srgbClr val="191919"/>
                </a:solidFill>
                <a:latin typeface="Calibri" pitchFamily="34" charset="0"/>
                <a:ea typeface="Calibri" pitchFamily="34" charset="-122"/>
                <a:cs typeface="Calibri" pitchFamily="34" charset="-120"/>
              </a:rPr>
              <a:t>Reviewing the change against what the team actually agreed.</a:t>
            </a:r>
            <a:endParaRPr lang="en-US" sz="1250" dirty="0"/>
          </a:p>
          <a:p>
            <a:pPr marL="342900" indent="-342900">
              <a:lnSpc>
                <a:spcPct val="120000"/>
              </a:lnSpc>
              <a:spcAft>
                <a:spcPts val="900"/>
              </a:spcAft>
              <a:buSzPct val="100000"/>
              <a:buChar char="●"/>
            </a:pPr>
            <a:r>
              <a:rPr lang="en-US" sz="1250" dirty="0">
                <a:solidFill>
                  <a:srgbClr val="191919"/>
                </a:solidFill>
                <a:latin typeface="Calibri" pitchFamily="34" charset="0"/>
                <a:ea typeface="Calibri" pitchFamily="34" charset="-122"/>
                <a:cs typeface="Calibri" pitchFamily="34" charset="-120"/>
              </a:rPr>
              <a:t>Verifying it works before the ticket closes.</a:t>
            </a:r>
            <a:endParaRPr lang="en-US" sz="1250" dirty="0"/>
          </a:p>
        </p:txBody>
      </p:sp>
      <p:sp>
        <p:nvSpPr>
          <p:cNvPr id="8" name="Text 5"/>
          <p:cNvSpPr/>
          <p:nvPr/>
        </p:nvSpPr>
        <p:spPr>
          <a:xfrm>
            <a:off x="8412480" y="4114800"/>
            <a:ext cx="2880360" cy="1188720"/>
          </a:xfrm>
          <a:prstGeom prst="rect">
            <a:avLst/>
          </a:prstGeom>
          <a:noFill/>
          <a:ln/>
        </p:spPr>
        <p:txBody>
          <a:bodyPr wrap="square" lIns="0" tIns="0" rIns="0" bIns="0" rtlCol="0" anchor="ctr"/>
          <a:lstStyle/>
          <a:p>
            <a:pPr indent="0" marL="0">
              <a:lnSpc>
                <a:spcPct val="122000"/>
              </a:lnSpc>
              <a:buNone/>
            </a:pPr>
            <a:r>
              <a:rPr lang="en-US" sz="1150" dirty="0">
                <a:solidFill>
                  <a:srgbClr val="73716C"/>
                </a:solidFill>
                <a:latin typeface="Calibri" pitchFamily="34" charset="0"/>
                <a:ea typeface="Calibri" pitchFamily="34" charset="-122"/>
                <a:cs typeface="Calibri" pitchFamily="34" charset="-120"/>
              </a:rPr>
              <a:t>Everything else — gathering context, scanning, notifying, chasing, merging, briefing testers, moving the card, writing the record — is coordination a person should never have been doing.</a:t>
            </a:r>
            <a:endParaRPr lang="en-US" sz="1150" dirty="0"/>
          </a:p>
        </p:txBody>
      </p:sp>
      <p:sp>
        <p:nvSpPr>
          <p:cNvPr id="9" name="Text 6"/>
          <p:cNvSpPr/>
          <p:nvPr/>
        </p:nvSpPr>
        <p:spPr>
          <a:xfrm>
            <a:off x="685800" y="5806440"/>
            <a:ext cx="10881360" cy="365760"/>
          </a:xfrm>
          <a:prstGeom prst="rect">
            <a:avLst/>
          </a:prstGeom>
          <a:noFill/>
          <a:ln/>
        </p:spPr>
        <p:txBody>
          <a:bodyPr wrap="square" lIns="0" tIns="0" rIns="0" bIns="0" rtlCol="0" anchor="ctr"/>
          <a:lstStyle/>
          <a:p>
            <a:pPr indent="0" marL="0">
              <a:buNone/>
            </a:pPr>
            <a:r>
              <a:rPr lang="en-US" sz="1700" b="1" dirty="0">
                <a:solidFill>
                  <a:srgbClr val="CC785C"/>
                </a:solidFill>
                <a:latin typeface="Cambria" pitchFamily="34" charset="0"/>
                <a:ea typeface="Cambria" pitchFamily="34" charset="-122"/>
                <a:cs typeface="Cambria" pitchFamily="34" charset="-120"/>
              </a:rPr>
              <a:t>Locus removes the coordination and leaves the judgement.</a:t>
            </a:r>
            <a:endParaRPr lang="en-US" sz="17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0EEE6"/>
        </a:solidFill>
      </p:bgPr>
    </p:bg>
    <p:spTree>
      <p:nvGrpSpPr>
        <p:cNvPr id="1" name=""/>
        <p:cNvGrpSpPr/>
        <p:nvPr/>
      </p:nvGrpSpPr>
      <p:grpSpPr>
        <a:xfrm>
          <a:off x="0" y="0"/>
          <a:ext cx="0" cy="0"/>
          <a:chOff x="0" y="0"/>
          <a:chExt cx="0" cy="0"/>
        </a:xfrm>
      </p:grpSpPr>
      <p:sp>
        <p:nvSpPr>
          <p:cNvPr id="2" name="Text 0"/>
          <p:cNvSpPr/>
          <p:nvPr/>
        </p:nvSpPr>
        <p:spPr>
          <a:xfrm>
            <a:off x="685800" y="457200"/>
            <a:ext cx="10881360" cy="1170432"/>
          </a:xfrm>
          <a:prstGeom prst="rect">
            <a:avLst/>
          </a:prstGeom>
          <a:noFill/>
          <a:ln/>
        </p:spPr>
        <p:txBody>
          <a:bodyPr wrap="square" lIns="0" tIns="0" rIns="0" bIns="0" rtlCol="0" anchor="ctr"/>
          <a:lstStyle/>
          <a:p>
            <a:pPr indent="0" marL="0">
              <a:buNone/>
            </a:pPr>
            <a:r>
              <a:rPr lang="en-US" sz="3100" b="1" dirty="0">
                <a:solidFill>
                  <a:srgbClr val="191919"/>
                </a:solidFill>
                <a:latin typeface="Cambria" pitchFamily="34" charset="0"/>
                <a:ea typeface="Cambria" pitchFamily="34" charset="-122"/>
                <a:cs typeface="Cambria" pitchFamily="34" charset="-120"/>
              </a:rPr>
              <a:t>Your board can see one of the eight stages a ticket passes through.</a:t>
            </a:r>
            <a:endParaRPr lang="en-US" sz="3100" dirty="0"/>
          </a:p>
        </p:txBody>
      </p:sp>
      <p:sp>
        <p:nvSpPr>
          <p:cNvPr id="3" name="Text 1"/>
          <p:cNvSpPr/>
          <p:nvPr/>
        </p:nvSpPr>
        <p:spPr>
          <a:xfrm>
            <a:off x="685800" y="1682496"/>
            <a:ext cx="10881360" cy="292608"/>
          </a:xfrm>
          <a:prstGeom prst="rect">
            <a:avLst/>
          </a:prstGeom>
          <a:noFill/>
          <a:ln/>
        </p:spPr>
        <p:txBody>
          <a:bodyPr wrap="square" lIns="0" tIns="0" rIns="0" bIns="0" rtlCol="0" anchor="ctr"/>
          <a:lstStyle/>
          <a:p>
            <a:pPr indent="0" marL="0">
              <a:buNone/>
            </a:pPr>
            <a:r>
              <a:rPr lang="en-US" sz="1450" dirty="0">
                <a:solidFill>
                  <a:srgbClr val="73716C"/>
                </a:solidFill>
                <a:latin typeface="Calibri" pitchFamily="34" charset="0"/>
                <a:ea typeface="Calibri" pitchFamily="34" charset="-122"/>
                <a:cs typeface="Calibri" pitchFamily="34" charset="-120"/>
              </a:rPr>
              <a:t>GitHub's project automation has exactly one useful trigger: an item closing.</a:t>
            </a:r>
            <a:endParaRPr lang="en-US" sz="1450" dirty="0"/>
          </a:p>
        </p:txBody>
      </p:sp>
      <p:sp>
        <p:nvSpPr>
          <p:cNvPr id="4" name="Text 2"/>
          <p:cNvSpPr/>
          <p:nvPr/>
        </p:nvSpPr>
        <p:spPr>
          <a:xfrm>
            <a:off x="978408" y="2212848"/>
            <a:ext cx="658368" cy="658368"/>
          </a:xfrm>
          <a:prstGeom prst="ellipse">
            <a:avLst/>
          </a:prstGeom>
          <a:solidFill>
            <a:srgbClr val="F0EEE6"/>
          </a:solidFill>
          <a:ln/>
        </p:spPr>
        <p:txBody>
          <a:bodyPr wrap="square" lIns="0" tIns="0" rIns="0" bIns="0" rtlCol="0" anchor="ctr"/>
          <a:lstStyle/>
          <a:p>
            <a:pPr algn="ctr" indent="0" marL="0">
              <a:buNone/>
            </a:pPr>
            <a:endParaRPr lang="en-US" sz="1800" dirty="0"/>
          </a:p>
        </p:txBody>
      </p:sp>
      <p:sp>
        <p:nvSpPr>
          <p:cNvPr id="5" name="Shape 3"/>
          <p:cNvSpPr/>
          <p:nvPr/>
        </p:nvSpPr>
        <p:spPr>
          <a:xfrm>
            <a:off x="978408" y="2212848"/>
            <a:ext cx="658368" cy="658368"/>
          </a:xfrm>
          <a:prstGeom prst="ellipse">
            <a:avLst/>
          </a:prstGeom>
          <a:solidFill>
            <a:srgbClr val="F0EEE6"/>
          </a:solidFill>
          <a:ln w="12700">
            <a:solidFill>
              <a:srgbClr val="AFA89C"/>
            </a:solidFill>
            <a:prstDash val="dash"/>
          </a:ln>
        </p:spPr>
      </p:sp>
      <p:sp>
        <p:nvSpPr>
          <p:cNvPr id="6" name="Text 4"/>
          <p:cNvSpPr/>
          <p:nvPr/>
        </p:nvSpPr>
        <p:spPr>
          <a:xfrm>
            <a:off x="685800" y="2980944"/>
            <a:ext cx="1243584" cy="566928"/>
          </a:xfrm>
          <a:prstGeom prst="rect">
            <a:avLst/>
          </a:prstGeom>
          <a:noFill/>
          <a:ln/>
        </p:spPr>
        <p:txBody>
          <a:bodyPr wrap="square" lIns="0" tIns="0" rIns="0" bIns="0" rtlCol="0" anchor="t"/>
          <a:lstStyle/>
          <a:p>
            <a:pPr algn="ctr" indent="0" marL="0">
              <a:lnSpc>
                <a:spcPct val="105000"/>
              </a:lnSpc>
              <a:buNone/>
            </a:pPr>
            <a:r>
              <a:rPr lang="en-US" sz="1050" dirty="0">
                <a:solidFill>
                  <a:srgbClr val="73716C"/>
                </a:solidFill>
                <a:latin typeface="Calibri" pitchFamily="34" charset="0"/>
                <a:ea typeface="Calibri" pitchFamily="34" charset="-122"/>
                <a:cs typeface="Calibri" pitchFamily="34" charset="-120"/>
              </a:rPr>
              <a:t>Assigned</a:t>
            </a:r>
            <a:endParaRPr lang="en-US" sz="1050" dirty="0"/>
          </a:p>
        </p:txBody>
      </p:sp>
      <p:sp>
        <p:nvSpPr>
          <p:cNvPr id="7" name="Shape 5"/>
          <p:cNvSpPr/>
          <p:nvPr/>
        </p:nvSpPr>
        <p:spPr>
          <a:xfrm>
            <a:off x="1682496" y="2542032"/>
            <a:ext cx="338328" cy="0"/>
          </a:xfrm>
          <a:prstGeom prst="line">
            <a:avLst/>
          </a:prstGeom>
          <a:noFill/>
          <a:ln w="12700">
            <a:solidFill>
              <a:srgbClr val="AFA89C"/>
            </a:solidFill>
            <a:prstDash val="solid"/>
          </a:ln>
        </p:spPr>
      </p:sp>
      <p:sp>
        <p:nvSpPr>
          <p:cNvPr id="8" name="Text 6"/>
          <p:cNvSpPr/>
          <p:nvPr/>
        </p:nvSpPr>
        <p:spPr>
          <a:xfrm>
            <a:off x="2350008" y="2212848"/>
            <a:ext cx="658368" cy="658368"/>
          </a:xfrm>
          <a:prstGeom prst="ellipse">
            <a:avLst/>
          </a:prstGeom>
          <a:solidFill>
            <a:srgbClr val="F0EEE6"/>
          </a:solidFill>
          <a:ln/>
        </p:spPr>
        <p:txBody>
          <a:bodyPr wrap="square" lIns="0" tIns="0" rIns="0" bIns="0" rtlCol="0" anchor="ctr"/>
          <a:lstStyle/>
          <a:p>
            <a:pPr algn="ctr" indent="0" marL="0">
              <a:buNone/>
            </a:pPr>
            <a:endParaRPr lang="en-US" sz="1800" dirty="0"/>
          </a:p>
        </p:txBody>
      </p:sp>
      <p:sp>
        <p:nvSpPr>
          <p:cNvPr id="9" name="Shape 7"/>
          <p:cNvSpPr/>
          <p:nvPr/>
        </p:nvSpPr>
        <p:spPr>
          <a:xfrm>
            <a:off x="2350008" y="2212848"/>
            <a:ext cx="658368" cy="658368"/>
          </a:xfrm>
          <a:prstGeom prst="ellipse">
            <a:avLst/>
          </a:prstGeom>
          <a:solidFill>
            <a:srgbClr val="F0EEE6"/>
          </a:solidFill>
          <a:ln w="12700">
            <a:solidFill>
              <a:srgbClr val="AFA89C"/>
            </a:solidFill>
            <a:prstDash val="dash"/>
          </a:ln>
        </p:spPr>
      </p:sp>
      <p:sp>
        <p:nvSpPr>
          <p:cNvPr id="10" name="Text 8"/>
          <p:cNvSpPr/>
          <p:nvPr/>
        </p:nvSpPr>
        <p:spPr>
          <a:xfrm>
            <a:off x="2057400" y="2980944"/>
            <a:ext cx="1243584" cy="566928"/>
          </a:xfrm>
          <a:prstGeom prst="rect">
            <a:avLst/>
          </a:prstGeom>
          <a:noFill/>
          <a:ln/>
        </p:spPr>
        <p:txBody>
          <a:bodyPr wrap="square" lIns="0" tIns="0" rIns="0" bIns="0" rtlCol="0" anchor="t"/>
          <a:lstStyle/>
          <a:p>
            <a:pPr algn="ctr" indent="0" marL="0">
              <a:lnSpc>
                <a:spcPct val="105000"/>
              </a:lnSpc>
              <a:buNone/>
            </a:pPr>
            <a:r>
              <a:rPr lang="en-US" sz="1050" dirty="0">
                <a:solidFill>
                  <a:srgbClr val="73716C"/>
                </a:solidFill>
                <a:latin typeface="Calibri" pitchFamily="34" charset="0"/>
                <a:ea typeface="Calibri" pitchFamily="34" charset="-122"/>
                <a:cs typeface="Calibri" pitchFamily="34" charset="-120"/>
              </a:rPr>
              <a:t>Branch</a:t>
            </a:r>
            <a:endParaRPr lang="en-US" sz="1050" dirty="0"/>
          </a:p>
          <a:p>
            <a:pPr algn="ctr" indent="0" marL="0">
              <a:lnSpc>
                <a:spcPct val="105000"/>
              </a:lnSpc>
              <a:buNone/>
            </a:pPr>
            <a:r>
              <a:rPr lang="en-US" sz="1050" dirty="0">
                <a:solidFill>
                  <a:srgbClr val="73716C"/>
                </a:solidFill>
                <a:latin typeface="Calibri" pitchFamily="34" charset="0"/>
                <a:ea typeface="Calibri" pitchFamily="34" charset="-122"/>
                <a:cs typeface="Calibri" pitchFamily="34" charset="-120"/>
              </a:rPr>
              <a:t>created</a:t>
            </a:r>
            <a:endParaRPr lang="en-US" sz="1050" dirty="0"/>
          </a:p>
        </p:txBody>
      </p:sp>
      <p:sp>
        <p:nvSpPr>
          <p:cNvPr id="11" name="Shape 9"/>
          <p:cNvSpPr/>
          <p:nvPr/>
        </p:nvSpPr>
        <p:spPr>
          <a:xfrm>
            <a:off x="3054096" y="2542032"/>
            <a:ext cx="338328" cy="0"/>
          </a:xfrm>
          <a:prstGeom prst="line">
            <a:avLst/>
          </a:prstGeom>
          <a:noFill/>
          <a:ln w="12700">
            <a:solidFill>
              <a:srgbClr val="AFA89C"/>
            </a:solidFill>
            <a:prstDash val="solid"/>
          </a:ln>
        </p:spPr>
      </p:sp>
      <p:sp>
        <p:nvSpPr>
          <p:cNvPr id="12" name="Text 10"/>
          <p:cNvSpPr/>
          <p:nvPr/>
        </p:nvSpPr>
        <p:spPr>
          <a:xfrm>
            <a:off x="3721608" y="2212848"/>
            <a:ext cx="658368" cy="658368"/>
          </a:xfrm>
          <a:prstGeom prst="ellipse">
            <a:avLst/>
          </a:prstGeom>
          <a:solidFill>
            <a:srgbClr val="F0EEE6"/>
          </a:solidFill>
          <a:ln/>
        </p:spPr>
        <p:txBody>
          <a:bodyPr wrap="square" lIns="0" tIns="0" rIns="0" bIns="0" rtlCol="0" anchor="ctr"/>
          <a:lstStyle/>
          <a:p>
            <a:pPr algn="ctr" indent="0" marL="0">
              <a:buNone/>
            </a:pPr>
            <a:endParaRPr lang="en-US" sz="1800" dirty="0"/>
          </a:p>
        </p:txBody>
      </p:sp>
      <p:sp>
        <p:nvSpPr>
          <p:cNvPr id="13" name="Shape 11"/>
          <p:cNvSpPr/>
          <p:nvPr/>
        </p:nvSpPr>
        <p:spPr>
          <a:xfrm>
            <a:off x="3721608" y="2212848"/>
            <a:ext cx="658368" cy="658368"/>
          </a:xfrm>
          <a:prstGeom prst="ellipse">
            <a:avLst/>
          </a:prstGeom>
          <a:solidFill>
            <a:srgbClr val="F0EEE6"/>
          </a:solidFill>
          <a:ln w="12700">
            <a:solidFill>
              <a:srgbClr val="AFA89C"/>
            </a:solidFill>
            <a:prstDash val="dash"/>
          </a:ln>
        </p:spPr>
      </p:sp>
      <p:sp>
        <p:nvSpPr>
          <p:cNvPr id="14" name="Text 12"/>
          <p:cNvSpPr/>
          <p:nvPr/>
        </p:nvSpPr>
        <p:spPr>
          <a:xfrm>
            <a:off x="3429000" y="2980944"/>
            <a:ext cx="1243584" cy="566928"/>
          </a:xfrm>
          <a:prstGeom prst="rect">
            <a:avLst/>
          </a:prstGeom>
          <a:noFill/>
          <a:ln/>
        </p:spPr>
        <p:txBody>
          <a:bodyPr wrap="square" lIns="0" tIns="0" rIns="0" bIns="0" rtlCol="0" anchor="t"/>
          <a:lstStyle/>
          <a:p>
            <a:pPr algn="ctr" indent="0" marL="0">
              <a:lnSpc>
                <a:spcPct val="105000"/>
              </a:lnSpc>
              <a:buNone/>
            </a:pPr>
            <a:r>
              <a:rPr lang="en-US" sz="1050" dirty="0">
                <a:solidFill>
                  <a:srgbClr val="73716C"/>
                </a:solidFill>
                <a:latin typeface="Calibri" pitchFamily="34" charset="0"/>
                <a:ea typeface="Calibri" pitchFamily="34" charset="-122"/>
                <a:cs typeface="Calibri" pitchFamily="34" charset="-120"/>
              </a:rPr>
              <a:t>In</a:t>
            </a:r>
            <a:endParaRPr lang="en-US" sz="1050" dirty="0"/>
          </a:p>
          <a:p>
            <a:pPr algn="ctr" indent="0" marL="0">
              <a:lnSpc>
                <a:spcPct val="105000"/>
              </a:lnSpc>
              <a:buNone/>
            </a:pPr>
            <a:r>
              <a:rPr lang="en-US" sz="1050" dirty="0">
                <a:solidFill>
                  <a:srgbClr val="73716C"/>
                </a:solidFill>
                <a:latin typeface="Calibri" pitchFamily="34" charset="0"/>
                <a:ea typeface="Calibri" pitchFamily="34" charset="-122"/>
                <a:cs typeface="Calibri" pitchFamily="34" charset="-120"/>
              </a:rPr>
              <a:t>review</a:t>
            </a:r>
            <a:endParaRPr lang="en-US" sz="1050" dirty="0"/>
          </a:p>
        </p:txBody>
      </p:sp>
      <p:sp>
        <p:nvSpPr>
          <p:cNvPr id="15" name="Shape 13"/>
          <p:cNvSpPr/>
          <p:nvPr/>
        </p:nvSpPr>
        <p:spPr>
          <a:xfrm>
            <a:off x="4425696" y="2542032"/>
            <a:ext cx="338328" cy="0"/>
          </a:xfrm>
          <a:prstGeom prst="line">
            <a:avLst/>
          </a:prstGeom>
          <a:noFill/>
          <a:ln w="12700">
            <a:solidFill>
              <a:srgbClr val="AFA89C"/>
            </a:solidFill>
            <a:prstDash val="solid"/>
          </a:ln>
        </p:spPr>
      </p:sp>
      <p:sp>
        <p:nvSpPr>
          <p:cNvPr id="16" name="Text 14"/>
          <p:cNvSpPr/>
          <p:nvPr/>
        </p:nvSpPr>
        <p:spPr>
          <a:xfrm>
            <a:off x="5093208" y="2212848"/>
            <a:ext cx="658368" cy="658368"/>
          </a:xfrm>
          <a:prstGeom prst="ellipse">
            <a:avLst/>
          </a:prstGeom>
          <a:solidFill>
            <a:srgbClr val="F0EEE6"/>
          </a:solidFill>
          <a:ln/>
        </p:spPr>
        <p:txBody>
          <a:bodyPr wrap="square" lIns="0" tIns="0" rIns="0" bIns="0" rtlCol="0" anchor="ctr"/>
          <a:lstStyle/>
          <a:p>
            <a:pPr algn="ctr" indent="0" marL="0">
              <a:buNone/>
            </a:pPr>
            <a:endParaRPr lang="en-US" sz="1800" dirty="0"/>
          </a:p>
        </p:txBody>
      </p:sp>
      <p:sp>
        <p:nvSpPr>
          <p:cNvPr id="17" name="Shape 15"/>
          <p:cNvSpPr/>
          <p:nvPr/>
        </p:nvSpPr>
        <p:spPr>
          <a:xfrm>
            <a:off x="5093208" y="2212848"/>
            <a:ext cx="658368" cy="658368"/>
          </a:xfrm>
          <a:prstGeom prst="ellipse">
            <a:avLst/>
          </a:prstGeom>
          <a:solidFill>
            <a:srgbClr val="F0EEE6"/>
          </a:solidFill>
          <a:ln w="12700">
            <a:solidFill>
              <a:srgbClr val="AFA89C"/>
            </a:solidFill>
            <a:prstDash val="dash"/>
          </a:ln>
        </p:spPr>
      </p:sp>
      <p:sp>
        <p:nvSpPr>
          <p:cNvPr id="18" name="Text 16"/>
          <p:cNvSpPr/>
          <p:nvPr/>
        </p:nvSpPr>
        <p:spPr>
          <a:xfrm>
            <a:off x="4800600" y="2980944"/>
            <a:ext cx="1243584" cy="566928"/>
          </a:xfrm>
          <a:prstGeom prst="rect">
            <a:avLst/>
          </a:prstGeom>
          <a:noFill/>
          <a:ln/>
        </p:spPr>
        <p:txBody>
          <a:bodyPr wrap="square" lIns="0" tIns="0" rIns="0" bIns="0" rtlCol="0" anchor="t"/>
          <a:lstStyle/>
          <a:p>
            <a:pPr algn="ctr" indent="0" marL="0">
              <a:lnSpc>
                <a:spcPct val="105000"/>
              </a:lnSpc>
              <a:buNone/>
            </a:pPr>
            <a:r>
              <a:rPr lang="en-US" sz="1050" dirty="0">
                <a:solidFill>
                  <a:srgbClr val="73716C"/>
                </a:solidFill>
                <a:latin typeface="Calibri" pitchFamily="34" charset="0"/>
                <a:ea typeface="Calibri" pitchFamily="34" charset="-122"/>
                <a:cs typeface="Calibri" pitchFamily="34" charset="-120"/>
              </a:rPr>
              <a:t>Changes</a:t>
            </a:r>
            <a:endParaRPr lang="en-US" sz="1050" dirty="0"/>
          </a:p>
          <a:p>
            <a:pPr algn="ctr" indent="0" marL="0">
              <a:lnSpc>
                <a:spcPct val="105000"/>
              </a:lnSpc>
              <a:buNone/>
            </a:pPr>
            <a:r>
              <a:rPr lang="en-US" sz="1050" dirty="0">
                <a:solidFill>
                  <a:srgbClr val="73716C"/>
                </a:solidFill>
                <a:latin typeface="Calibri" pitchFamily="34" charset="0"/>
                <a:ea typeface="Calibri" pitchFamily="34" charset="-122"/>
                <a:cs typeface="Calibri" pitchFamily="34" charset="-120"/>
              </a:rPr>
              <a:t>requested</a:t>
            </a:r>
            <a:endParaRPr lang="en-US" sz="1050" dirty="0"/>
          </a:p>
        </p:txBody>
      </p:sp>
      <p:sp>
        <p:nvSpPr>
          <p:cNvPr id="19" name="Shape 17"/>
          <p:cNvSpPr/>
          <p:nvPr/>
        </p:nvSpPr>
        <p:spPr>
          <a:xfrm>
            <a:off x="5797296" y="2542032"/>
            <a:ext cx="338328" cy="0"/>
          </a:xfrm>
          <a:prstGeom prst="line">
            <a:avLst/>
          </a:prstGeom>
          <a:noFill/>
          <a:ln w="12700">
            <a:solidFill>
              <a:srgbClr val="AFA89C"/>
            </a:solidFill>
            <a:prstDash val="solid"/>
          </a:ln>
        </p:spPr>
      </p:sp>
      <p:sp>
        <p:nvSpPr>
          <p:cNvPr id="20" name="Text 18"/>
          <p:cNvSpPr/>
          <p:nvPr/>
        </p:nvSpPr>
        <p:spPr>
          <a:xfrm>
            <a:off x="6464808" y="2212848"/>
            <a:ext cx="658368" cy="658368"/>
          </a:xfrm>
          <a:prstGeom prst="ellipse">
            <a:avLst/>
          </a:prstGeom>
          <a:solidFill>
            <a:srgbClr val="F0EEE6"/>
          </a:solidFill>
          <a:ln/>
        </p:spPr>
        <p:txBody>
          <a:bodyPr wrap="square" lIns="0" tIns="0" rIns="0" bIns="0" rtlCol="0" anchor="ctr"/>
          <a:lstStyle/>
          <a:p>
            <a:pPr algn="ctr" indent="0" marL="0">
              <a:buNone/>
            </a:pPr>
            <a:endParaRPr lang="en-US" sz="1800" dirty="0"/>
          </a:p>
        </p:txBody>
      </p:sp>
      <p:sp>
        <p:nvSpPr>
          <p:cNvPr id="21" name="Shape 19"/>
          <p:cNvSpPr/>
          <p:nvPr/>
        </p:nvSpPr>
        <p:spPr>
          <a:xfrm>
            <a:off x="6464808" y="2212848"/>
            <a:ext cx="658368" cy="658368"/>
          </a:xfrm>
          <a:prstGeom prst="ellipse">
            <a:avLst/>
          </a:prstGeom>
          <a:solidFill>
            <a:srgbClr val="F0EEE6"/>
          </a:solidFill>
          <a:ln w="12700">
            <a:solidFill>
              <a:srgbClr val="AFA89C"/>
            </a:solidFill>
            <a:prstDash val="dash"/>
          </a:ln>
        </p:spPr>
      </p:sp>
      <p:sp>
        <p:nvSpPr>
          <p:cNvPr id="22" name="Text 20"/>
          <p:cNvSpPr/>
          <p:nvPr/>
        </p:nvSpPr>
        <p:spPr>
          <a:xfrm>
            <a:off x="6172200" y="2980944"/>
            <a:ext cx="1243584" cy="566928"/>
          </a:xfrm>
          <a:prstGeom prst="rect">
            <a:avLst/>
          </a:prstGeom>
          <a:noFill/>
          <a:ln/>
        </p:spPr>
        <p:txBody>
          <a:bodyPr wrap="square" lIns="0" tIns="0" rIns="0" bIns="0" rtlCol="0" anchor="t"/>
          <a:lstStyle/>
          <a:p>
            <a:pPr algn="ctr" indent="0" marL="0">
              <a:lnSpc>
                <a:spcPct val="105000"/>
              </a:lnSpc>
              <a:buNone/>
            </a:pPr>
            <a:r>
              <a:rPr lang="en-US" sz="1050" dirty="0">
                <a:solidFill>
                  <a:srgbClr val="73716C"/>
                </a:solidFill>
                <a:latin typeface="Calibri" pitchFamily="34" charset="0"/>
                <a:ea typeface="Calibri" pitchFamily="34" charset="-122"/>
                <a:cs typeface="Calibri" pitchFamily="34" charset="-120"/>
              </a:rPr>
              <a:t>Approved</a:t>
            </a:r>
            <a:endParaRPr lang="en-US" sz="1050" dirty="0"/>
          </a:p>
        </p:txBody>
      </p:sp>
      <p:sp>
        <p:nvSpPr>
          <p:cNvPr id="23" name="Shape 21"/>
          <p:cNvSpPr/>
          <p:nvPr/>
        </p:nvSpPr>
        <p:spPr>
          <a:xfrm>
            <a:off x="7168896" y="2542032"/>
            <a:ext cx="338328" cy="0"/>
          </a:xfrm>
          <a:prstGeom prst="line">
            <a:avLst/>
          </a:prstGeom>
          <a:noFill/>
          <a:ln w="12700">
            <a:solidFill>
              <a:srgbClr val="AFA89C"/>
            </a:solidFill>
            <a:prstDash val="solid"/>
          </a:ln>
        </p:spPr>
      </p:sp>
      <p:sp>
        <p:nvSpPr>
          <p:cNvPr id="24" name="Text 22"/>
          <p:cNvSpPr/>
          <p:nvPr/>
        </p:nvSpPr>
        <p:spPr>
          <a:xfrm>
            <a:off x="7836408" y="2212848"/>
            <a:ext cx="658368" cy="658368"/>
          </a:xfrm>
          <a:prstGeom prst="ellipse">
            <a:avLst/>
          </a:prstGeom>
          <a:solidFill>
            <a:srgbClr val="F0EEE6"/>
          </a:solidFill>
          <a:ln/>
        </p:spPr>
        <p:txBody>
          <a:bodyPr wrap="square" lIns="0" tIns="0" rIns="0" bIns="0" rtlCol="0" anchor="ctr"/>
          <a:lstStyle/>
          <a:p>
            <a:pPr algn="ctr" indent="0" marL="0">
              <a:buNone/>
            </a:pPr>
            <a:endParaRPr lang="en-US" sz="1800" dirty="0"/>
          </a:p>
        </p:txBody>
      </p:sp>
      <p:sp>
        <p:nvSpPr>
          <p:cNvPr id="25" name="Shape 23"/>
          <p:cNvSpPr/>
          <p:nvPr/>
        </p:nvSpPr>
        <p:spPr>
          <a:xfrm>
            <a:off x="7836408" y="2212848"/>
            <a:ext cx="658368" cy="658368"/>
          </a:xfrm>
          <a:prstGeom prst="ellipse">
            <a:avLst/>
          </a:prstGeom>
          <a:solidFill>
            <a:srgbClr val="F0EEE6"/>
          </a:solidFill>
          <a:ln w="12700">
            <a:solidFill>
              <a:srgbClr val="AFA89C"/>
            </a:solidFill>
            <a:prstDash val="dash"/>
          </a:ln>
        </p:spPr>
      </p:sp>
      <p:sp>
        <p:nvSpPr>
          <p:cNvPr id="26" name="Text 24"/>
          <p:cNvSpPr/>
          <p:nvPr/>
        </p:nvSpPr>
        <p:spPr>
          <a:xfrm>
            <a:off x="7543800" y="2980944"/>
            <a:ext cx="1243584" cy="566928"/>
          </a:xfrm>
          <a:prstGeom prst="rect">
            <a:avLst/>
          </a:prstGeom>
          <a:noFill/>
          <a:ln/>
        </p:spPr>
        <p:txBody>
          <a:bodyPr wrap="square" lIns="0" tIns="0" rIns="0" bIns="0" rtlCol="0" anchor="t"/>
          <a:lstStyle/>
          <a:p>
            <a:pPr algn="ctr" indent="0" marL="0">
              <a:lnSpc>
                <a:spcPct val="105000"/>
              </a:lnSpc>
              <a:buNone/>
            </a:pPr>
            <a:r>
              <a:rPr lang="en-US" sz="1050" dirty="0">
                <a:solidFill>
                  <a:srgbClr val="73716C"/>
                </a:solidFill>
                <a:latin typeface="Calibri" pitchFamily="34" charset="0"/>
                <a:ea typeface="Calibri" pitchFamily="34" charset="-122"/>
                <a:cs typeface="Calibri" pitchFamily="34" charset="-120"/>
              </a:rPr>
              <a:t>Merged</a:t>
            </a:r>
            <a:endParaRPr lang="en-US" sz="1050" dirty="0"/>
          </a:p>
        </p:txBody>
      </p:sp>
      <p:sp>
        <p:nvSpPr>
          <p:cNvPr id="27" name="Shape 25"/>
          <p:cNvSpPr/>
          <p:nvPr/>
        </p:nvSpPr>
        <p:spPr>
          <a:xfrm>
            <a:off x="8540496" y="2542032"/>
            <a:ext cx="338328" cy="0"/>
          </a:xfrm>
          <a:prstGeom prst="line">
            <a:avLst/>
          </a:prstGeom>
          <a:noFill/>
          <a:ln w="12700">
            <a:solidFill>
              <a:srgbClr val="AFA89C"/>
            </a:solidFill>
            <a:prstDash val="solid"/>
          </a:ln>
        </p:spPr>
      </p:sp>
      <p:sp>
        <p:nvSpPr>
          <p:cNvPr id="28" name="Text 26"/>
          <p:cNvSpPr/>
          <p:nvPr/>
        </p:nvSpPr>
        <p:spPr>
          <a:xfrm>
            <a:off x="9208008" y="2212848"/>
            <a:ext cx="658368" cy="658368"/>
          </a:xfrm>
          <a:prstGeom prst="ellipse">
            <a:avLst/>
          </a:prstGeom>
          <a:solidFill>
            <a:srgbClr val="F0EEE6"/>
          </a:solidFill>
          <a:ln/>
        </p:spPr>
        <p:txBody>
          <a:bodyPr wrap="square" lIns="0" tIns="0" rIns="0" bIns="0" rtlCol="0" anchor="ctr"/>
          <a:lstStyle/>
          <a:p>
            <a:pPr algn="ctr" indent="0" marL="0">
              <a:buNone/>
            </a:pPr>
            <a:endParaRPr lang="en-US" sz="1800" dirty="0"/>
          </a:p>
        </p:txBody>
      </p:sp>
      <p:sp>
        <p:nvSpPr>
          <p:cNvPr id="29" name="Shape 27"/>
          <p:cNvSpPr/>
          <p:nvPr/>
        </p:nvSpPr>
        <p:spPr>
          <a:xfrm>
            <a:off x="9208008" y="2212848"/>
            <a:ext cx="658368" cy="658368"/>
          </a:xfrm>
          <a:prstGeom prst="ellipse">
            <a:avLst/>
          </a:prstGeom>
          <a:solidFill>
            <a:srgbClr val="F0EEE6"/>
          </a:solidFill>
          <a:ln w="12700">
            <a:solidFill>
              <a:srgbClr val="AFA89C"/>
            </a:solidFill>
            <a:prstDash val="dash"/>
          </a:ln>
        </p:spPr>
      </p:sp>
      <p:sp>
        <p:nvSpPr>
          <p:cNvPr id="30" name="Text 28"/>
          <p:cNvSpPr/>
          <p:nvPr/>
        </p:nvSpPr>
        <p:spPr>
          <a:xfrm>
            <a:off x="8915400" y="2980944"/>
            <a:ext cx="1243584" cy="566928"/>
          </a:xfrm>
          <a:prstGeom prst="rect">
            <a:avLst/>
          </a:prstGeom>
          <a:noFill/>
          <a:ln/>
        </p:spPr>
        <p:txBody>
          <a:bodyPr wrap="square" lIns="0" tIns="0" rIns="0" bIns="0" rtlCol="0" anchor="t"/>
          <a:lstStyle/>
          <a:p>
            <a:pPr algn="ctr" indent="0" marL="0">
              <a:lnSpc>
                <a:spcPct val="105000"/>
              </a:lnSpc>
              <a:buNone/>
            </a:pPr>
            <a:r>
              <a:rPr lang="en-US" sz="1050" dirty="0">
                <a:solidFill>
                  <a:srgbClr val="73716C"/>
                </a:solidFill>
                <a:latin typeface="Calibri" pitchFamily="34" charset="0"/>
                <a:ea typeface="Calibri" pitchFamily="34" charset="-122"/>
                <a:cs typeface="Calibri" pitchFamily="34" charset="-120"/>
              </a:rPr>
              <a:t>With</a:t>
            </a:r>
            <a:endParaRPr lang="en-US" sz="1050" dirty="0"/>
          </a:p>
          <a:p>
            <a:pPr algn="ctr" indent="0" marL="0">
              <a:lnSpc>
                <a:spcPct val="105000"/>
              </a:lnSpc>
              <a:buNone/>
            </a:pPr>
            <a:r>
              <a:rPr lang="en-US" sz="1050" dirty="0">
                <a:solidFill>
                  <a:srgbClr val="73716C"/>
                </a:solidFill>
                <a:latin typeface="Calibri" pitchFamily="34" charset="0"/>
                <a:ea typeface="Calibri" pitchFamily="34" charset="-122"/>
                <a:cs typeface="Calibri" pitchFamily="34" charset="-120"/>
              </a:rPr>
              <a:t>testing</a:t>
            </a:r>
            <a:endParaRPr lang="en-US" sz="1050" dirty="0"/>
          </a:p>
        </p:txBody>
      </p:sp>
      <p:sp>
        <p:nvSpPr>
          <p:cNvPr id="31" name="Shape 29"/>
          <p:cNvSpPr/>
          <p:nvPr/>
        </p:nvSpPr>
        <p:spPr>
          <a:xfrm>
            <a:off x="9912096" y="2542032"/>
            <a:ext cx="338328" cy="0"/>
          </a:xfrm>
          <a:prstGeom prst="line">
            <a:avLst/>
          </a:prstGeom>
          <a:noFill/>
          <a:ln w="12700">
            <a:solidFill>
              <a:srgbClr val="AFA89C"/>
            </a:solidFill>
            <a:prstDash val="solid"/>
          </a:ln>
        </p:spPr>
      </p:sp>
      <p:sp>
        <p:nvSpPr>
          <p:cNvPr id="32" name="Text 30"/>
          <p:cNvSpPr/>
          <p:nvPr/>
        </p:nvSpPr>
        <p:spPr>
          <a:xfrm>
            <a:off x="10579608" y="2212848"/>
            <a:ext cx="658368" cy="658368"/>
          </a:xfrm>
          <a:prstGeom prst="ellipse">
            <a:avLst/>
          </a:prstGeom>
          <a:solidFill>
            <a:srgbClr val="D97757"/>
          </a:solidFill>
          <a:ln/>
        </p:spPr>
        <p:txBody>
          <a:bodyPr wrap="square" lIns="0" tIns="0" rIns="0" bIns="0" rtlCol="0" anchor="ctr"/>
          <a:lstStyle/>
          <a:p>
            <a:pPr algn="ctr" indent="0" marL="0">
              <a:buNone/>
            </a:pPr>
            <a:r>
              <a:rPr lang="en-US" sz="1800" b="1" dirty="0">
                <a:solidFill>
                  <a:srgbClr val="FAF9F5"/>
                </a:solidFill>
                <a:latin typeface="Calibri" pitchFamily="34" charset="0"/>
                <a:ea typeface="Calibri" pitchFamily="34" charset="-122"/>
                <a:cs typeface="Calibri" pitchFamily="34" charset="-120"/>
              </a:rPr>
              <a:t>✓</a:t>
            </a:r>
            <a:endParaRPr lang="en-US" sz="1800" dirty="0"/>
          </a:p>
        </p:txBody>
      </p:sp>
      <p:sp>
        <p:nvSpPr>
          <p:cNvPr id="33" name="Text 31"/>
          <p:cNvSpPr/>
          <p:nvPr/>
        </p:nvSpPr>
        <p:spPr>
          <a:xfrm>
            <a:off x="10287000" y="2980944"/>
            <a:ext cx="1243584" cy="566928"/>
          </a:xfrm>
          <a:prstGeom prst="rect">
            <a:avLst/>
          </a:prstGeom>
          <a:noFill/>
          <a:ln/>
        </p:spPr>
        <p:txBody>
          <a:bodyPr wrap="square" lIns="0" tIns="0" rIns="0" bIns="0" rtlCol="0" anchor="t"/>
          <a:lstStyle/>
          <a:p>
            <a:pPr algn="ctr" indent="0" marL="0">
              <a:lnSpc>
                <a:spcPct val="105000"/>
              </a:lnSpc>
              <a:buNone/>
            </a:pPr>
            <a:r>
              <a:rPr lang="en-US" sz="1050" b="1" dirty="0">
                <a:solidFill>
                  <a:srgbClr val="191919"/>
                </a:solidFill>
                <a:latin typeface="Calibri" pitchFamily="34" charset="0"/>
                <a:ea typeface="Calibri" pitchFamily="34" charset="-122"/>
                <a:cs typeface="Calibri" pitchFamily="34" charset="-120"/>
              </a:rPr>
              <a:t>Signed</a:t>
            </a:r>
            <a:endParaRPr lang="en-US" sz="1050" dirty="0"/>
          </a:p>
          <a:p>
            <a:pPr algn="ctr" indent="0" marL="0">
              <a:lnSpc>
                <a:spcPct val="105000"/>
              </a:lnSpc>
              <a:buNone/>
            </a:pPr>
            <a:r>
              <a:rPr lang="en-US" sz="1050" b="1" dirty="0">
                <a:solidFill>
                  <a:srgbClr val="191919"/>
                </a:solidFill>
                <a:latin typeface="Calibri" pitchFamily="34" charset="0"/>
                <a:ea typeface="Calibri" pitchFamily="34" charset="-122"/>
                <a:cs typeface="Calibri" pitchFamily="34" charset="-120"/>
              </a:rPr>
              <a:t>off</a:t>
            </a:r>
            <a:endParaRPr lang="en-US" sz="1050" dirty="0"/>
          </a:p>
        </p:txBody>
      </p:sp>
      <p:sp>
        <p:nvSpPr>
          <p:cNvPr id="34" name="Text 32"/>
          <p:cNvSpPr/>
          <p:nvPr/>
        </p:nvSpPr>
        <p:spPr>
          <a:xfrm>
            <a:off x="10241280" y="3584448"/>
            <a:ext cx="1737360" cy="256032"/>
          </a:xfrm>
          <a:prstGeom prst="rect">
            <a:avLst/>
          </a:prstGeom>
          <a:noFill/>
          <a:ln/>
        </p:spPr>
        <p:txBody>
          <a:bodyPr wrap="square" lIns="0" tIns="0" rIns="0" bIns="0" rtlCol="0" anchor="ctr"/>
          <a:lstStyle/>
          <a:p>
            <a:pPr algn="ctr" indent="0" marL="0">
              <a:buNone/>
            </a:pPr>
            <a:r>
              <a:rPr lang="en-US" sz="950" i="1" dirty="0">
                <a:solidFill>
                  <a:srgbClr val="D97757"/>
                </a:solidFill>
                <a:latin typeface="Calibri" pitchFamily="34" charset="0"/>
                <a:ea typeface="Calibri" pitchFamily="34" charset="-122"/>
                <a:cs typeface="Calibri" pitchFamily="34" charset="-120"/>
              </a:rPr>
              <a:t>visible to the board</a:t>
            </a:r>
            <a:endParaRPr lang="en-US" sz="950" dirty="0"/>
          </a:p>
        </p:txBody>
      </p:sp>
      <p:sp>
        <p:nvSpPr>
          <p:cNvPr id="35" name="Shape 33"/>
          <p:cNvSpPr/>
          <p:nvPr/>
        </p:nvSpPr>
        <p:spPr>
          <a:xfrm>
            <a:off x="685800" y="4041648"/>
            <a:ext cx="3493008" cy="1481328"/>
          </a:xfrm>
          <a:prstGeom prst="roundRect">
            <a:avLst>
              <a:gd name="adj" fmla="val 5556"/>
            </a:avLst>
          </a:prstGeom>
          <a:solidFill>
            <a:srgbClr val="FAF9F5"/>
          </a:solidFill>
          <a:ln w="9525">
            <a:solidFill>
              <a:srgbClr val="DFDBD1"/>
            </a:solidFill>
            <a:prstDash val="solid"/>
          </a:ln>
          <a:effectLst>
            <a:outerShdw sx="100000" sy="100000" kx="0" ky="0" algn="bl" rotWithShape="0" blurRad="152400" dist="25400" dir="5400000">
              <a:srgbClr val="8C857A">
                <a:alpha val="16000"/>
              </a:srgbClr>
            </a:outerShdw>
          </a:effectLst>
        </p:spPr>
      </p:sp>
      <p:sp>
        <p:nvSpPr>
          <p:cNvPr id="36" name="Text 34"/>
          <p:cNvSpPr/>
          <p:nvPr/>
        </p:nvSpPr>
        <p:spPr>
          <a:xfrm>
            <a:off x="960120" y="4187952"/>
            <a:ext cx="3017520" cy="777240"/>
          </a:xfrm>
          <a:prstGeom prst="rect">
            <a:avLst/>
          </a:prstGeom>
          <a:noFill/>
          <a:ln/>
        </p:spPr>
        <p:txBody>
          <a:bodyPr wrap="square" lIns="0" tIns="0" rIns="0" bIns="0" rtlCol="0" anchor="ctr"/>
          <a:lstStyle/>
          <a:p>
            <a:pPr indent="0" marL="0">
              <a:buNone/>
            </a:pPr>
            <a:r>
              <a:rPr lang="en-US" sz="2700" b="1" dirty="0">
                <a:solidFill>
                  <a:srgbClr val="D97757"/>
                </a:solidFill>
                <a:latin typeface="Cambria" pitchFamily="34" charset="0"/>
                <a:ea typeface="Cambria" pitchFamily="34" charset="-122"/>
                <a:cs typeface="Cambria" pitchFamily="34" charset="-120"/>
              </a:rPr>
              <a:t>87%</a:t>
            </a:r>
            <a:endParaRPr lang="en-US" sz="2700" dirty="0"/>
          </a:p>
        </p:txBody>
      </p:sp>
      <p:sp>
        <p:nvSpPr>
          <p:cNvPr id="37" name="Text 35"/>
          <p:cNvSpPr/>
          <p:nvPr/>
        </p:nvSpPr>
        <p:spPr>
          <a:xfrm>
            <a:off x="960120" y="4937760"/>
            <a:ext cx="3017520" cy="420624"/>
          </a:xfrm>
          <a:prstGeom prst="rect">
            <a:avLst/>
          </a:prstGeom>
          <a:noFill/>
          <a:ln/>
        </p:spPr>
        <p:txBody>
          <a:bodyPr wrap="square" lIns="0" tIns="0" rIns="0" bIns="0" rtlCol="0" anchor="ctr"/>
          <a:lstStyle/>
          <a:p>
            <a:pPr indent="0" marL="0">
              <a:lnSpc>
                <a:spcPct val="115000"/>
              </a:lnSpc>
              <a:buNone/>
            </a:pPr>
            <a:r>
              <a:rPr lang="en-US" sz="1150" dirty="0">
                <a:solidFill>
                  <a:srgbClr val="73716C"/>
                </a:solidFill>
                <a:latin typeface="Calibri" pitchFamily="34" charset="0"/>
                <a:ea typeface="Calibri" pitchFamily="34" charset="-122"/>
                <a:cs typeface="Calibri" pitchFamily="34" charset="-120"/>
              </a:rPr>
              <a:t>of a ticket's pipeline is invisible</a:t>
            </a:r>
            <a:endParaRPr lang="en-US" sz="1150" dirty="0"/>
          </a:p>
          <a:p>
            <a:pPr indent="0" marL="0">
              <a:lnSpc>
                <a:spcPct val="115000"/>
              </a:lnSpc>
              <a:buNone/>
            </a:pPr>
            <a:r>
              <a:rPr lang="en-US" sz="1150" dirty="0">
                <a:solidFill>
                  <a:srgbClr val="73716C"/>
                </a:solidFill>
                <a:latin typeface="Calibri" pitchFamily="34" charset="0"/>
                <a:ea typeface="Calibri" pitchFamily="34" charset="-122"/>
                <a:cs typeface="Calibri" pitchFamily="34" charset="-120"/>
              </a:rPr>
              <a:t>on the board today</a:t>
            </a:r>
            <a:endParaRPr lang="en-US" sz="1150" dirty="0"/>
          </a:p>
        </p:txBody>
      </p:sp>
      <p:sp>
        <p:nvSpPr>
          <p:cNvPr id="38" name="Shape 36"/>
          <p:cNvSpPr/>
          <p:nvPr/>
        </p:nvSpPr>
        <p:spPr>
          <a:xfrm>
            <a:off x="4407408" y="4041648"/>
            <a:ext cx="3493008" cy="1481328"/>
          </a:xfrm>
          <a:prstGeom prst="roundRect">
            <a:avLst>
              <a:gd name="adj" fmla="val 5556"/>
            </a:avLst>
          </a:prstGeom>
          <a:solidFill>
            <a:srgbClr val="FAF9F5"/>
          </a:solidFill>
          <a:ln w="9525">
            <a:solidFill>
              <a:srgbClr val="DFDBD1"/>
            </a:solidFill>
            <a:prstDash val="solid"/>
          </a:ln>
          <a:effectLst>
            <a:outerShdw sx="100000" sy="100000" kx="0" ky="0" algn="bl" rotWithShape="0" blurRad="152400" dist="25400" dir="5400000">
              <a:srgbClr val="8C857A">
                <a:alpha val="16000"/>
              </a:srgbClr>
            </a:outerShdw>
          </a:effectLst>
        </p:spPr>
      </p:sp>
      <p:sp>
        <p:nvSpPr>
          <p:cNvPr id="39" name="Text 37"/>
          <p:cNvSpPr/>
          <p:nvPr/>
        </p:nvSpPr>
        <p:spPr>
          <a:xfrm>
            <a:off x="4681728" y="4187952"/>
            <a:ext cx="3017520" cy="777240"/>
          </a:xfrm>
          <a:prstGeom prst="rect">
            <a:avLst/>
          </a:prstGeom>
          <a:noFill/>
          <a:ln/>
        </p:spPr>
        <p:txBody>
          <a:bodyPr wrap="square" lIns="0" tIns="0" rIns="0" bIns="0" rtlCol="0" anchor="ctr"/>
          <a:lstStyle/>
          <a:p>
            <a:pPr indent="0" marL="0">
              <a:buNone/>
            </a:pPr>
            <a:r>
              <a:rPr lang="en-US" sz="2700" b="1" dirty="0">
                <a:solidFill>
                  <a:srgbClr val="D97757"/>
                </a:solidFill>
                <a:latin typeface="Cambria" pitchFamily="34" charset="0"/>
                <a:ea typeface="Cambria" pitchFamily="34" charset="-122"/>
                <a:cs typeface="Cambria" pitchFamily="34" charset="-120"/>
              </a:rPr>
              <a:t>8 of 8</a:t>
            </a:r>
            <a:endParaRPr lang="en-US" sz="2700" dirty="0"/>
          </a:p>
        </p:txBody>
      </p:sp>
      <p:sp>
        <p:nvSpPr>
          <p:cNvPr id="40" name="Text 38"/>
          <p:cNvSpPr/>
          <p:nvPr/>
        </p:nvSpPr>
        <p:spPr>
          <a:xfrm>
            <a:off x="4681728" y="4937760"/>
            <a:ext cx="3017520" cy="420624"/>
          </a:xfrm>
          <a:prstGeom prst="rect">
            <a:avLst/>
          </a:prstGeom>
          <a:noFill/>
          <a:ln/>
        </p:spPr>
        <p:txBody>
          <a:bodyPr wrap="square" lIns="0" tIns="0" rIns="0" bIns="0" rtlCol="0" anchor="ctr"/>
          <a:lstStyle/>
          <a:p>
            <a:pPr indent="0" marL="0">
              <a:lnSpc>
                <a:spcPct val="115000"/>
              </a:lnSpc>
              <a:buNone/>
            </a:pPr>
            <a:r>
              <a:rPr lang="en-US" sz="1150" dirty="0">
                <a:solidFill>
                  <a:srgbClr val="73716C"/>
                </a:solidFill>
                <a:latin typeface="Calibri" pitchFamily="34" charset="0"/>
                <a:ea typeface="Calibri" pitchFamily="34" charset="-122"/>
                <a:cs typeface="Calibri" pitchFamily="34" charset="-120"/>
              </a:rPr>
              <a:t>stages Locus writes to the card,</a:t>
            </a:r>
            <a:endParaRPr lang="en-US" sz="1150" dirty="0"/>
          </a:p>
          <a:p>
            <a:pPr indent="0" marL="0">
              <a:lnSpc>
                <a:spcPct val="115000"/>
              </a:lnSpc>
              <a:buNone/>
            </a:pPr>
            <a:r>
              <a:rPr lang="en-US" sz="1150" dirty="0">
                <a:solidFill>
                  <a:srgbClr val="73716C"/>
                </a:solidFill>
                <a:latin typeface="Calibri" pitchFamily="34" charset="0"/>
                <a:ea typeface="Calibri" pitchFamily="34" charset="-122"/>
                <a:cs typeface="Calibri" pitchFamily="34" charset="-120"/>
              </a:rPr>
              <a:t>ordered by the board's own columns</a:t>
            </a:r>
            <a:endParaRPr lang="en-US" sz="1150" dirty="0"/>
          </a:p>
        </p:txBody>
      </p:sp>
      <p:sp>
        <p:nvSpPr>
          <p:cNvPr id="41" name="Shape 39"/>
          <p:cNvSpPr/>
          <p:nvPr/>
        </p:nvSpPr>
        <p:spPr>
          <a:xfrm>
            <a:off x="8129016" y="4041648"/>
            <a:ext cx="3493008" cy="1481328"/>
          </a:xfrm>
          <a:prstGeom prst="roundRect">
            <a:avLst>
              <a:gd name="adj" fmla="val 5556"/>
            </a:avLst>
          </a:prstGeom>
          <a:solidFill>
            <a:srgbClr val="FAF9F5"/>
          </a:solidFill>
          <a:ln w="9525">
            <a:solidFill>
              <a:srgbClr val="DFDBD1"/>
            </a:solidFill>
            <a:prstDash val="solid"/>
          </a:ln>
          <a:effectLst>
            <a:outerShdw sx="100000" sy="100000" kx="0" ky="0" algn="bl" rotWithShape="0" blurRad="152400" dist="25400" dir="5400000">
              <a:srgbClr val="8C857A">
                <a:alpha val="16000"/>
              </a:srgbClr>
            </a:outerShdw>
          </a:effectLst>
        </p:spPr>
      </p:sp>
      <p:sp>
        <p:nvSpPr>
          <p:cNvPr id="42" name="Text 40"/>
          <p:cNvSpPr/>
          <p:nvPr/>
        </p:nvSpPr>
        <p:spPr>
          <a:xfrm>
            <a:off x="8403336" y="4187952"/>
            <a:ext cx="3017520" cy="777240"/>
          </a:xfrm>
          <a:prstGeom prst="rect">
            <a:avLst/>
          </a:prstGeom>
          <a:noFill/>
          <a:ln/>
        </p:spPr>
        <p:txBody>
          <a:bodyPr wrap="square" lIns="0" tIns="0" rIns="0" bIns="0" rtlCol="0" anchor="ctr"/>
          <a:lstStyle/>
          <a:p>
            <a:pPr indent="0" marL="0">
              <a:buNone/>
            </a:pPr>
            <a:r>
              <a:rPr lang="en-US" sz="2700" b="1" dirty="0">
                <a:solidFill>
                  <a:srgbClr val="D97757"/>
                </a:solidFill>
                <a:latin typeface="Cambria" pitchFamily="34" charset="0"/>
                <a:ea typeface="Cambria" pitchFamily="34" charset="-122"/>
                <a:cs typeface="Cambria" pitchFamily="34" charset="-120"/>
              </a:rPr>
              <a:t>1</a:t>
            </a:r>
            <a:endParaRPr lang="en-US" sz="2700" dirty="0"/>
          </a:p>
        </p:txBody>
      </p:sp>
      <p:sp>
        <p:nvSpPr>
          <p:cNvPr id="43" name="Text 41"/>
          <p:cNvSpPr/>
          <p:nvPr/>
        </p:nvSpPr>
        <p:spPr>
          <a:xfrm>
            <a:off x="8403336" y="4937760"/>
            <a:ext cx="3017520" cy="420624"/>
          </a:xfrm>
          <a:prstGeom prst="rect">
            <a:avLst/>
          </a:prstGeom>
          <a:noFill/>
          <a:ln/>
        </p:spPr>
        <p:txBody>
          <a:bodyPr wrap="square" lIns="0" tIns="0" rIns="0" bIns="0" rtlCol="0" anchor="ctr"/>
          <a:lstStyle/>
          <a:p>
            <a:pPr indent="0" marL="0">
              <a:lnSpc>
                <a:spcPct val="115000"/>
              </a:lnSpc>
              <a:buNone/>
            </a:pPr>
            <a:r>
              <a:rPr lang="en-US" sz="1150" dirty="0">
                <a:solidFill>
                  <a:srgbClr val="73716C"/>
                </a:solidFill>
                <a:latin typeface="Calibri" pitchFamily="34" charset="0"/>
                <a:ea typeface="Calibri" pitchFamily="34" charset="-122"/>
                <a:cs typeface="Calibri" pitchFamily="34" charset="-120"/>
              </a:rPr>
              <a:t>backwards move allowed — a QA</a:t>
            </a:r>
            <a:endParaRPr lang="en-US" sz="1150" dirty="0"/>
          </a:p>
          <a:p>
            <a:pPr indent="0" marL="0">
              <a:lnSpc>
                <a:spcPct val="115000"/>
              </a:lnSpc>
              <a:buNone/>
            </a:pPr>
            <a:r>
              <a:rPr lang="en-US" sz="1150" dirty="0">
                <a:solidFill>
                  <a:srgbClr val="73716C"/>
                </a:solidFill>
                <a:latin typeface="Calibri" pitchFamily="34" charset="0"/>
                <a:ea typeface="Calibri" pitchFamily="34" charset="-122"/>
                <a:cs typeface="Calibri" pitchFamily="34" charset="-120"/>
              </a:rPr>
              <a:t>rejection, because the tester said so</a:t>
            </a:r>
            <a:endParaRPr lang="en-US" sz="1150" dirty="0"/>
          </a:p>
        </p:txBody>
      </p:sp>
      <p:sp>
        <p:nvSpPr>
          <p:cNvPr id="44" name="Text 42"/>
          <p:cNvSpPr/>
          <p:nvPr/>
        </p:nvSpPr>
        <p:spPr>
          <a:xfrm>
            <a:off x="685800" y="5870448"/>
            <a:ext cx="10881360" cy="365760"/>
          </a:xfrm>
          <a:prstGeom prst="rect">
            <a:avLst/>
          </a:prstGeom>
          <a:noFill/>
          <a:ln/>
        </p:spPr>
        <p:txBody>
          <a:bodyPr wrap="square" lIns="0" tIns="0" rIns="0" bIns="0" rtlCol="0" anchor="ctr"/>
          <a:lstStyle/>
          <a:p>
            <a:pPr indent="0" marL="0">
              <a:buNone/>
            </a:pPr>
            <a:r>
              <a:rPr lang="en-US" sz="1700" b="1" dirty="0">
                <a:solidFill>
                  <a:srgbClr val="CC785C"/>
                </a:solidFill>
                <a:latin typeface="Cambria" pitchFamily="34" charset="0"/>
                <a:ea typeface="Cambria" pitchFamily="34" charset="-122"/>
                <a:cs typeface="Cambria" pitchFamily="34" charset="-120"/>
              </a:rPr>
              <a:t>The half a board can never show is the half Locus automates.</a:t>
            </a:r>
            <a:endParaRPr lang="en-US" sz="17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0EEE6"/>
        </a:solidFill>
      </p:bgPr>
    </p:bg>
    <p:spTree>
      <p:nvGrpSpPr>
        <p:cNvPr id="1" name=""/>
        <p:cNvGrpSpPr/>
        <p:nvPr/>
      </p:nvGrpSpPr>
      <p:grpSpPr>
        <a:xfrm>
          <a:off x="0" y="0"/>
          <a:ext cx="0" cy="0"/>
          <a:chOff x="0" y="0"/>
          <a:chExt cx="0" cy="0"/>
        </a:xfrm>
      </p:grpSpPr>
      <p:sp>
        <p:nvSpPr>
          <p:cNvPr id="2" name="Text 0"/>
          <p:cNvSpPr/>
          <p:nvPr/>
        </p:nvSpPr>
        <p:spPr>
          <a:xfrm>
            <a:off x="685800" y="457200"/>
            <a:ext cx="10881360" cy="1170432"/>
          </a:xfrm>
          <a:prstGeom prst="rect">
            <a:avLst/>
          </a:prstGeom>
          <a:noFill/>
          <a:ln/>
        </p:spPr>
        <p:txBody>
          <a:bodyPr wrap="square" lIns="0" tIns="0" rIns="0" bIns="0" rtlCol="0" anchor="ctr"/>
          <a:lstStyle/>
          <a:p>
            <a:pPr indent="0" marL="0">
              <a:buNone/>
            </a:pPr>
            <a:r>
              <a:rPr lang="en-US" sz="3100" b="1" dirty="0">
                <a:solidFill>
                  <a:srgbClr val="191919"/>
                </a:solidFill>
                <a:latin typeface="Cambria" pitchFamily="34" charset="0"/>
                <a:ea typeface="Cambria" pitchFamily="34" charset="-122"/>
                <a:cs typeface="Cambria" pitchFamily="34" charset="-120"/>
              </a:rPr>
              <a:t>Nine steps run on every push, grouped into three phases.</a:t>
            </a:r>
            <a:endParaRPr lang="en-US" sz="3100" dirty="0"/>
          </a:p>
        </p:txBody>
      </p:sp>
      <p:sp>
        <p:nvSpPr>
          <p:cNvPr id="3" name="Text 1"/>
          <p:cNvSpPr/>
          <p:nvPr/>
        </p:nvSpPr>
        <p:spPr>
          <a:xfrm>
            <a:off x="685800" y="1682496"/>
            <a:ext cx="10881360" cy="292608"/>
          </a:xfrm>
          <a:prstGeom prst="rect">
            <a:avLst/>
          </a:prstGeom>
          <a:noFill/>
          <a:ln/>
        </p:spPr>
        <p:txBody>
          <a:bodyPr wrap="square" lIns="0" tIns="0" rIns="0" bIns="0" rtlCol="0" anchor="ctr"/>
          <a:lstStyle/>
          <a:p>
            <a:pPr indent="0" marL="0">
              <a:buNone/>
            </a:pPr>
            <a:r>
              <a:rPr lang="en-US" sz="1450" dirty="0">
                <a:solidFill>
                  <a:srgbClr val="73716C"/>
                </a:solidFill>
                <a:latin typeface="Calibri" pitchFamily="34" charset="0"/>
                <a:ea typeface="Calibri" pitchFamily="34" charset="-122"/>
                <a:cs typeface="Calibri" pitchFamily="34" charset="-120"/>
              </a:rPr>
              <a:t>Driven by webhooks and three background loops — nothing waits for a person to click.</a:t>
            </a:r>
            <a:endParaRPr lang="en-US" sz="1450" dirty="0"/>
          </a:p>
        </p:txBody>
      </p:sp>
      <p:sp>
        <p:nvSpPr>
          <p:cNvPr id="4" name="Shape 2"/>
          <p:cNvSpPr/>
          <p:nvPr/>
        </p:nvSpPr>
        <p:spPr>
          <a:xfrm>
            <a:off x="685800" y="2121408"/>
            <a:ext cx="3493008" cy="3246120"/>
          </a:xfrm>
          <a:prstGeom prst="roundRect">
            <a:avLst>
              <a:gd name="adj" fmla="val 2535"/>
            </a:avLst>
          </a:prstGeom>
          <a:solidFill>
            <a:srgbClr val="FAF9F5"/>
          </a:solidFill>
          <a:ln w="9525">
            <a:solidFill>
              <a:srgbClr val="DFDBD1"/>
            </a:solidFill>
            <a:prstDash val="solid"/>
          </a:ln>
          <a:effectLst>
            <a:outerShdw sx="100000" sy="100000" kx="0" ky="0" algn="bl" rotWithShape="0" blurRad="152400" dist="25400" dir="5400000">
              <a:srgbClr val="8C857A">
                <a:alpha val="16000"/>
              </a:srgbClr>
            </a:outerShdw>
          </a:effectLst>
        </p:spPr>
      </p:sp>
      <p:sp>
        <p:nvSpPr>
          <p:cNvPr id="5" name="Text 3"/>
          <p:cNvSpPr/>
          <p:nvPr/>
        </p:nvSpPr>
        <p:spPr>
          <a:xfrm>
            <a:off x="960120" y="2377440"/>
            <a:ext cx="3017520" cy="237744"/>
          </a:xfrm>
          <a:prstGeom prst="rect">
            <a:avLst/>
          </a:prstGeom>
          <a:noFill/>
          <a:ln/>
        </p:spPr>
        <p:txBody>
          <a:bodyPr wrap="square" lIns="0" tIns="0" rIns="0" bIns="0" rtlCol="0" anchor="ctr"/>
          <a:lstStyle/>
          <a:p>
            <a:pPr indent="0" marL="0">
              <a:buNone/>
            </a:pPr>
            <a:r>
              <a:rPr lang="en-US" sz="1050" b="1" spc="240" kern="0" dirty="0">
                <a:solidFill>
                  <a:srgbClr val="D97757"/>
                </a:solidFill>
                <a:latin typeface="Calibri" pitchFamily="34" charset="0"/>
                <a:ea typeface="Calibri" pitchFamily="34" charset="-122"/>
                <a:cs typeface="Calibri" pitchFamily="34" charset="-120"/>
              </a:rPr>
              <a:t>BEFORE THE REVIEW</a:t>
            </a:r>
            <a:endParaRPr lang="en-US" sz="1050" dirty="0"/>
          </a:p>
        </p:txBody>
      </p:sp>
      <p:sp>
        <p:nvSpPr>
          <p:cNvPr id="6" name="Text 4"/>
          <p:cNvSpPr/>
          <p:nvPr/>
        </p:nvSpPr>
        <p:spPr>
          <a:xfrm>
            <a:off x="960120" y="2779776"/>
            <a:ext cx="365760" cy="365760"/>
          </a:xfrm>
          <a:prstGeom prst="ellipse">
            <a:avLst/>
          </a:prstGeom>
          <a:solidFill>
            <a:srgbClr val="D97757"/>
          </a:solidFill>
          <a:ln/>
        </p:spPr>
        <p:txBody>
          <a:bodyPr wrap="square" lIns="0" tIns="0" rIns="0" bIns="0" rtlCol="0" anchor="ctr"/>
          <a:lstStyle/>
          <a:p>
            <a:pPr algn="ctr" indent="0" marL="0">
              <a:buNone/>
            </a:pPr>
            <a:r>
              <a:rPr lang="en-US" sz="1100" b="1" dirty="0">
                <a:solidFill>
                  <a:srgbClr val="FAF9F5"/>
                </a:solidFill>
                <a:latin typeface="Calibri" pitchFamily="34" charset="0"/>
                <a:ea typeface="Calibri" pitchFamily="34" charset="-122"/>
                <a:cs typeface="Calibri" pitchFamily="34" charset="-120"/>
              </a:rPr>
              <a:t>1</a:t>
            </a:r>
            <a:endParaRPr lang="en-US" sz="1100" dirty="0"/>
          </a:p>
        </p:txBody>
      </p:sp>
      <p:sp>
        <p:nvSpPr>
          <p:cNvPr id="7" name="Text 5"/>
          <p:cNvSpPr/>
          <p:nvPr/>
        </p:nvSpPr>
        <p:spPr>
          <a:xfrm>
            <a:off x="1435608" y="2752344"/>
            <a:ext cx="2514600" cy="256032"/>
          </a:xfrm>
          <a:prstGeom prst="rect">
            <a:avLst/>
          </a:prstGeom>
          <a:noFill/>
          <a:ln/>
        </p:spPr>
        <p:txBody>
          <a:bodyPr wrap="square" lIns="0" tIns="0" rIns="0" bIns="0" rtlCol="0" anchor="ctr"/>
          <a:lstStyle/>
          <a:p>
            <a:pPr indent="0" marL="0">
              <a:buNone/>
            </a:pPr>
            <a:r>
              <a:rPr lang="en-US" sz="1250" b="1" dirty="0">
                <a:solidFill>
                  <a:srgbClr val="191919"/>
                </a:solidFill>
                <a:latin typeface="Calibri" pitchFamily="34" charset="0"/>
                <a:ea typeface="Calibri" pitchFamily="34" charset="-122"/>
                <a:cs typeface="Calibri" pitchFamily="34" charset="-120"/>
              </a:rPr>
              <a:t>Gather context</a:t>
            </a:r>
            <a:endParaRPr lang="en-US" sz="1250" dirty="0"/>
          </a:p>
        </p:txBody>
      </p:sp>
      <p:sp>
        <p:nvSpPr>
          <p:cNvPr id="8" name="Text 6"/>
          <p:cNvSpPr/>
          <p:nvPr/>
        </p:nvSpPr>
        <p:spPr>
          <a:xfrm>
            <a:off x="1435608" y="3008376"/>
            <a:ext cx="2514600" cy="256032"/>
          </a:xfrm>
          <a:prstGeom prst="rect">
            <a:avLst/>
          </a:prstGeom>
          <a:noFill/>
          <a:ln/>
        </p:spPr>
        <p:txBody>
          <a:bodyPr wrap="square" lIns="0" tIns="0" rIns="0" bIns="0" rtlCol="0" anchor="ctr"/>
          <a:lstStyle/>
          <a:p>
            <a:pPr indent="0" marL="0">
              <a:buNone/>
            </a:pPr>
            <a:r>
              <a:rPr lang="en-US" sz="1050" dirty="0">
                <a:solidFill>
                  <a:srgbClr val="73716C"/>
                </a:solidFill>
                <a:latin typeface="Calibri" pitchFamily="34" charset="0"/>
                <a:ea typeface="Calibri" pitchFamily="34" charset="-122"/>
                <a:cs typeface="Calibri" pitchFamily="34" charset="-120"/>
              </a:rPr>
              <a:t>ticket · Slack · issues · specs</a:t>
            </a:r>
            <a:endParaRPr lang="en-US" sz="1050" dirty="0"/>
          </a:p>
        </p:txBody>
      </p:sp>
      <p:sp>
        <p:nvSpPr>
          <p:cNvPr id="9" name="Text 7"/>
          <p:cNvSpPr/>
          <p:nvPr/>
        </p:nvSpPr>
        <p:spPr>
          <a:xfrm>
            <a:off x="960120" y="3621024"/>
            <a:ext cx="365760" cy="365760"/>
          </a:xfrm>
          <a:prstGeom prst="ellipse">
            <a:avLst/>
          </a:prstGeom>
          <a:solidFill>
            <a:srgbClr val="D97757"/>
          </a:solidFill>
          <a:ln/>
        </p:spPr>
        <p:txBody>
          <a:bodyPr wrap="square" lIns="0" tIns="0" rIns="0" bIns="0" rtlCol="0" anchor="ctr"/>
          <a:lstStyle/>
          <a:p>
            <a:pPr algn="ctr" indent="0" marL="0">
              <a:buNone/>
            </a:pPr>
            <a:r>
              <a:rPr lang="en-US" sz="1100" b="1" dirty="0">
                <a:solidFill>
                  <a:srgbClr val="FAF9F5"/>
                </a:solidFill>
                <a:latin typeface="Calibri" pitchFamily="34" charset="0"/>
                <a:ea typeface="Calibri" pitchFamily="34" charset="-122"/>
                <a:cs typeface="Calibri" pitchFamily="34" charset="-120"/>
              </a:rPr>
              <a:t>2</a:t>
            </a:r>
            <a:endParaRPr lang="en-US" sz="1100" dirty="0"/>
          </a:p>
        </p:txBody>
      </p:sp>
      <p:sp>
        <p:nvSpPr>
          <p:cNvPr id="10" name="Text 8"/>
          <p:cNvSpPr/>
          <p:nvPr/>
        </p:nvSpPr>
        <p:spPr>
          <a:xfrm>
            <a:off x="1435608" y="3593592"/>
            <a:ext cx="2514600" cy="256032"/>
          </a:xfrm>
          <a:prstGeom prst="rect">
            <a:avLst/>
          </a:prstGeom>
          <a:noFill/>
          <a:ln/>
        </p:spPr>
        <p:txBody>
          <a:bodyPr wrap="square" lIns="0" tIns="0" rIns="0" bIns="0" rtlCol="0" anchor="ctr"/>
          <a:lstStyle/>
          <a:p>
            <a:pPr indent="0" marL="0">
              <a:buNone/>
            </a:pPr>
            <a:r>
              <a:rPr lang="en-US" sz="1250" b="1" dirty="0">
                <a:solidFill>
                  <a:srgbClr val="191919"/>
                </a:solidFill>
                <a:latin typeface="Calibri" pitchFamily="34" charset="0"/>
                <a:ea typeface="Calibri" pitchFamily="34" charset="-122"/>
                <a:cs typeface="Calibri" pitchFamily="34" charset="-120"/>
              </a:rPr>
              <a:t>Scan the diff</a:t>
            </a:r>
            <a:endParaRPr lang="en-US" sz="1250" dirty="0"/>
          </a:p>
        </p:txBody>
      </p:sp>
      <p:sp>
        <p:nvSpPr>
          <p:cNvPr id="11" name="Text 9"/>
          <p:cNvSpPr/>
          <p:nvPr/>
        </p:nvSpPr>
        <p:spPr>
          <a:xfrm>
            <a:off x="1435608" y="3849624"/>
            <a:ext cx="2514600" cy="256032"/>
          </a:xfrm>
          <a:prstGeom prst="rect">
            <a:avLst/>
          </a:prstGeom>
          <a:noFill/>
          <a:ln/>
        </p:spPr>
        <p:txBody>
          <a:bodyPr wrap="square" lIns="0" tIns="0" rIns="0" bIns="0" rtlCol="0" anchor="ctr"/>
          <a:lstStyle/>
          <a:p>
            <a:pPr indent="0" marL="0">
              <a:buNone/>
            </a:pPr>
            <a:r>
              <a:rPr lang="en-US" sz="1050" dirty="0">
                <a:solidFill>
                  <a:srgbClr val="73716C"/>
                </a:solidFill>
                <a:latin typeface="Calibri" pitchFamily="34" charset="0"/>
                <a:ea typeface="Calibri" pitchFamily="34" charset="-122"/>
                <a:cs typeface="Calibri" pitchFamily="34" charset="-120"/>
              </a:rPr>
              <a:t>Semgrep · Gitleaks · model pass</a:t>
            </a:r>
            <a:endParaRPr lang="en-US" sz="1050" dirty="0"/>
          </a:p>
        </p:txBody>
      </p:sp>
      <p:sp>
        <p:nvSpPr>
          <p:cNvPr id="12" name="Text 10"/>
          <p:cNvSpPr/>
          <p:nvPr/>
        </p:nvSpPr>
        <p:spPr>
          <a:xfrm>
            <a:off x="960120" y="4462272"/>
            <a:ext cx="365760" cy="365760"/>
          </a:xfrm>
          <a:prstGeom prst="ellipse">
            <a:avLst/>
          </a:prstGeom>
          <a:solidFill>
            <a:srgbClr val="D97757"/>
          </a:solidFill>
          <a:ln/>
        </p:spPr>
        <p:txBody>
          <a:bodyPr wrap="square" lIns="0" tIns="0" rIns="0" bIns="0" rtlCol="0" anchor="ctr"/>
          <a:lstStyle/>
          <a:p>
            <a:pPr algn="ctr" indent="0" marL="0">
              <a:buNone/>
            </a:pPr>
            <a:r>
              <a:rPr lang="en-US" sz="1100" b="1" dirty="0">
                <a:solidFill>
                  <a:srgbClr val="FAF9F5"/>
                </a:solidFill>
                <a:latin typeface="Calibri" pitchFamily="34" charset="0"/>
                <a:ea typeface="Calibri" pitchFamily="34" charset="-122"/>
                <a:cs typeface="Calibri" pitchFamily="34" charset="-120"/>
              </a:rPr>
              <a:t>3</a:t>
            </a:r>
            <a:endParaRPr lang="en-US" sz="1100" dirty="0"/>
          </a:p>
        </p:txBody>
      </p:sp>
      <p:sp>
        <p:nvSpPr>
          <p:cNvPr id="13" name="Text 11"/>
          <p:cNvSpPr/>
          <p:nvPr/>
        </p:nvSpPr>
        <p:spPr>
          <a:xfrm>
            <a:off x="1435608" y="4434840"/>
            <a:ext cx="2514600" cy="256032"/>
          </a:xfrm>
          <a:prstGeom prst="rect">
            <a:avLst/>
          </a:prstGeom>
          <a:noFill/>
          <a:ln/>
        </p:spPr>
        <p:txBody>
          <a:bodyPr wrap="square" lIns="0" tIns="0" rIns="0" bIns="0" rtlCol="0" anchor="ctr"/>
          <a:lstStyle/>
          <a:p>
            <a:pPr indent="0" marL="0">
              <a:buNone/>
            </a:pPr>
            <a:r>
              <a:rPr lang="en-US" sz="1250" b="1" dirty="0">
                <a:solidFill>
                  <a:srgbClr val="191919"/>
                </a:solidFill>
                <a:latin typeface="Calibri" pitchFamily="34" charset="0"/>
                <a:ea typeface="Calibri" pitchFamily="34" charset="-122"/>
                <a:cs typeface="Calibri" pitchFamily="34" charset="-120"/>
              </a:rPr>
              <a:t>Review the code</a:t>
            </a:r>
            <a:endParaRPr lang="en-US" sz="1250" dirty="0"/>
          </a:p>
        </p:txBody>
      </p:sp>
      <p:sp>
        <p:nvSpPr>
          <p:cNvPr id="14" name="Text 12"/>
          <p:cNvSpPr/>
          <p:nvPr/>
        </p:nvSpPr>
        <p:spPr>
          <a:xfrm>
            <a:off x="1435608" y="4690872"/>
            <a:ext cx="2514600" cy="256032"/>
          </a:xfrm>
          <a:prstGeom prst="rect">
            <a:avLst/>
          </a:prstGeom>
          <a:noFill/>
          <a:ln/>
        </p:spPr>
        <p:txBody>
          <a:bodyPr wrap="square" lIns="0" tIns="0" rIns="0" bIns="0" rtlCol="0" anchor="ctr"/>
          <a:lstStyle/>
          <a:p>
            <a:pPr indent="0" marL="0">
              <a:buNone/>
            </a:pPr>
            <a:r>
              <a:rPr lang="en-US" sz="1050" dirty="0">
                <a:solidFill>
                  <a:srgbClr val="73716C"/>
                </a:solidFill>
                <a:latin typeface="Calibri" pitchFamily="34" charset="0"/>
                <a:ea typeface="Calibri" pitchFamily="34" charset="-122"/>
                <a:cs typeface="Calibri" pitchFamily="34" charset="-120"/>
              </a:rPr>
              <a:t>against the requirement</a:t>
            </a:r>
            <a:endParaRPr lang="en-US" sz="1050" dirty="0"/>
          </a:p>
        </p:txBody>
      </p:sp>
      <p:sp>
        <p:nvSpPr>
          <p:cNvPr id="15" name="Shape 13"/>
          <p:cNvSpPr/>
          <p:nvPr/>
        </p:nvSpPr>
        <p:spPr>
          <a:xfrm>
            <a:off x="4407408" y="2121408"/>
            <a:ext cx="3493008" cy="3246120"/>
          </a:xfrm>
          <a:prstGeom prst="roundRect">
            <a:avLst>
              <a:gd name="adj" fmla="val 2535"/>
            </a:avLst>
          </a:prstGeom>
          <a:solidFill>
            <a:srgbClr val="FAF9F5"/>
          </a:solidFill>
          <a:ln w="9525">
            <a:solidFill>
              <a:srgbClr val="DFDBD1"/>
            </a:solidFill>
            <a:prstDash val="solid"/>
          </a:ln>
          <a:effectLst>
            <a:outerShdw sx="100000" sy="100000" kx="0" ky="0" algn="bl" rotWithShape="0" blurRad="152400" dist="25400" dir="5400000">
              <a:srgbClr val="8C857A">
                <a:alpha val="16000"/>
              </a:srgbClr>
            </a:outerShdw>
          </a:effectLst>
        </p:spPr>
      </p:sp>
      <p:sp>
        <p:nvSpPr>
          <p:cNvPr id="16" name="Text 14"/>
          <p:cNvSpPr/>
          <p:nvPr/>
        </p:nvSpPr>
        <p:spPr>
          <a:xfrm>
            <a:off x="4681728" y="2377440"/>
            <a:ext cx="3017520" cy="237744"/>
          </a:xfrm>
          <a:prstGeom prst="rect">
            <a:avLst/>
          </a:prstGeom>
          <a:noFill/>
          <a:ln/>
        </p:spPr>
        <p:txBody>
          <a:bodyPr wrap="square" lIns="0" tIns="0" rIns="0" bIns="0" rtlCol="0" anchor="ctr"/>
          <a:lstStyle/>
          <a:p>
            <a:pPr indent="0" marL="0">
              <a:buNone/>
            </a:pPr>
            <a:r>
              <a:rPr lang="en-US" sz="1050" b="1" spc="240" kern="0" dirty="0">
                <a:solidFill>
                  <a:srgbClr val="D97757"/>
                </a:solidFill>
                <a:latin typeface="Calibri" pitchFamily="34" charset="0"/>
                <a:ea typeface="Calibri" pitchFamily="34" charset="-122"/>
                <a:cs typeface="Calibri" pitchFamily="34" charset="-120"/>
              </a:rPr>
              <a:t>AROUND THE REVIEW</a:t>
            </a:r>
            <a:endParaRPr lang="en-US" sz="1050" dirty="0"/>
          </a:p>
        </p:txBody>
      </p:sp>
      <p:sp>
        <p:nvSpPr>
          <p:cNvPr id="17" name="Text 15"/>
          <p:cNvSpPr/>
          <p:nvPr/>
        </p:nvSpPr>
        <p:spPr>
          <a:xfrm>
            <a:off x="4681728" y="2779776"/>
            <a:ext cx="365760" cy="365760"/>
          </a:xfrm>
          <a:prstGeom prst="ellipse">
            <a:avLst/>
          </a:prstGeom>
          <a:solidFill>
            <a:srgbClr val="D97757"/>
          </a:solidFill>
          <a:ln/>
        </p:spPr>
        <p:txBody>
          <a:bodyPr wrap="square" lIns="0" tIns="0" rIns="0" bIns="0" rtlCol="0" anchor="ctr"/>
          <a:lstStyle/>
          <a:p>
            <a:pPr algn="ctr" indent="0" marL="0">
              <a:buNone/>
            </a:pPr>
            <a:r>
              <a:rPr lang="en-US" sz="1100" b="1" dirty="0">
                <a:solidFill>
                  <a:srgbClr val="FAF9F5"/>
                </a:solidFill>
                <a:latin typeface="Calibri" pitchFamily="34" charset="0"/>
                <a:ea typeface="Calibri" pitchFamily="34" charset="-122"/>
                <a:cs typeface="Calibri" pitchFamily="34" charset="-120"/>
              </a:rPr>
              <a:t>4</a:t>
            </a:r>
            <a:endParaRPr lang="en-US" sz="1100" dirty="0"/>
          </a:p>
        </p:txBody>
      </p:sp>
      <p:sp>
        <p:nvSpPr>
          <p:cNvPr id="18" name="Text 16"/>
          <p:cNvSpPr/>
          <p:nvPr/>
        </p:nvSpPr>
        <p:spPr>
          <a:xfrm>
            <a:off x="5157216" y="2752344"/>
            <a:ext cx="2514600" cy="256032"/>
          </a:xfrm>
          <a:prstGeom prst="rect">
            <a:avLst/>
          </a:prstGeom>
          <a:noFill/>
          <a:ln/>
        </p:spPr>
        <p:txBody>
          <a:bodyPr wrap="square" lIns="0" tIns="0" rIns="0" bIns="0" rtlCol="0" anchor="ctr"/>
          <a:lstStyle/>
          <a:p>
            <a:pPr indent="0" marL="0">
              <a:buNone/>
            </a:pPr>
            <a:r>
              <a:rPr lang="en-US" sz="1250" b="1" dirty="0">
                <a:solidFill>
                  <a:srgbClr val="191919"/>
                </a:solidFill>
                <a:latin typeface="Calibri" pitchFamily="34" charset="0"/>
                <a:ea typeface="Calibri" pitchFamily="34" charset="-122"/>
                <a:cs typeface="Calibri" pitchFamily="34" charset="-120"/>
              </a:rPr>
              <a:t>Post the findings</a:t>
            </a:r>
            <a:endParaRPr lang="en-US" sz="1250" dirty="0"/>
          </a:p>
        </p:txBody>
      </p:sp>
      <p:sp>
        <p:nvSpPr>
          <p:cNvPr id="19" name="Text 17"/>
          <p:cNvSpPr/>
          <p:nvPr/>
        </p:nvSpPr>
        <p:spPr>
          <a:xfrm>
            <a:off x="5157216" y="3008376"/>
            <a:ext cx="2514600" cy="256032"/>
          </a:xfrm>
          <a:prstGeom prst="rect">
            <a:avLst/>
          </a:prstGeom>
          <a:noFill/>
          <a:ln/>
        </p:spPr>
        <p:txBody>
          <a:bodyPr wrap="square" lIns="0" tIns="0" rIns="0" bIns="0" rtlCol="0" anchor="ctr"/>
          <a:lstStyle/>
          <a:p>
            <a:pPr indent="0" marL="0">
              <a:buNone/>
            </a:pPr>
            <a:r>
              <a:rPr lang="en-US" sz="1050" dirty="0">
                <a:solidFill>
                  <a:srgbClr val="73716C"/>
                </a:solidFill>
                <a:latin typeface="Calibri" pitchFamily="34" charset="0"/>
                <a:ea typeface="Calibri" pitchFamily="34" charset="-122"/>
                <a:cs typeface="Calibri" pitchFamily="34" charset="-120"/>
              </a:rPr>
              <a:t>PR comment, edited in place</a:t>
            </a:r>
            <a:endParaRPr lang="en-US" sz="1050" dirty="0"/>
          </a:p>
        </p:txBody>
      </p:sp>
      <p:sp>
        <p:nvSpPr>
          <p:cNvPr id="20" name="Text 18"/>
          <p:cNvSpPr/>
          <p:nvPr/>
        </p:nvSpPr>
        <p:spPr>
          <a:xfrm>
            <a:off x="4681728" y="3621024"/>
            <a:ext cx="365760" cy="365760"/>
          </a:xfrm>
          <a:prstGeom prst="ellipse">
            <a:avLst/>
          </a:prstGeom>
          <a:solidFill>
            <a:srgbClr val="D97757"/>
          </a:solidFill>
          <a:ln/>
        </p:spPr>
        <p:txBody>
          <a:bodyPr wrap="square" lIns="0" tIns="0" rIns="0" bIns="0" rtlCol="0" anchor="ctr"/>
          <a:lstStyle/>
          <a:p>
            <a:pPr algn="ctr" indent="0" marL="0">
              <a:buNone/>
            </a:pPr>
            <a:r>
              <a:rPr lang="en-US" sz="1100" b="1" dirty="0">
                <a:solidFill>
                  <a:srgbClr val="FAF9F5"/>
                </a:solidFill>
                <a:latin typeface="Calibri" pitchFamily="34" charset="0"/>
                <a:ea typeface="Calibri" pitchFamily="34" charset="-122"/>
                <a:cs typeface="Calibri" pitchFamily="34" charset="-120"/>
              </a:rPr>
              <a:t>5</a:t>
            </a:r>
            <a:endParaRPr lang="en-US" sz="1100" dirty="0"/>
          </a:p>
        </p:txBody>
      </p:sp>
      <p:sp>
        <p:nvSpPr>
          <p:cNvPr id="21" name="Text 19"/>
          <p:cNvSpPr/>
          <p:nvPr/>
        </p:nvSpPr>
        <p:spPr>
          <a:xfrm>
            <a:off x="5157216" y="3593592"/>
            <a:ext cx="2514600" cy="256032"/>
          </a:xfrm>
          <a:prstGeom prst="rect">
            <a:avLst/>
          </a:prstGeom>
          <a:noFill/>
          <a:ln/>
        </p:spPr>
        <p:txBody>
          <a:bodyPr wrap="square" lIns="0" tIns="0" rIns="0" bIns="0" rtlCol="0" anchor="ctr"/>
          <a:lstStyle/>
          <a:p>
            <a:pPr indent="0" marL="0">
              <a:buNone/>
            </a:pPr>
            <a:r>
              <a:rPr lang="en-US" sz="1250" b="1" dirty="0">
                <a:solidFill>
                  <a:srgbClr val="191919"/>
                </a:solidFill>
                <a:latin typeface="Calibri" pitchFamily="34" charset="0"/>
                <a:ea typeface="Calibri" pitchFamily="34" charset="-122"/>
                <a:cs typeface="Calibri" pitchFamily="34" charset="-120"/>
              </a:rPr>
              <a:t>Track the rounds</a:t>
            </a:r>
            <a:endParaRPr lang="en-US" sz="1250" dirty="0"/>
          </a:p>
        </p:txBody>
      </p:sp>
      <p:sp>
        <p:nvSpPr>
          <p:cNvPr id="22" name="Text 20"/>
          <p:cNvSpPr/>
          <p:nvPr/>
        </p:nvSpPr>
        <p:spPr>
          <a:xfrm>
            <a:off x="5157216" y="3849624"/>
            <a:ext cx="2514600" cy="256032"/>
          </a:xfrm>
          <a:prstGeom prst="rect">
            <a:avLst/>
          </a:prstGeom>
          <a:noFill/>
          <a:ln/>
        </p:spPr>
        <p:txBody>
          <a:bodyPr wrap="square" lIns="0" tIns="0" rIns="0" bIns="0" rtlCol="0" anchor="ctr"/>
          <a:lstStyle/>
          <a:p>
            <a:pPr indent="0" marL="0">
              <a:buNone/>
            </a:pPr>
            <a:r>
              <a:rPr lang="en-US" sz="1050" dirty="0">
                <a:solidFill>
                  <a:srgbClr val="73716C"/>
                </a:solidFill>
                <a:latin typeface="Calibri" pitchFamily="34" charset="0"/>
                <a:ea typeface="Calibri" pitchFamily="34" charset="-122"/>
                <a:cs typeface="Calibri" pitchFamily="34" charset="-120"/>
              </a:rPr>
              <a:t>state GitHub does not keep</a:t>
            </a:r>
            <a:endParaRPr lang="en-US" sz="1050" dirty="0"/>
          </a:p>
        </p:txBody>
      </p:sp>
      <p:sp>
        <p:nvSpPr>
          <p:cNvPr id="23" name="Text 21"/>
          <p:cNvSpPr/>
          <p:nvPr/>
        </p:nvSpPr>
        <p:spPr>
          <a:xfrm>
            <a:off x="4681728" y="4462272"/>
            <a:ext cx="365760" cy="365760"/>
          </a:xfrm>
          <a:prstGeom prst="ellipse">
            <a:avLst/>
          </a:prstGeom>
          <a:solidFill>
            <a:srgbClr val="D97757"/>
          </a:solidFill>
          <a:ln/>
        </p:spPr>
        <p:txBody>
          <a:bodyPr wrap="square" lIns="0" tIns="0" rIns="0" bIns="0" rtlCol="0" anchor="ctr"/>
          <a:lstStyle/>
          <a:p>
            <a:pPr algn="ctr" indent="0" marL="0">
              <a:buNone/>
            </a:pPr>
            <a:r>
              <a:rPr lang="en-US" sz="1100" b="1" dirty="0">
                <a:solidFill>
                  <a:srgbClr val="FAF9F5"/>
                </a:solidFill>
                <a:latin typeface="Calibri" pitchFamily="34" charset="0"/>
                <a:ea typeface="Calibri" pitchFamily="34" charset="-122"/>
                <a:cs typeface="Calibri" pitchFamily="34" charset="-120"/>
              </a:rPr>
              <a:t>6</a:t>
            </a:r>
            <a:endParaRPr lang="en-US" sz="1100" dirty="0"/>
          </a:p>
        </p:txBody>
      </p:sp>
      <p:sp>
        <p:nvSpPr>
          <p:cNvPr id="24" name="Text 22"/>
          <p:cNvSpPr/>
          <p:nvPr/>
        </p:nvSpPr>
        <p:spPr>
          <a:xfrm>
            <a:off x="5157216" y="4434840"/>
            <a:ext cx="2514600" cy="256032"/>
          </a:xfrm>
          <a:prstGeom prst="rect">
            <a:avLst/>
          </a:prstGeom>
          <a:noFill/>
          <a:ln/>
        </p:spPr>
        <p:txBody>
          <a:bodyPr wrap="square" lIns="0" tIns="0" rIns="0" bIns="0" rtlCol="0" anchor="ctr"/>
          <a:lstStyle/>
          <a:p>
            <a:pPr indent="0" marL="0">
              <a:buNone/>
            </a:pPr>
            <a:r>
              <a:rPr lang="en-US" sz="1250" b="1" dirty="0">
                <a:solidFill>
                  <a:srgbClr val="191919"/>
                </a:solidFill>
                <a:latin typeface="Calibri" pitchFamily="34" charset="0"/>
                <a:ea typeface="Calibri" pitchFamily="34" charset="-122"/>
                <a:cs typeface="Calibri" pitchFamily="34" charset="-120"/>
              </a:rPr>
              <a:t>Merge when gated</a:t>
            </a:r>
            <a:endParaRPr lang="en-US" sz="1250" dirty="0"/>
          </a:p>
        </p:txBody>
      </p:sp>
      <p:sp>
        <p:nvSpPr>
          <p:cNvPr id="25" name="Text 23"/>
          <p:cNvSpPr/>
          <p:nvPr/>
        </p:nvSpPr>
        <p:spPr>
          <a:xfrm>
            <a:off x="5157216" y="4690872"/>
            <a:ext cx="2514600" cy="256032"/>
          </a:xfrm>
          <a:prstGeom prst="rect">
            <a:avLst/>
          </a:prstGeom>
          <a:noFill/>
          <a:ln/>
        </p:spPr>
        <p:txBody>
          <a:bodyPr wrap="square" lIns="0" tIns="0" rIns="0" bIns="0" rtlCol="0" anchor="ctr"/>
          <a:lstStyle/>
          <a:p>
            <a:pPr indent="0" marL="0">
              <a:buNone/>
            </a:pPr>
            <a:r>
              <a:rPr lang="en-US" sz="1050" dirty="0">
                <a:solidFill>
                  <a:srgbClr val="73716C"/>
                </a:solidFill>
                <a:latin typeface="Calibri" pitchFamily="34" charset="0"/>
                <a:ea typeface="Calibri" pitchFamily="34" charset="-122"/>
                <a:cs typeface="Calibri" pitchFamily="34" charset="-120"/>
              </a:rPr>
              <a:t>approval + green CI + clean</a:t>
            </a:r>
            <a:endParaRPr lang="en-US" sz="1050" dirty="0"/>
          </a:p>
        </p:txBody>
      </p:sp>
      <p:sp>
        <p:nvSpPr>
          <p:cNvPr id="26" name="Shape 24"/>
          <p:cNvSpPr/>
          <p:nvPr/>
        </p:nvSpPr>
        <p:spPr>
          <a:xfrm>
            <a:off x="8129016" y="2121408"/>
            <a:ext cx="3493008" cy="3246120"/>
          </a:xfrm>
          <a:prstGeom prst="roundRect">
            <a:avLst>
              <a:gd name="adj" fmla="val 2535"/>
            </a:avLst>
          </a:prstGeom>
          <a:solidFill>
            <a:srgbClr val="FAF9F5"/>
          </a:solidFill>
          <a:ln w="9525">
            <a:solidFill>
              <a:srgbClr val="DFDBD1"/>
            </a:solidFill>
            <a:prstDash val="solid"/>
          </a:ln>
          <a:effectLst>
            <a:outerShdw sx="100000" sy="100000" kx="0" ky="0" algn="bl" rotWithShape="0" blurRad="152400" dist="25400" dir="5400000">
              <a:srgbClr val="8C857A">
                <a:alpha val="16000"/>
              </a:srgbClr>
            </a:outerShdw>
          </a:effectLst>
        </p:spPr>
      </p:sp>
      <p:sp>
        <p:nvSpPr>
          <p:cNvPr id="27" name="Text 25"/>
          <p:cNvSpPr/>
          <p:nvPr/>
        </p:nvSpPr>
        <p:spPr>
          <a:xfrm>
            <a:off x="8403336" y="2377440"/>
            <a:ext cx="3017520" cy="237744"/>
          </a:xfrm>
          <a:prstGeom prst="rect">
            <a:avLst/>
          </a:prstGeom>
          <a:noFill/>
          <a:ln/>
        </p:spPr>
        <p:txBody>
          <a:bodyPr wrap="square" lIns="0" tIns="0" rIns="0" bIns="0" rtlCol="0" anchor="ctr"/>
          <a:lstStyle/>
          <a:p>
            <a:pPr indent="0" marL="0">
              <a:buNone/>
            </a:pPr>
            <a:r>
              <a:rPr lang="en-US" sz="1050" b="1" spc="240" kern="0" dirty="0">
                <a:solidFill>
                  <a:srgbClr val="D97757"/>
                </a:solidFill>
                <a:latin typeface="Calibri" pitchFamily="34" charset="0"/>
                <a:ea typeface="Calibri" pitchFamily="34" charset="-122"/>
                <a:cs typeface="Calibri" pitchFamily="34" charset="-120"/>
              </a:rPr>
              <a:t>AFTER THE MERGE</a:t>
            </a:r>
            <a:endParaRPr lang="en-US" sz="1050" dirty="0"/>
          </a:p>
        </p:txBody>
      </p:sp>
      <p:sp>
        <p:nvSpPr>
          <p:cNvPr id="28" name="Text 26"/>
          <p:cNvSpPr/>
          <p:nvPr/>
        </p:nvSpPr>
        <p:spPr>
          <a:xfrm>
            <a:off x="8403336" y="2779776"/>
            <a:ext cx="365760" cy="365760"/>
          </a:xfrm>
          <a:prstGeom prst="ellipse">
            <a:avLst/>
          </a:prstGeom>
          <a:solidFill>
            <a:srgbClr val="D97757"/>
          </a:solidFill>
          <a:ln/>
        </p:spPr>
        <p:txBody>
          <a:bodyPr wrap="square" lIns="0" tIns="0" rIns="0" bIns="0" rtlCol="0" anchor="ctr"/>
          <a:lstStyle/>
          <a:p>
            <a:pPr algn="ctr" indent="0" marL="0">
              <a:buNone/>
            </a:pPr>
            <a:r>
              <a:rPr lang="en-US" sz="1100" b="1" dirty="0">
                <a:solidFill>
                  <a:srgbClr val="FAF9F5"/>
                </a:solidFill>
                <a:latin typeface="Calibri" pitchFamily="34" charset="0"/>
                <a:ea typeface="Calibri" pitchFamily="34" charset="-122"/>
                <a:cs typeface="Calibri" pitchFamily="34" charset="-120"/>
              </a:rPr>
              <a:t>7</a:t>
            </a:r>
            <a:endParaRPr lang="en-US" sz="1100" dirty="0"/>
          </a:p>
        </p:txBody>
      </p:sp>
      <p:sp>
        <p:nvSpPr>
          <p:cNvPr id="29" name="Text 27"/>
          <p:cNvSpPr/>
          <p:nvPr/>
        </p:nvSpPr>
        <p:spPr>
          <a:xfrm>
            <a:off x="8878824" y="2752344"/>
            <a:ext cx="2514600" cy="256032"/>
          </a:xfrm>
          <a:prstGeom prst="rect">
            <a:avLst/>
          </a:prstGeom>
          <a:noFill/>
          <a:ln/>
        </p:spPr>
        <p:txBody>
          <a:bodyPr wrap="square" lIns="0" tIns="0" rIns="0" bIns="0" rtlCol="0" anchor="ctr"/>
          <a:lstStyle/>
          <a:p>
            <a:pPr indent="0" marL="0">
              <a:buNone/>
            </a:pPr>
            <a:r>
              <a:rPr lang="en-US" sz="1250" b="1" dirty="0">
                <a:solidFill>
                  <a:srgbClr val="191919"/>
                </a:solidFill>
                <a:latin typeface="Calibri" pitchFamily="34" charset="0"/>
                <a:ea typeface="Calibri" pitchFamily="34" charset="-122"/>
                <a:cs typeface="Calibri" pitchFamily="34" charset="-120"/>
              </a:rPr>
              <a:t>Brief the testers</a:t>
            </a:r>
            <a:endParaRPr lang="en-US" sz="1250" dirty="0"/>
          </a:p>
        </p:txBody>
      </p:sp>
      <p:sp>
        <p:nvSpPr>
          <p:cNvPr id="30" name="Text 28"/>
          <p:cNvSpPr/>
          <p:nvPr/>
        </p:nvSpPr>
        <p:spPr>
          <a:xfrm>
            <a:off x="8878824" y="3008376"/>
            <a:ext cx="2514600" cy="256032"/>
          </a:xfrm>
          <a:prstGeom prst="rect">
            <a:avLst/>
          </a:prstGeom>
          <a:noFill/>
          <a:ln/>
        </p:spPr>
        <p:txBody>
          <a:bodyPr wrap="square" lIns="0" tIns="0" rIns="0" bIns="0" rtlCol="0" anchor="ctr"/>
          <a:lstStyle/>
          <a:p>
            <a:pPr indent="0" marL="0">
              <a:buNone/>
            </a:pPr>
            <a:r>
              <a:rPr lang="en-US" sz="1050" dirty="0">
                <a:solidFill>
                  <a:srgbClr val="73716C"/>
                </a:solidFill>
                <a:latin typeface="Calibri" pitchFamily="34" charset="0"/>
                <a:ea typeface="Calibri" pitchFamily="34" charset="-122"/>
                <a:cs typeface="Calibri" pitchFamily="34" charset="-120"/>
              </a:rPr>
              <a:t>email or a Slack thread</a:t>
            </a:r>
            <a:endParaRPr lang="en-US" sz="1050" dirty="0"/>
          </a:p>
        </p:txBody>
      </p:sp>
      <p:sp>
        <p:nvSpPr>
          <p:cNvPr id="31" name="Text 29"/>
          <p:cNvSpPr/>
          <p:nvPr/>
        </p:nvSpPr>
        <p:spPr>
          <a:xfrm>
            <a:off x="8403336" y="3621024"/>
            <a:ext cx="365760" cy="365760"/>
          </a:xfrm>
          <a:prstGeom prst="ellipse">
            <a:avLst/>
          </a:prstGeom>
          <a:solidFill>
            <a:srgbClr val="D97757"/>
          </a:solidFill>
          <a:ln/>
        </p:spPr>
        <p:txBody>
          <a:bodyPr wrap="square" lIns="0" tIns="0" rIns="0" bIns="0" rtlCol="0" anchor="ctr"/>
          <a:lstStyle/>
          <a:p>
            <a:pPr algn="ctr" indent="0" marL="0">
              <a:buNone/>
            </a:pPr>
            <a:r>
              <a:rPr lang="en-US" sz="1100" b="1" dirty="0">
                <a:solidFill>
                  <a:srgbClr val="FAF9F5"/>
                </a:solidFill>
                <a:latin typeface="Calibri" pitchFamily="34" charset="0"/>
                <a:ea typeface="Calibri" pitchFamily="34" charset="-122"/>
                <a:cs typeface="Calibri" pitchFamily="34" charset="-120"/>
              </a:rPr>
              <a:t>8</a:t>
            </a:r>
            <a:endParaRPr lang="en-US" sz="1100" dirty="0"/>
          </a:p>
        </p:txBody>
      </p:sp>
      <p:sp>
        <p:nvSpPr>
          <p:cNvPr id="32" name="Text 30"/>
          <p:cNvSpPr/>
          <p:nvPr/>
        </p:nvSpPr>
        <p:spPr>
          <a:xfrm>
            <a:off x="8878824" y="3593592"/>
            <a:ext cx="2514600" cy="256032"/>
          </a:xfrm>
          <a:prstGeom prst="rect">
            <a:avLst/>
          </a:prstGeom>
          <a:noFill/>
          <a:ln/>
        </p:spPr>
        <p:txBody>
          <a:bodyPr wrap="square" lIns="0" tIns="0" rIns="0" bIns="0" rtlCol="0" anchor="ctr"/>
          <a:lstStyle/>
          <a:p>
            <a:pPr indent="0" marL="0">
              <a:buNone/>
            </a:pPr>
            <a:r>
              <a:rPr lang="en-US" sz="1250" b="1" dirty="0">
                <a:solidFill>
                  <a:srgbClr val="191919"/>
                </a:solidFill>
                <a:latin typeface="Calibri" pitchFamily="34" charset="0"/>
                <a:ea typeface="Calibri" pitchFamily="34" charset="-122"/>
                <a:cs typeface="Calibri" pitchFamily="34" charset="-120"/>
              </a:rPr>
              <a:t>Read the verdict</a:t>
            </a:r>
            <a:endParaRPr lang="en-US" sz="1250" dirty="0"/>
          </a:p>
        </p:txBody>
      </p:sp>
      <p:sp>
        <p:nvSpPr>
          <p:cNvPr id="33" name="Text 31"/>
          <p:cNvSpPr/>
          <p:nvPr/>
        </p:nvSpPr>
        <p:spPr>
          <a:xfrm>
            <a:off x="8878824" y="3849624"/>
            <a:ext cx="2514600" cy="256032"/>
          </a:xfrm>
          <a:prstGeom prst="rect">
            <a:avLst/>
          </a:prstGeom>
          <a:noFill/>
          <a:ln/>
        </p:spPr>
        <p:txBody>
          <a:bodyPr wrap="square" lIns="0" tIns="0" rIns="0" bIns="0" rtlCol="0" anchor="ctr"/>
          <a:lstStyle/>
          <a:p>
            <a:pPr indent="0" marL="0">
              <a:buNone/>
            </a:pPr>
            <a:r>
              <a:rPr lang="en-US" sz="1050" dirty="0">
                <a:solidFill>
                  <a:srgbClr val="73716C"/>
                </a:solidFill>
                <a:latin typeface="Calibri" pitchFamily="34" charset="0"/>
                <a:ea typeface="Calibri" pitchFamily="34" charset="-122"/>
                <a:cs typeface="Calibri" pitchFamily="34" charset="-120"/>
              </a:rPr>
              <a:t>closes, or reopens the ticket</a:t>
            </a:r>
            <a:endParaRPr lang="en-US" sz="1050" dirty="0"/>
          </a:p>
        </p:txBody>
      </p:sp>
      <p:sp>
        <p:nvSpPr>
          <p:cNvPr id="34" name="Text 32"/>
          <p:cNvSpPr/>
          <p:nvPr/>
        </p:nvSpPr>
        <p:spPr>
          <a:xfrm>
            <a:off x="8403336" y="4462272"/>
            <a:ext cx="365760" cy="365760"/>
          </a:xfrm>
          <a:prstGeom prst="ellipse">
            <a:avLst/>
          </a:prstGeom>
          <a:solidFill>
            <a:srgbClr val="D97757"/>
          </a:solidFill>
          <a:ln/>
        </p:spPr>
        <p:txBody>
          <a:bodyPr wrap="square" lIns="0" tIns="0" rIns="0" bIns="0" rtlCol="0" anchor="ctr"/>
          <a:lstStyle/>
          <a:p>
            <a:pPr algn="ctr" indent="0" marL="0">
              <a:buNone/>
            </a:pPr>
            <a:r>
              <a:rPr lang="en-US" sz="1100" b="1" dirty="0">
                <a:solidFill>
                  <a:srgbClr val="FAF9F5"/>
                </a:solidFill>
                <a:latin typeface="Calibri" pitchFamily="34" charset="0"/>
                <a:ea typeface="Calibri" pitchFamily="34" charset="-122"/>
                <a:cs typeface="Calibri" pitchFamily="34" charset="-120"/>
              </a:rPr>
              <a:t>9</a:t>
            </a:r>
            <a:endParaRPr lang="en-US" sz="1100" dirty="0"/>
          </a:p>
        </p:txBody>
      </p:sp>
      <p:sp>
        <p:nvSpPr>
          <p:cNvPr id="35" name="Text 33"/>
          <p:cNvSpPr/>
          <p:nvPr/>
        </p:nvSpPr>
        <p:spPr>
          <a:xfrm>
            <a:off x="8878824" y="4434840"/>
            <a:ext cx="2514600" cy="256032"/>
          </a:xfrm>
          <a:prstGeom prst="rect">
            <a:avLst/>
          </a:prstGeom>
          <a:noFill/>
          <a:ln/>
        </p:spPr>
        <p:txBody>
          <a:bodyPr wrap="square" lIns="0" tIns="0" rIns="0" bIns="0" rtlCol="0" anchor="ctr"/>
          <a:lstStyle/>
          <a:p>
            <a:pPr indent="0" marL="0">
              <a:buNone/>
            </a:pPr>
            <a:r>
              <a:rPr lang="en-US" sz="1250" b="1" dirty="0">
                <a:solidFill>
                  <a:srgbClr val="191919"/>
                </a:solidFill>
                <a:latin typeface="Calibri" pitchFamily="34" charset="0"/>
                <a:ea typeface="Calibri" pitchFamily="34" charset="-122"/>
                <a:cs typeface="Calibri" pitchFamily="34" charset="-120"/>
              </a:rPr>
              <a:t>Record everything</a:t>
            </a:r>
            <a:endParaRPr lang="en-US" sz="1250" dirty="0"/>
          </a:p>
        </p:txBody>
      </p:sp>
      <p:sp>
        <p:nvSpPr>
          <p:cNvPr id="36" name="Text 34"/>
          <p:cNvSpPr/>
          <p:nvPr/>
        </p:nvSpPr>
        <p:spPr>
          <a:xfrm>
            <a:off x="8878824" y="4690872"/>
            <a:ext cx="2514600" cy="256032"/>
          </a:xfrm>
          <a:prstGeom prst="rect">
            <a:avLst/>
          </a:prstGeom>
          <a:noFill/>
          <a:ln/>
        </p:spPr>
        <p:txBody>
          <a:bodyPr wrap="square" lIns="0" tIns="0" rIns="0" bIns="0" rtlCol="0" anchor="ctr"/>
          <a:lstStyle/>
          <a:p>
            <a:pPr indent="0" marL="0">
              <a:buNone/>
            </a:pPr>
            <a:r>
              <a:rPr lang="en-US" sz="1050" dirty="0">
                <a:solidFill>
                  <a:srgbClr val="73716C"/>
                </a:solidFill>
                <a:latin typeface="Calibri" pitchFamily="34" charset="0"/>
                <a:ea typeface="Calibri" pitchFamily="34" charset="-122"/>
                <a:cs typeface="Calibri" pitchFamily="34" charset="-120"/>
              </a:rPr>
              <a:t>board card + one living doc</a:t>
            </a:r>
            <a:endParaRPr lang="en-US" sz="1050" dirty="0"/>
          </a:p>
        </p:txBody>
      </p:sp>
      <p:sp>
        <p:nvSpPr>
          <p:cNvPr id="37" name="Text 35"/>
          <p:cNvSpPr/>
          <p:nvPr/>
        </p:nvSpPr>
        <p:spPr>
          <a:xfrm>
            <a:off x="685800" y="5806440"/>
            <a:ext cx="10881360" cy="365760"/>
          </a:xfrm>
          <a:prstGeom prst="rect">
            <a:avLst/>
          </a:prstGeom>
          <a:noFill/>
          <a:ln/>
        </p:spPr>
        <p:txBody>
          <a:bodyPr wrap="square" lIns="0" tIns="0" rIns="0" bIns="0" rtlCol="0" anchor="ctr"/>
          <a:lstStyle/>
          <a:p>
            <a:pPr indent="0" marL="0">
              <a:buNone/>
            </a:pPr>
            <a:r>
              <a:rPr lang="en-US" sz="1700" b="1" dirty="0">
                <a:solidFill>
                  <a:srgbClr val="CC785C"/>
                </a:solidFill>
                <a:latin typeface="Cambria" pitchFamily="34" charset="0"/>
                <a:ea typeface="Cambria" pitchFamily="34" charset="-122"/>
                <a:cs typeface="Cambria" pitchFamily="34" charset="-120"/>
              </a:rPr>
              <a:t>Every message searched, sent and received is recorded — never summarized.</a:t>
            </a:r>
            <a:endParaRPr lang="en-US" sz="17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1F1E1D"/>
        </a:solidFill>
      </p:bgPr>
    </p:bg>
    <p:spTree>
      <p:nvGrpSpPr>
        <p:cNvPr id="1" name=""/>
        <p:cNvGrpSpPr/>
        <p:nvPr/>
      </p:nvGrpSpPr>
      <p:grpSpPr>
        <a:xfrm>
          <a:off x="0" y="0"/>
          <a:ext cx="0" cy="0"/>
          <a:chOff x="0" y="0"/>
          <a:chExt cx="0" cy="0"/>
        </a:xfrm>
      </p:grpSpPr>
      <p:sp>
        <p:nvSpPr>
          <p:cNvPr id="2" name="Text 0"/>
          <p:cNvSpPr/>
          <p:nvPr/>
        </p:nvSpPr>
        <p:spPr>
          <a:xfrm>
            <a:off x="685800" y="457200"/>
            <a:ext cx="10881360" cy="1170432"/>
          </a:xfrm>
          <a:prstGeom prst="rect">
            <a:avLst/>
          </a:prstGeom>
          <a:noFill/>
          <a:ln/>
        </p:spPr>
        <p:txBody>
          <a:bodyPr wrap="square" lIns="0" tIns="0" rIns="0" bIns="0" rtlCol="0" anchor="ctr"/>
          <a:lstStyle/>
          <a:p>
            <a:pPr indent="0" marL="0">
              <a:buNone/>
            </a:pPr>
            <a:r>
              <a:rPr lang="en-US" sz="3300" b="1" dirty="0">
                <a:solidFill>
                  <a:srgbClr val="F5F3EE"/>
                </a:solidFill>
                <a:latin typeface="Cambria" pitchFamily="34" charset="0"/>
                <a:ea typeface="Cambria" pitchFamily="34" charset="-122"/>
                <a:cs typeface="Cambria" pitchFamily="34" charset="-120"/>
              </a:rPr>
              <a:t>Two modes. They differ in exactly one place.</a:t>
            </a:r>
            <a:endParaRPr lang="en-US" sz="3300" dirty="0"/>
          </a:p>
        </p:txBody>
      </p:sp>
      <p:sp>
        <p:nvSpPr>
          <p:cNvPr id="3" name="Text 1"/>
          <p:cNvSpPr/>
          <p:nvPr/>
        </p:nvSpPr>
        <p:spPr>
          <a:xfrm>
            <a:off x="685800" y="1682496"/>
            <a:ext cx="10881360" cy="292608"/>
          </a:xfrm>
          <a:prstGeom prst="rect">
            <a:avLst/>
          </a:prstGeom>
          <a:noFill/>
          <a:ln/>
        </p:spPr>
        <p:txBody>
          <a:bodyPr wrap="square" lIns="0" tIns="0" rIns="0" bIns="0" rtlCol="0" anchor="ctr"/>
          <a:lstStyle/>
          <a:p>
            <a:pPr indent="0" marL="0">
              <a:buNone/>
            </a:pPr>
            <a:r>
              <a:rPr lang="en-US" sz="1450" dirty="0">
                <a:solidFill>
                  <a:srgbClr val="A8A49C"/>
                </a:solidFill>
                <a:latin typeface="Calibri" pitchFamily="34" charset="0"/>
                <a:ea typeface="Calibri" pitchFamily="34" charset="-122"/>
                <a:cs typeface="Calibri" pitchFamily="34" charset="-120"/>
              </a:rPr>
              <a:t>Who writes the code. Everything behind that is identical.</a:t>
            </a:r>
            <a:endParaRPr lang="en-US" sz="1450" dirty="0"/>
          </a:p>
        </p:txBody>
      </p:sp>
      <p:sp>
        <p:nvSpPr>
          <p:cNvPr id="4" name="Shape 2"/>
          <p:cNvSpPr/>
          <p:nvPr/>
        </p:nvSpPr>
        <p:spPr>
          <a:xfrm>
            <a:off x="685800" y="2121408"/>
            <a:ext cx="5349240" cy="3063240"/>
          </a:xfrm>
          <a:prstGeom prst="roundRect">
            <a:avLst>
              <a:gd name="adj" fmla="val 2687"/>
            </a:avLst>
          </a:prstGeom>
          <a:solidFill>
            <a:srgbClr val="2A2826"/>
          </a:solidFill>
          <a:ln w="12700">
            <a:solidFill>
              <a:srgbClr val="3D3A36"/>
            </a:solidFill>
            <a:prstDash val="solid"/>
          </a:ln>
        </p:spPr>
      </p:sp>
      <p:sp>
        <p:nvSpPr>
          <p:cNvPr id="5" name="Text 3"/>
          <p:cNvSpPr/>
          <p:nvPr/>
        </p:nvSpPr>
        <p:spPr>
          <a:xfrm>
            <a:off x="1051560" y="2432304"/>
            <a:ext cx="4114800" cy="237744"/>
          </a:xfrm>
          <a:prstGeom prst="rect">
            <a:avLst/>
          </a:prstGeom>
          <a:noFill/>
          <a:ln/>
        </p:spPr>
        <p:txBody>
          <a:bodyPr wrap="square" lIns="0" tIns="0" rIns="0" bIns="0" rtlCol="0" anchor="ctr"/>
          <a:lstStyle/>
          <a:p>
            <a:pPr indent="0" marL="0">
              <a:buNone/>
            </a:pPr>
            <a:r>
              <a:rPr lang="en-US" sz="1050" b="1" spc="240" kern="0" dirty="0">
                <a:solidFill>
                  <a:srgbClr val="A8A49C"/>
                </a:solidFill>
                <a:latin typeface="Calibri" pitchFamily="34" charset="0"/>
                <a:ea typeface="Calibri" pitchFamily="34" charset="-122"/>
                <a:cs typeface="Calibri" pitchFamily="34" charset="-120"/>
              </a:rPr>
              <a:t>ASSISTED</a:t>
            </a:r>
            <a:endParaRPr lang="en-US" sz="1050" dirty="0"/>
          </a:p>
        </p:txBody>
      </p:sp>
      <p:sp>
        <p:nvSpPr>
          <p:cNvPr id="6" name="Text 4"/>
          <p:cNvSpPr/>
          <p:nvPr/>
        </p:nvSpPr>
        <p:spPr>
          <a:xfrm>
            <a:off x="1024128" y="2779776"/>
            <a:ext cx="4663440" cy="457200"/>
          </a:xfrm>
          <a:prstGeom prst="rect">
            <a:avLst/>
          </a:prstGeom>
          <a:noFill/>
          <a:ln/>
        </p:spPr>
        <p:txBody>
          <a:bodyPr wrap="square" lIns="0" tIns="0" rIns="0" bIns="0" rtlCol="0" anchor="ctr"/>
          <a:lstStyle/>
          <a:p>
            <a:pPr indent="0" marL="0">
              <a:buNone/>
            </a:pPr>
            <a:r>
              <a:rPr lang="en-US" sz="2700" b="1" dirty="0">
                <a:solidFill>
                  <a:srgbClr val="F5F3EE"/>
                </a:solidFill>
                <a:latin typeface="Cambria" pitchFamily="34" charset="0"/>
                <a:ea typeface="Cambria" pitchFamily="34" charset="-122"/>
                <a:cs typeface="Cambria" pitchFamily="34" charset="-120"/>
              </a:rPr>
              <a:t>You write the code.</a:t>
            </a:r>
            <a:endParaRPr lang="en-US" sz="2700" dirty="0"/>
          </a:p>
        </p:txBody>
      </p:sp>
      <p:sp>
        <p:nvSpPr>
          <p:cNvPr id="7" name="Text 5"/>
          <p:cNvSpPr/>
          <p:nvPr/>
        </p:nvSpPr>
        <p:spPr>
          <a:xfrm>
            <a:off x="1051560" y="3364992"/>
            <a:ext cx="4663440" cy="1097280"/>
          </a:xfrm>
          <a:prstGeom prst="rect">
            <a:avLst/>
          </a:prstGeom>
          <a:noFill/>
          <a:ln/>
        </p:spPr>
        <p:txBody>
          <a:bodyPr wrap="square" lIns="0" tIns="0" rIns="0" bIns="0" rtlCol="0" anchor="ctr"/>
          <a:lstStyle/>
          <a:p>
            <a:pPr indent="0" marL="0">
              <a:lnSpc>
                <a:spcPct val="128000"/>
              </a:lnSpc>
              <a:buNone/>
            </a:pPr>
            <a:r>
              <a:rPr lang="en-US" sz="1300" dirty="0">
                <a:solidFill>
                  <a:srgbClr val="A8A49C"/>
                </a:solidFill>
                <a:latin typeface="Calibri" pitchFamily="34" charset="0"/>
                <a:ea typeface="Calibri" pitchFamily="34" charset="-122"/>
                <a:cs typeface="Calibri" pitchFamily="34" charset="-120"/>
              </a:rPr>
              <a:t>Locus runs the other nine steps around you — the context, the scan, the review chasing, the QA loop, the board, the record.</a:t>
            </a:r>
            <a:endParaRPr lang="en-US" sz="1300" dirty="0"/>
          </a:p>
        </p:txBody>
      </p:sp>
      <p:sp>
        <p:nvSpPr>
          <p:cNvPr id="8" name="Text 6"/>
          <p:cNvSpPr/>
          <p:nvPr/>
        </p:nvSpPr>
        <p:spPr>
          <a:xfrm>
            <a:off x="1051560" y="4617720"/>
            <a:ext cx="4663440" cy="292608"/>
          </a:xfrm>
          <a:prstGeom prst="rect">
            <a:avLst/>
          </a:prstGeom>
          <a:noFill/>
          <a:ln/>
        </p:spPr>
        <p:txBody>
          <a:bodyPr wrap="square" lIns="0" tIns="0" rIns="0" bIns="0" rtlCol="0" anchor="ctr"/>
          <a:lstStyle/>
          <a:p>
            <a:pPr indent="0" marL="0">
              <a:buNone/>
            </a:pPr>
            <a:r>
              <a:rPr lang="en-US" sz="1200" b="1" dirty="0">
                <a:solidFill>
                  <a:srgbClr val="D4A27F"/>
                </a:solidFill>
                <a:latin typeface="Calibri" pitchFamily="34" charset="0"/>
                <a:ea typeface="Calibri" pitchFamily="34" charset="-122"/>
                <a:cs typeface="Calibri" pitchFamily="34" charset="-120"/>
              </a:rPr>
              <a:t>9 of 12 steps automated</a:t>
            </a:r>
            <a:endParaRPr lang="en-US" sz="1200" dirty="0"/>
          </a:p>
        </p:txBody>
      </p:sp>
      <p:sp>
        <p:nvSpPr>
          <p:cNvPr id="9" name="Shape 7"/>
          <p:cNvSpPr/>
          <p:nvPr/>
        </p:nvSpPr>
        <p:spPr>
          <a:xfrm>
            <a:off x="6309360" y="2121408"/>
            <a:ext cx="5193792" cy="3063240"/>
          </a:xfrm>
          <a:prstGeom prst="roundRect">
            <a:avLst>
              <a:gd name="adj" fmla="val 2687"/>
            </a:avLst>
          </a:prstGeom>
          <a:solidFill>
            <a:srgbClr val="2A2826"/>
          </a:solidFill>
          <a:ln w="12700">
            <a:solidFill>
              <a:srgbClr val="D97757"/>
            </a:solidFill>
            <a:prstDash val="solid"/>
          </a:ln>
        </p:spPr>
      </p:sp>
      <p:sp>
        <p:nvSpPr>
          <p:cNvPr id="10" name="Text 8"/>
          <p:cNvSpPr/>
          <p:nvPr/>
        </p:nvSpPr>
        <p:spPr>
          <a:xfrm>
            <a:off x="6675120" y="2432304"/>
            <a:ext cx="4114800" cy="237744"/>
          </a:xfrm>
          <a:prstGeom prst="rect">
            <a:avLst/>
          </a:prstGeom>
          <a:noFill/>
          <a:ln/>
        </p:spPr>
        <p:txBody>
          <a:bodyPr wrap="square" lIns="0" tIns="0" rIns="0" bIns="0" rtlCol="0" anchor="ctr"/>
          <a:lstStyle/>
          <a:p>
            <a:pPr indent="0" marL="0">
              <a:buNone/>
            </a:pPr>
            <a:r>
              <a:rPr lang="en-US" sz="1050" b="1" spc="240" kern="0" dirty="0">
                <a:solidFill>
                  <a:srgbClr val="D97757"/>
                </a:solidFill>
                <a:latin typeface="Calibri" pitchFamily="34" charset="0"/>
                <a:ea typeface="Calibri" pitchFamily="34" charset="-122"/>
                <a:cs typeface="Calibri" pitchFamily="34" charset="-120"/>
              </a:rPr>
              <a:t>AUTONOMOUS</a:t>
            </a:r>
            <a:endParaRPr lang="en-US" sz="1050" dirty="0"/>
          </a:p>
        </p:txBody>
      </p:sp>
      <p:sp>
        <p:nvSpPr>
          <p:cNvPr id="11" name="Text 9"/>
          <p:cNvSpPr/>
          <p:nvPr/>
        </p:nvSpPr>
        <p:spPr>
          <a:xfrm>
            <a:off x="6647688" y="2779776"/>
            <a:ext cx="4572000" cy="457200"/>
          </a:xfrm>
          <a:prstGeom prst="rect">
            <a:avLst/>
          </a:prstGeom>
          <a:noFill/>
          <a:ln/>
        </p:spPr>
        <p:txBody>
          <a:bodyPr wrap="square" lIns="0" tIns="0" rIns="0" bIns="0" rtlCol="0" anchor="ctr"/>
          <a:lstStyle/>
          <a:p>
            <a:pPr indent="0" marL="0">
              <a:buNone/>
            </a:pPr>
            <a:r>
              <a:rPr lang="en-US" sz="2700" b="1" dirty="0">
                <a:solidFill>
                  <a:srgbClr val="F5F3EE"/>
                </a:solidFill>
                <a:latin typeface="Cambria" pitchFamily="34" charset="0"/>
                <a:ea typeface="Cambria" pitchFamily="34" charset="-122"/>
                <a:cs typeface="Cambria" pitchFamily="34" charset="-120"/>
              </a:rPr>
              <a:t>Locus writes the code.</a:t>
            </a:r>
            <a:endParaRPr lang="en-US" sz="2700" dirty="0"/>
          </a:p>
        </p:txBody>
      </p:sp>
      <p:sp>
        <p:nvSpPr>
          <p:cNvPr id="12" name="Text 10"/>
          <p:cNvSpPr/>
          <p:nvPr/>
        </p:nvSpPr>
        <p:spPr>
          <a:xfrm>
            <a:off x="6675120" y="3364992"/>
            <a:ext cx="4572000" cy="1097280"/>
          </a:xfrm>
          <a:prstGeom prst="rect">
            <a:avLst/>
          </a:prstGeom>
          <a:noFill/>
          <a:ln/>
        </p:spPr>
        <p:txBody>
          <a:bodyPr wrap="square" lIns="0" tIns="0" rIns="0" bIns="0" rtlCol="0" anchor="ctr"/>
          <a:lstStyle/>
          <a:p>
            <a:pPr indent="0" marL="0">
              <a:lnSpc>
                <a:spcPct val="128000"/>
              </a:lnSpc>
              <a:buNone/>
            </a:pPr>
            <a:r>
              <a:rPr lang="en-US" sz="1300" dirty="0">
                <a:solidFill>
                  <a:srgbClr val="A8A49C"/>
                </a:solidFill>
                <a:latin typeface="Calibri" pitchFamily="34" charset="0"/>
                <a:ea typeface="Calibri" pitchFamily="34" charset="-122"/>
                <a:cs typeface="Calibri" pitchFamily="34" charset="-120"/>
              </a:rPr>
              <a:t>You assign it the ticket. It reads the requirement, makes the change, opens the pull request — and the same nine steps run behind it.</a:t>
            </a:r>
            <a:endParaRPr lang="en-US" sz="1300" dirty="0"/>
          </a:p>
        </p:txBody>
      </p:sp>
      <p:sp>
        <p:nvSpPr>
          <p:cNvPr id="13" name="Text 11"/>
          <p:cNvSpPr/>
          <p:nvPr/>
        </p:nvSpPr>
        <p:spPr>
          <a:xfrm>
            <a:off x="6675120" y="4617720"/>
            <a:ext cx="4572000" cy="292608"/>
          </a:xfrm>
          <a:prstGeom prst="rect">
            <a:avLst/>
          </a:prstGeom>
          <a:noFill/>
          <a:ln/>
        </p:spPr>
        <p:txBody>
          <a:bodyPr wrap="square" lIns="0" tIns="0" rIns="0" bIns="0" rtlCol="0" anchor="ctr"/>
          <a:lstStyle/>
          <a:p>
            <a:pPr indent="0" marL="0">
              <a:buNone/>
            </a:pPr>
            <a:r>
              <a:rPr lang="en-US" sz="1200" b="1" dirty="0">
                <a:solidFill>
                  <a:srgbClr val="D97757"/>
                </a:solidFill>
                <a:latin typeface="Calibri" pitchFamily="34" charset="0"/>
                <a:ea typeface="Calibri" pitchFamily="34" charset="-122"/>
                <a:cs typeface="Calibri" pitchFamily="34" charset="-120"/>
              </a:rPr>
              <a:t>10 of 12 steps automated</a:t>
            </a:r>
            <a:endParaRPr lang="en-US" sz="1200" dirty="0"/>
          </a:p>
        </p:txBody>
      </p:sp>
      <p:sp>
        <p:nvSpPr>
          <p:cNvPr id="14" name="Text 12"/>
          <p:cNvSpPr/>
          <p:nvPr/>
        </p:nvSpPr>
        <p:spPr>
          <a:xfrm>
            <a:off x="713232" y="5468112"/>
            <a:ext cx="10881360" cy="411480"/>
          </a:xfrm>
          <a:prstGeom prst="rect">
            <a:avLst/>
          </a:prstGeom>
          <a:noFill/>
          <a:ln/>
        </p:spPr>
        <p:txBody>
          <a:bodyPr wrap="square" lIns="0" tIns="0" rIns="0" bIns="0" rtlCol="0" anchor="ctr"/>
          <a:lstStyle/>
          <a:p>
            <a:pPr indent="0" marL="0">
              <a:buNone/>
            </a:pPr>
            <a:r>
              <a:rPr lang="en-US" sz="1800" b="1" dirty="0">
                <a:solidFill>
                  <a:srgbClr val="D4A27F"/>
                </a:solidFill>
                <a:latin typeface="Cambria" pitchFamily="34" charset="0"/>
                <a:ea typeface="Cambria" pitchFamily="34" charset="-122"/>
                <a:cs typeface="Cambria" pitchFamily="34" charset="-120"/>
              </a:rPr>
              <a:t>Your senior dev still reviews it. Your tester still signs it off. The author is the only thing that changes.</a:t>
            </a:r>
            <a:endParaRPr lang="en-US" sz="18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0EEE6"/>
        </a:solidFill>
      </p:bgPr>
    </p:bg>
    <p:spTree>
      <p:nvGrpSpPr>
        <p:cNvPr id="1" name=""/>
        <p:cNvGrpSpPr/>
        <p:nvPr/>
      </p:nvGrpSpPr>
      <p:grpSpPr>
        <a:xfrm>
          <a:off x="0" y="0"/>
          <a:ext cx="0" cy="0"/>
          <a:chOff x="0" y="0"/>
          <a:chExt cx="0" cy="0"/>
        </a:xfrm>
      </p:grpSpPr>
      <p:sp>
        <p:nvSpPr>
          <p:cNvPr id="2" name="Text 0"/>
          <p:cNvSpPr/>
          <p:nvPr/>
        </p:nvSpPr>
        <p:spPr>
          <a:xfrm>
            <a:off x="685800" y="457200"/>
            <a:ext cx="10881360" cy="1170432"/>
          </a:xfrm>
          <a:prstGeom prst="rect">
            <a:avLst/>
          </a:prstGeom>
          <a:noFill/>
          <a:ln/>
        </p:spPr>
        <p:txBody>
          <a:bodyPr wrap="square" lIns="0" tIns="0" rIns="0" bIns="0" rtlCol="0" anchor="ctr"/>
          <a:lstStyle/>
          <a:p>
            <a:pPr indent="0" marL="0">
              <a:buNone/>
            </a:pPr>
            <a:r>
              <a:rPr lang="en-US" sz="3100" b="1" dirty="0">
                <a:solidFill>
                  <a:srgbClr val="191919"/>
                </a:solidFill>
                <a:latin typeface="Cambria" pitchFamily="34" charset="0"/>
                <a:ea typeface="Cambria" pitchFamily="34" charset="-122"/>
                <a:cs typeface="Cambria" pitchFamily="34" charset="-120"/>
              </a:rPr>
              <a:t>The mode is chosen per ticket, not per account.</a:t>
            </a:r>
            <a:endParaRPr lang="en-US" sz="3100" dirty="0"/>
          </a:p>
        </p:txBody>
      </p:sp>
      <p:sp>
        <p:nvSpPr>
          <p:cNvPr id="3" name="Text 1"/>
          <p:cNvSpPr/>
          <p:nvPr/>
        </p:nvSpPr>
        <p:spPr>
          <a:xfrm>
            <a:off x="685800" y="1682496"/>
            <a:ext cx="10881360" cy="292608"/>
          </a:xfrm>
          <a:prstGeom prst="rect">
            <a:avLst/>
          </a:prstGeom>
          <a:noFill/>
          <a:ln/>
        </p:spPr>
        <p:txBody>
          <a:bodyPr wrap="square" lIns="0" tIns="0" rIns="0" bIns="0" rtlCol="0" anchor="ctr"/>
          <a:lstStyle/>
          <a:p>
            <a:pPr indent="0" marL="0">
              <a:buNone/>
            </a:pPr>
            <a:r>
              <a:rPr lang="en-US" sz="1450" dirty="0">
                <a:solidFill>
                  <a:srgbClr val="73716C"/>
                </a:solidFill>
                <a:latin typeface="Calibri" pitchFamily="34" charset="0"/>
                <a:ea typeface="Calibri" pitchFamily="34" charset="-122"/>
                <a:cs typeface="Calibri" pitchFamily="34" charset="-120"/>
              </a:rPr>
              <a:t>One global switch means the riskiest ticket in the backlog sets policy for every ticket.</a:t>
            </a:r>
            <a:endParaRPr lang="en-US" sz="1450" dirty="0"/>
          </a:p>
        </p:txBody>
      </p:sp>
      <p:sp>
        <p:nvSpPr>
          <p:cNvPr id="4" name="Shape 2"/>
          <p:cNvSpPr/>
          <p:nvPr/>
        </p:nvSpPr>
        <p:spPr>
          <a:xfrm>
            <a:off x="685800" y="2121408"/>
            <a:ext cx="5029200" cy="2148840"/>
          </a:xfrm>
          <a:prstGeom prst="roundRect">
            <a:avLst>
              <a:gd name="adj" fmla="val 3830"/>
            </a:avLst>
          </a:prstGeom>
          <a:solidFill>
            <a:srgbClr val="FAF9F5"/>
          </a:solidFill>
          <a:ln w="9525">
            <a:solidFill>
              <a:srgbClr val="DFDBD1"/>
            </a:solidFill>
            <a:prstDash val="solid"/>
          </a:ln>
          <a:effectLst>
            <a:outerShdw sx="100000" sy="100000" kx="0" ky="0" algn="bl" rotWithShape="0" blurRad="152400" dist="25400" dir="5400000">
              <a:srgbClr val="8C857A">
                <a:alpha val="16000"/>
              </a:srgbClr>
            </a:outerShdw>
          </a:effectLst>
        </p:spPr>
      </p:sp>
      <p:sp>
        <p:nvSpPr>
          <p:cNvPr id="5" name="Text 3"/>
          <p:cNvSpPr/>
          <p:nvPr/>
        </p:nvSpPr>
        <p:spPr>
          <a:xfrm>
            <a:off x="987552" y="2377440"/>
            <a:ext cx="4480560" cy="237744"/>
          </a:xfrm>
          <a:prstGeom prst="rect">
            <a:avLst/>
          </a:prstGeom>
          <a:noFill/>
          <a:ln/>
        </p:spPr>
        <p:txBody>
          <a:bodyPr wrap="square" lIns="0" tIns="0" rIns="0" bIns="0" rtlCol="0" anchor="ctr"/>
          <a:lstStyle/>
          <a:p>
            <a:pPr indent="0" marL="0">
              <a:buNone/>
            </a:pPr>
            <a:r>
              <a:rPr lang="en-US" sz="1050" b="1" spc="240" kern="0" dirty="0">
                <a:solidFill>
                  <a:srgbClr val="CC785C"/>
                </a:solidFill>
                <a:latin typeface="Calibri" pitchFamily="34" charset="0"/>
                <a:ea typeface="Calibri" pitchFamily="34" charset="-122"/>
                <a:cs typeface="Calibri" pitchFamily="34" charset="-120"/>
              </a:rPr>
              <a:t>WHAT GOES WRONG WITHOUT IT</a:t>
            </a:r>
            <a:endParaRPr lang="en-US" sz="1050" dirty="0"/>
          </a:p>
        </p:txBody>
      </p:sp>
      <p:sp>
        <p:nvSpPr>
          <p:cNvPr id="6" name="Text 4"/>
          <p:cNvSpPr/>
          <p:nvPr/>
        </p:nvSpPr>
        <p:spPr>
          <a:xfrm>
            <a:off x="987552" y="2743200"/>
            <a:ext cx="4434840" cy="1280160"/>
          </a:xfrm>
          <a:prstGeom prst="rect">
            <a:avLst/>
          </a:prstGeom>
          <a:noFill/>
          <a:ln/>
        </p:spPr>
        <p:txBody>
          <a:bodyPr wrap="square" lIns="0" tIns="0" rIns="0" bIns="0" rtlCol="0" anchor="ctr"/>
          <a:lstStyle/>
          <a:p>
            <a:pPr indent="0" marL="0">
              <a:lnSpc>
                <a:spcPct val="130000"/>
              </a:lnSpc>
              <a:buNone/>
            </a:pPr>
            <a:r>
              <a:rPr lang="en-US" sz="1350" dirty="0">
                <a:solidFill>
                  <a:srgbClr val="191919"/>
                </a:solidFill>
                <a:latin typeface="Calibri" pitchFamily="34" charset="0"/>
                <a:ea typeface="Calibri" pitchFamily="34" charset="-122"/>
                <a:cs typeface="Calibri" pitchFamily="34" charset="-120"/>
              </a:rPr>
              <a:t>Teams pick manual, leave it there, and the autonomous path is never exercised at all. The feature ships and nobody turns it on.</a:t>
            </a:r>
            <a:endParaRPr lang="en-US" sz="1350" dirty="0"/>
          </a:p>
        </p:txBody>
      </p:sp>
      <p:sp>
        <p:nvSpPr>
          <p:cNvPr id="7" name="Text 5"/>
          <p:cNvSpPr/>
          <p:nvPr/>
        </p:nvSpPr>
        <p:spPr>
          <a:xfrm>
            <a:off x="6263640" y="2121408"/>
            <a:ext cx="5212080" cy="237744"/>
          </a:xfrm>
          <a:prstGeom prst="rect">
            <a:avLst/>
          </a:prstGeom>
          <a:noFill/>
          <a:ln/>
        </p:spPr>
        <p:txBody>
          <a:bodyPr wrap="square" lIns="0" tIns="0" rIns="0" bIns="0" rtlCol="0" anchor="ctr"/>
          <a:lstStyle/>
          <a:p>
            <a:pPr indent="0" marL="0">
              <a:buNone/>
            </a:pPr>
            <a:r>
              <a:rPr lang="en-US" sz="1050" b="1" spc="240" kern="0" dirty="0">
                <a:solidFill>
                  <a:srgbClr val="D97757"/>
                </a:solidFill>
                <a:latin typeface="Calibri" pitchFamily="34" charset="0"/>
                <a:ea typeface="Calibri" pitchFamily="34" charset="-122"/>
                <a:cs typeface="Calibri" pitchFamily="34" charset="-120"/>
              </a:rPr>
              <a:t>RESOLUTION ORDER — MOST SPECIFIC WINS</a:t>
            </a:r>
            <a:endParaRPr lang="en-US" sz="1050" dirty="0"/>
          </a:p>
        </p:txBody>
      </p:sp>
      <p:sp>
        <p:nvSpPr>
          <p:cNvPr id="8" name="Shape 6"/>
          <p:cNvSpPr/>
          <p:nvPr/>
        </p:nvSpPr>
        <p:spPr>
          <a:xfrm>
            <a:off x="6263640" y="2523744"/>
            <a:ext cx="5212080" cy="585216"/>
          </a:xfrm>
          <a:prstGeom prst="roundRect">
            <a:avLst>
              <a:gd name="adj" fmla="val 12500"/>
            </a:avLst>
          </a:prstGeom>
          <a:solidFill>
            <a:srgbClr val="D97757"/>
          </a:solidFill>
          <a:ln/>
        </p:spPr>
      </p:sp>
      <p:sp>
        <p:nvSpPr>
          <p:cNvPr id="9" name="Text 7"/>
          <p:cNvSpPr/>
          <p:nvPr/>
        </p:nvSpPr>
        <p:spPr>
          <a:xfrm>
            <a:off x="6510528" y="2523744"/>
            <a:ext cx="2194560" cy="585216"/>
          </a:xfrm>
          <a:prstGeom prst="rect">
            <a:avLst/>
          </a:prstGeom>
          <a:noFill/>
          <a:ln/>
        </p:spPr>
        <p:txBody>
          <a:bodyPr wrap="square" lIns="0" tIns="0" rIns="0" bIns="0" rtlCol="0" anchor="ctr"/>
          <a:lstStyle/>
          <a:p>
            <a:pPr indent="0" marL="0">
              <a:buNone/>
            </a:pPr>
            <a:r>
              <a:rPr lang="en-US" sz="1250" b="1" spc="140" kern="0" dirty="0">
                <a:solidFill>
                  <a:srgbClr val="FAF9F5"/>
                </a:solidFill>
                <a:latin typeface="Calibri" pitchFamily="34" charset="0"/>
                <a:ea typeface="Calibri" pitchFamily="34" charset="-122"/>
                <a:cs typeface="Calibri" pitchFamily="34" charset="-120"/>
              </a:rPr>
              <a:t>WORK ITEM</a:t>
            </a:r>
            <a:endParaRPr lang="en-US" sz="1250" dirty="0"/>
          </a:p>
        </p:txBody>
      </p:sp>
      <p:sp>
        <p:nvSpPr>
          <p:cNvPr id="10" name="Text 8"/>
          <p:cNvSpPr/>
          <p:nvPr/>
        </p:nvSpPr>
        <p:spPr>
          <a:xfrm>
            <a:off x="8595360" y="2523744"/>
            <a:ext cx="2651760" cy="585216"/>
          </a:xfrm>
          <a:prstGeom prst="rect">
            <a:avLst/>
          </a:prstGeom>
          <a:noFill/>
          <a:ln/>
        </p:spPr>
        <p:txBody>
          <a:bodyPr wrap="square" lIns="0" tIns="0" rIns="0" bIns="0" rtlCol="0" anchor="ctr"/>
          <a:lstStyle/>
          <a:p>
            <a:pPr algn="r" indent="0" marL="0">
              <a:buNone/>
            </a:pPr>
            <a:r>
              <a:rPr lang="en-US" sz="1150" dirty="0">
                <a:solidFill>
                  <a:srgbClr val="FAF9F5"/>
                </a:solidFill>
                <a:latin typeface="Calibri" pitchFamily="34" charset="0"/>
                <a:ea typeface="Calibri" pitchFamily="34" charset="-122"/>
                <a:cs typeface="Calibri" pitchFamily="34" charset="-120"/>
              </a:rPr>
              <a:t>this one ticket</a:t>
            </a:r>
            <a:endParaRPr lang="en-US" sz="1150" dirty="0"/>
          </a:p>
        </p:txBody>
      </p:sp>
      <p:sp>
        <p:nvSpPr>
          <p:cNvPr id="11" name="Shape 9"/>
          <p:cNvSpPr/>
          <p:nvPr/>
        </p:nvSpPr>
        <p:spPr>
          <a:xfrm>
            <a:off x="6263640" y="3255264"/>
            <a:ext cx="4663440" cy="585216"/>
          </a:xfrm>
          <a:prstGeom prst="roundRect">
            <a:avLst>
              <a:gd name="adj" fmla="val 12500"/>
            </a:avLst>
          </a:prstGeom>
          <a:solidFill>
            <a:srgbClr val="CC785C"/>
          </a:solidFill>
          <a:ln/>
        </p:spPr>
      </p:sp>
      <p:sp>
        <p:nvSpPr>
          <p:cNvPr id="12" name="Text 10"/>
          <p:cNvSpPr/>
          <p:nvPr/>
        </p:nvSpPr>
        <p:spPr>
          <a:xfrm>
            <a:off x="6510528" y="3255264"/>
            <a:ext cx="2194560" cy="585216"/>
          </a:xfrm>
          <a:prstGeom prst="rect">
            <a:avLst/>
          </a:prstGeom>
          <a:noFill/>
          <a:ln/>
        </p:spPr>
        <p:txBody>
          <a:bodyPr wrap="square" lIns="0" tIns="0" rIns="0" bIns="0" rtlCol="0" anchor="ctr"/>
          <a:lstStyle/>
          <a:p>
            <a:pPr indent="0" marL="0">
              <a:buNone/>
            </a:pPr>
            <a:r>
              <a:rPr lang="en-US" sz="1250" b="1" spc="140" kern="0" dirty="0">
                <a:solidFill>
                  <a:srgbClr val="FAF9F5"/>
                </a:solidFill>
                <a:latin typeface="Calibri" pitchFamily="34" charset="0"/>
                <a:ea typeface="Calibri" pitchFamily="34" charset="-122"/>
                <a:cs typeface="Calibri" pitchFamily="34" charset="-120"/>
              </a:rPr>
              <a:t>REPOSITORY</a:t>
            </a:r>
            <a:endParaRPr lang="en-US" sz="1250" dirty="0"/>
          </a:p>
        </p:txBody>
      </p:sp>
      <p:sp>
        <p:nvSpPr>
          <p:cNvPr id="13" name="Text 11"/>
          <p:cNvSpPr/>
          <p:nvPr/>
        </p:nvSpPr>
        <p:spPr>
          <a:xfrm>
            <a:off x="8595360" y="3255264"/>
            <a:ext cx="2103120" cy="585216"/>
          </a:xfrm>
          <a:prstGeom prst="rect">
            <a:avLst/>
          </a:prstGeom>
          <a:noFill/>
          <a:ln/>
        </p:spPr>
        <p:txBody>
          <a:bodyPr wrap="square" lIns="0" tIns="0" rIns="0" bIns="0" rtlCol="0" anchor="ctr"/>
          <a:lstStyle/>
          <a:p>
            <a:pPr algn="r" indent="0" marL="0">
              <a:buNone/>
            </a:pPr>
            <a:r>
              <a:rPr lang="en-US" sz="1150" dirty="0">
                <a:solidFill>
                  <a:srgbClr val="FAF9F5"/>
                </a:solidFill>
                <a:latin typeface="Calibri" pitchFamily="34" charset="0"/>
                <a:ea typeface="Calibri" pitchFamily="34" charset="-122"/>
                <a:cs typeface="Calibri" pitchFamily="34" charset="-120"/>
              </a:rPr>
              <a:t>this codebase</a:t>
            </a:r>
            <a:endParaRPr lang="en-US" sz="1150" dirty="0"/>
          </a:p>
        </p:txBody>
      </p:sp>
      <p:sp>
        <p:nvSpPr>
          <p:cNvPr id="14" name="Shape 12"/>
          <p:cNvSpPr/>
          <p:nvPr/>
        </p:nvSpPr>
        <p:spPr>
          <a:xfrm>
            <a:off x="6263640" y="3986784"/>
            <a:ext cx="4114800" cy="585216"/>
          </a:xfrm>
          <a:prstGeom prst="roundRect">
            <a:avLst>
              <a:gd name="adj" fmla="val 12500"/>
            </a:avLst>
          </a:prstGeom>
          <a:solidFill>
            <a:srgbClr val="D4A27F"/>
          </a:solidFill>
          <a:ln/>
        </p:spPr>
      </p:sp>
      <p:sp>
        <p:nvSpPr>
          <p:cNvPr id="15" name="Text 13"/>
          <p:cNvSpPr/>
          <p:nvPr/>
        </p:nvSpPr>
        <p:spPr>
          <a:xfrm>
            <a:off x="6510528" y="3986784"/>
            <a:ext cx="2194560" cy="585216"/>
          </a:xfrm>
          <a:prstGeom prst="rect">
            <a:avLst/>
          </a:prstGeom>
          <a:noFill/>
          <a:ln/>
        </p:spPr>
        <p:txBody>
          <a:bodyPr wrap="square" lIns="0" tIns="0" rIns="0" bIns="0" rtlCol="0" anchor="ctr"/>
          <a:lstStyle/>
          <a:p>
            <a:pPr indent="0" marL="0">
              <a:buNone/>
            </a:pPr>
            <a:r>
              <a:rPr lang="en-US" sz="1250" b="1" spc="140" kern="0" dirty="0">
                <a:solidFill>
                  <a:srgbClr val="191919"/>
                </a:solidFill>
                <a:latin typeface="Calibri" pitchFamily="34" charset="0"/>
                <a:ea typeface="Calibri" pitchFamily="34" charset="-122"/>
                <a:cs typeface="Calibri" pitchFamily="34" charset="-120"/>
              </a:rPr>
              <a:t>ACCOUNT</a:t>
            </a:r>
            <a:endParaRPr lang="en-US" sz="1250" dirty="0"/>
          </a:p>
        </p:txBody>
      </p:sp>
      <p:sp>
        <p:nvSpPr>
          <p:cNvPr id="16" name="Text 14"/>
          <p:cNvSpPr/>
          <p:nvPr/>
        </p:nvSpPr>
        <p:spPr>
          <a:xfrm>
            <a:off x="8595360" y="3986784"/>
            <a:ext cx="1554480" cy="585216"/>
          </a:xfrm>
          <a:prstGeom prst="rect">
            <a:avLst/>
          </a:prstGeom>
          <a:noFill/>
          <a:ln/>
        </p:spPr>
        <p:txBody>
          <a:bodyPr wrap="square" lIns="0" tIns="0" rIns="0" bIns="0" rtlCol="0" anchor="ctr"/>
          <a:lstStyle/>
          <a:p>
            <a:pPr algn="r" indent="0" marL="0">
              <a:buNone/>
            </a:pPr>
            <a:r>
              <a:rPr lang="en-US" sz="1150" dirty="0">
                <a:solidFill>
                  <a:srgbClr val="191919"/>
                </a:solidFill>
                <a:latin typeface="Calibri" pitchFamily="34" charset="0"/>
                <a:ea typeface="Calibri" pitchFamily="34" charset="-122"/>
                <a:cs typeface="Calibri" pitchFamily="34" charset="-120"/>
              </a:rPr>
              <a:t>your default</a:t>
            </a:r>
            <a:endParaRPr lang="en-US" sz="1150" dirty="0"/>
          </a:p>
        </p:txBody>
      </p:sp>
      <p:sp>
        <p:nvSpPr>
          <p:cNvPr id="17" name="Shape 15"/>
          <p:cNvSpPr/>
          <p:nvPr/>
        </p:nvSpPr>
        <p:spPr>
          <a:xfrm>
            <a:off x="685800" y="4462272"/>
            <a:ext cx="5029200" cy="1325880"/>
          </a:xfrm>
          <a:prstGeom prst="roundRect">
            <a:avLst>
              <a:gd name="adj" fmla="val 6207"/>
            </a:avLst>
          </a:prstGeom>
          <a:solidFill>
            <a:srgbClr val="FAF9F5"/>
          </a:solidFill>
          <a:ln w="9525">
            <a:solidFill>
              <a:srgbClr val="DFDBD1"/>
            </a:solidFill>
            <a:prstDash val="solid"/>
          </a:ln>
          <a:effectLst>
            <a:outerShdw sx="100000" sy="100000" kx="0" ky="0" algn="bl" rotWithShape="0" blurRad="152400" dist="25400" dir="5400000">
              <a:srgbClr val="8C857A">
                <a:alpha val="16000"/>
              </a:srgbClr>
            </a:outerShdw>
          </a:effectLst>
        </p:spPr>
      </p:sp>
      <p:sp>
        <p:nvSpPr>
          <p:cNvPr id="18" name="Text 16"/>
          <p:cNvSpPr/>
          <p:nvPr/>
        </p:nvSpPr>
        <p:spPr>
          <a:xfrm>
            <a:off x="987552" y="4626864"/>
            <a:ext cx="1481328" cy="256032"/>
          </a:xfrm>
          <a:prstGeom prst="rect">
            <a:avLst/>
          </a:prstGeom>
          <a:noFill/>
          <a:ln/>
        </p:spPr>
        <p:txBody>
          <a:bodyPr wrap="square" lIns="0" tIns="0" rIns="0" bIns="0" rtlCol="0" anchor="ctr"/>
          <a:lstStyle/>
          <a:p>
            <a:pPr indent="0" marL="0">
              <a:buNone/>
            </a:pPr>
            <a:r>
              <a:rPr lang="en-US" sz="1050" dirty="0">
                <a:solidFill>
                  <a:srgbClr val="73716C"/>
                </a:solidFill>
                <a:latin typeface="Calibri" pitchFamily="34" charset="0"/>
                <a:ea typeface="Calibri" pitchFamily="34" charset="-122"/>
                <a:cs typeface="Calibri" pitchFamily="34" charset="-120"/>
              </a:rPr>
              <a:t>Bump a dependency</a:t>
            </a:r>
            <a:endParaRPr lang="en-US" sz="1050" dirty="0"/>
          </a:p>
        </p:txBody>
      </p:sp>
      <p:sp>
        <p:nvSpPr>
          <p:cNvPr id="19" name="Text 17"/>
          <p:cNvSpPr/>
          <p:nvPr/>
        </p:nvSpPr>
        <p:spPr>
          <a:xfrm>
            <a:off x="2450592" y="4626864"/>
            <a:ext cx="822960" cy="256032"/>
          </a:xfrm>
          <a:prstGeom prst="rect">
            <a:avLst/>
          </a:prstGeom>
          <a:noFill/>
          <a:ln/>
        </p:spPr>
        <p:txBody>
          <a:bodyPr wrap="square" lIns="0" tIns="0" rIns="0" bIns="0" rtlCol="0" anchor="ctr"/>
          <a:lstStyle/>
          <a:p>
            <a:pPr indent="0" marL="0">
              <a:buNone/>
            </a:pPr>
            <a:r>
              <a:rPr lang="en-US" sz="1050" b="1" dirty="0">
                <a:solidFill>
                  <a:srgbClr val="D97757"/>
                </a:solidFill>
                <a:latin typeface="Calibri" pitchFamily="34" charset="0"/>
                <a:ea typeface="Calibri" pitchFamily="34" charset="-122"/>
                <a:cs typeface="Calibri" pitchFamily="34" charset="-120"/>
              </a:rPr>
              <a:t>Autonomous</a:t>
            </a:r>
            <a:endParaRPr lang="en-US" sz="1050" dirty="0"/>
          </a:p>
        </p:txBody>
      </p:sp>
      <p:sp>
        <p:nvSpPr>
          <p:cNvPr id="20" name="Text 18"/>
          <p:cNvSpPr/>
          <p:nvPr/>
        </p:nvSpPr>
        <p:spPr>
          <a:xfrm>
            <a:off x="987552" y="5157216"/>
            <a:ext cx="1481328" cy="256032"/>
          </a:xfrm>
          <a:prstGeom prst="rect">
            <a:avLst/>
          </a:prstGeom>
          <a:noFill/>
          <a:ln/>
        </p:spPr>
        <p:txBody>
          <a:bodyPr wrap="square" lIns="0" tIns="0" rIns="0" bIns="0" rtlCol="0" anchor="ctr"/>
          <a:lstStyle/>
          <a:p>
            <a:pPr indent="0" marL="0">
              <a:buNone/>
            </a:pPr>
            <a:r>
              <a:rPr lang="en-US" sz="1050" dirty="0">
                <a:solidFill>
                  <a:srgbClr val="73716C"/>
                </a:solidFill>
                <a:latin typeface="Calibri" pitchFamily="34" charset="0"/>
                <a:ea typeface="Calibri" pitchFamily="34" charset="-122"/>
                <a:cs typeface="Calibri" pitchFamily="34" charset="-120"/>
              </a:rPr>
              <a:t>Rename a config key</a:t>
            </a:r>
            <a:endParaRPr lang="en-US" sz="1050" dirty="0"/>
          </a:p>
        </p:txBody>
      </p:sp>
      <p:sp>
        <p:nvSpPr>
          <p:cNvPr id="21" name="Text 19"/>
          <p:cNvSpPr/>
          <p:nvPr/>
        </p:nvSpPr>
        <p:spPr>
          <a:xfrm>
            <a:off x="2450592" y="5157216"/>
            <a:ext cx="822960" cy="256032"/>
          </a:xfrm>
          <a:prstGeom prst="rect">
            <a:avLst/>
          </a:prstGeom>
          <a:noFill/>
          <a:ln/>
        </p:spPr>
        <p:txBody>
          <a:bodyPr wrap="square" lIns="0" tIns="0" rIns="0" bIns="0" rtlCol="0" anchor="ctr"/>
          <a:lstStyle/>
          <a:p>
            <a:pPr indent="0" marL="0">
              <a:buNone/>
            </a:pPr>
            <a:r>
              <a:rPr lang="en-US" sz="1050" b="1" dirty="0">
                <a:solidFill>
                  <a:srgbClr val="D97757"/>
                </a:solidFill>
                <a:latin typeface="Calibri" pitchFamily="34" charset="0"/>
                <a:ea typeface="Calibri" pitchFamily="34" charset="-122"/>
                <a:cs typeface="Calibri" pitchFamily="34" charset="-120"/>
              </a:rPr>
              <a:t>Autonomous</a:t>
            </a:r>
            <a:endParaRPr lang="en-US" sz="1050" dirty="0"/>
          </a:p>
        </p:txBody>
      </p:sp>
      <p:sp>
        <p:nvSpPr>
          <p:cNvPr id="22" name="Text 20"/>
          <p:cNvSpPr/>
          <p:nvPr/>
        </p:nvSpPr>
        <p:spPr>
          <a:xfrm>
            <a:off x="3319272" y="4626864"/>
            <a:ext cx="1481328" cy="256032"/>
          </a:xfrm>
          <a:prstGeom prst="rect">
            <a:avLst/>
          </a:prstGeom>
          <a:noFill/>
          <a:ln/>
        </p:spPr>
        <p:txBody>
          <a:bodyPr wrap="square" lIns="0" tIns="0" rIns="0" bIns="0" rtlCol="0" anchor="ctr"/>
          <a:lstStyle/>
          <a:p>
            <a:pPr indent="0" marL="0">
              <a:buNone/>
            </a:pPr>
            <a:r>
              <a:rPr lang="en-US" sz="1050" dirty="0">
                <a:solidFill>
                  <a:srgbClr val="73716C"/>
                </a:solidFill>
                <a:latin typeface="Calibri" pitchFamily="34" charset="0"/>
                <a:ea typeface="Calibri" pitchFamily="34" charset="-122"/>
                <a:cs typeface="Calibri" pitchFamily="34" charset="-120"/>
              </a:rPr>
              <a:t>Touch the auth path</a:t>
            </a:r>
            <a:endParaRPr lang="en-US" sz="1050" dirty="0"/>
          </a:p>
        </p:txBody>
      </p:sp>
      <p:sp>
        <p:nvSpPr>
          <p:cNvPr id="23" name="Text 21"/>
          <p:cNvSpPr/>
          <p:nvPr/>
        </p:nvSpPr>
        <p:spPr>
          <a:xfrm>
            <a:off x="4782312" y="4626864"/>
            <a:ext cx="822960" cy="256032"/>
          </a:xfrm>
          <a:prstGeom prst="rect">
            <a:avLst/>
          </a:prstGeom>
          <a:noFill/>
          <a:ln/>
        </p:spPr>
        <p:txBody>
          <a:bodyPr wrap="square" lIns="0" tIns="0" rIns="0" bIns="0" rtlCol="0" anchor="ctr"/>
          <a:lstStyle/>
          <a:p>
            <a:pPr indent="0" marL="0">
              <a:buNone/>
            </a:pPr>
            <a:r>
              <a:rPr lang="en-US" sz="1050" b="1" dirty="0">
                <a:solidFill>
                  <a:srgbClr val="191919"/>
                </a:solidFill>
                <a:latin typeface="Calibri" pitchFamily="34" charset="0"/>
                <a:ea typeface="Calibri" pitchFamily="34" charset="-122"/>
                <a:cs typeface="Calibri" pitchFamily="34" charset="-120"/>
              </a:rPr>
              <a:t>You</a:t>
            </a:r>
            <a:endParaRPr lang="en-US" sz="1050" dirty="0"/>
          </a:p>
        </p:txBody>
      </p:sp>
      <p:sp>
        <p:nvSpPr>
          <p:cNvPr id="24" name="Text 22"/>
          <p:cNvSpPr/>
          <p:nvPr/>
        </p:nvSpPr>
        <p:spPr>
          <a:xfrm>
            <a:off x="3319272" y="5157216"/>
            <a:ext cx="1481328" cy="256032"/>
          </a:xfrm>
          <a:prstGeom prst="rect">
            <a:avLst/>
          </a:prstGeom>
          <a:noFill/>
          <a:ln/>
        </p:spPr>
        <p:txBody>
          <a:bodyPr wrap="square" lIns="0" tIns="0" rIns="0" bIns="0" rtlCol="0" anchor="ctr"/>
          <a:lstStyle/>
          <a:p>
            <a:pPr indent="0" marL="0">
              <a:buNone/>
            </a:pPr>
            <a:r>
              <a:rPr lang="en-US" sz="1050" dirty="0">
                <a:solidFill>
                  <a:srgbClr val="73716C"/>
                </a:solidFill>
                <a:latin typeface="Calibri" pitchFamily="34" charset="0"/>
                <a:ea typeface="Calibri" pitchFamily="34" charset="-122"/>
                <a:cs typeface="Calibri" pitchFamily="34" charset="-120"/>
              </a:rPr>
              <a:t>Rotate encryption keys</a:t>
            </a:r>
            <a:endParaRPr lang="en-US" sz="1050" dirty="0"/>
          </a:p>
        </p:txBody>
      </p:sp>
      <p:sp>
        <p:nvSpPr>
          <p:cNvPr id="25" name="Text 23"/>
          <p:cNvSpPr/>
          <p:nvPr/>
        </p:nvSpPr>
        <p:spPr>
          <a:xfrm>
            <a:off x="4782312" y="5157216"/>
            <a:ext cx="822960" cy="256032"/>
          </a:xfrm>
          <a:prstGeom prst="rect">
            <a:avLst/>
          </a:prstGeom>
          <a:noFill/>
          <a:ln/>
        </p:spPr>
        <p:txBody>
          <a:bodyPr wrap="square" lIns="0" tIns="0" rIns="0" bIns="0" rtlCol="0" anchor="ctr"/>
          <a:lstStyle/>
          <a:p>
            <a:pPr indent="0" marL="0">
              <a:buNone/>
            </a:pPr>
            <a:r>
              <a:rPr lang="en-US" sz="1050" b="1" dirty="0">
                <a:solidFill>
                  <a:srgbClr val="191919"/>
                </a:solidFill>
                <a:latin typeface="Calibri" pitchFamily="34" charset="0"/>
                <a:ea typeface="Calibri" pitchFamily="34" charset="-122"/>
                <a:cs typeface="Calibri" pitchFamily="34" charset="-120"/>
              </a:rPr>
              <a:t>You</a:t>
            </a:r>
            <a:endParaRPr lang="en-US" sz="1050" dirty="0"/>
          </a:p>
        </p:txBody>
      </p:sp>
      <p:sp>
        <p:nvSpPr>
          <p:cNvPr id="26" name="Text 24"/>
          <p:cNvSpPr/>
          <p:nvPr/>
        </p:nvSpPr>
        <p:spPr>
          <a:xfrm>
            <a:off x="685800" y="5961888"/>
            <a:ext cx="10881360" cy="365760"/>
          </a:xfrm>
          <a:prstGeom prst="rect">
            <a:avLst/>
          </a:prstGeom>
          <a:noFill/>
          <a:ln/>
        </p:spPr>
        <p:txBody>
          <a:bodyPr wrap="square" lIns="0" tIns="0" rIns="0" bIns="0" rtlCol="0" anchor="ctr"/>
          <a:lstStyle/>
          <a:p>
            <a:pPr indent="0" marL="0">
              <a:buNone/>
            </a:pPr>
            <a:r>
              <a:rPr lang="en-US" sz="1700" b="1" dirty="0">
                <a:solidFill>
                  <a:srgbClr val="CC785C"/>
                </a:solidFill>
                <a:latin typeface="Cambria" pitchFamily="34" charset="0"/>
                <a:ea typeface="Cambria" pitchFamily="34" charset="-122"/>
                <a:cs typeface="Cambria" pitchFamily="34" charset="-120"/>
              </a:rPr>
              <a:t>Autonomy you can grant one ticket at a time is autonomy teams actually use.</a:t>
            </a:r>
            <a:endParaRPr lang="en-US" sz="17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0EEE6"/>
        </a:solidFill>
      </p:bgPr>
    </p:bg>
    <p:spTree>
      <p:nvGrpSpPr>
        <p:cNvPr id="1" name=""/>
        <p:cNvGrpSpPr/>
        <p:nvPr/>
      </p:nvGrpSpPr>
      <p:grpSpPr>
        <a:xfrm>
          <a:off x="0" y="0"/>
          <a:ext cx="0" cy="0"/>
          <a:chOff x="0" y="0"/>
          <a:chExt cx="0" cy="0"/>
        </a:xfrm>
      </p:grpSpPr>
      <p:sp>
        <p:nvSpPr>
          <p:cNvPr id="2" name="Text 0"/>
          <p:cNvSpPr/>
          <p:nvPr/>
        </p:nvSpPr>
        <p:spPr>
          <a:xfrm>
            <a:off x="685800" y="457200"/>
            <a:ext cx="10881360" cy="1170432"/>
          </a:xfrm>
          <a:prstGeom prst="rect">
            <a:avLst/>
          </a:prstGeom>
          <a:noFill/>
          <a:ln/>
        </p:spPr>
        <p:txBody>
          <a:bodyPr wrap="square" lIns="0" tIns="0" rIns="0" bIns="0" rtlCol="0" anchor="ctr"/>
          <a:lstStyle/>
          <a:p>
            <a:pPr indent="0" marL="0">
              <a:buNone/>
            </a:pPr>
            <a:r>
              <a:rPr lang="en-US" sz="3100" b="1" dirty="0">
                <a:solidFill>
                  <a:srgbClr val="191919"/>
                </a:solidFill>
                <a:latin typeface="Cambria" pitchFamily="34" charset="0"/>
                <a:ea typeface="Cambria" pitchFamily="34" charset="-122"/>
                <a:cs typeface="Cambria" pitchFamily="34" charset="-120"/>
              </a:rPr>
              <a:t>Four rails make “autonomous” a promise the system keeps.</a:t>
            </a:r>
            <a:endParaRPr lang="en-US" sz="3100" dirty="0"/>
          </a:p>
        </p:txBody>
      </p:sp>
      <p:sp>
        <p:nvSpPr>
          <p:cNvPr id="3" name="Text 1"/>
          <p:cNvSpPr/>
          <p:nvPr/>
        </p:nvSpPr>
        <p:spPr>
          <a:xfrm>
            <a:off x="685800" y="1682496"/>
            <a:ext cx="10881360" cy="292608"/>
          </a:xfrm>
          <a:prstGeom prst="rect">
            <a:avLst/>
          </a:prstGeom>
          <a:noFill/>
          <a:ln/>
        </p:spPr>
        <p:txBody>
          <a:bodyPr wrap="square" lIns="0" tIns="0" rIns="0" bIns="0" rtlCol="0" anchor="ctr"/>
          <a:lstStyle/>
          <a:p>
            <a:pPr indent="0" marL="0">
              <a:buNone/>
            </a:pPr>
            <a:r>
              <a:rPr lang="en-US" sz="1450" dirty="0">
                <a:solidFill>
                  <a:srgbClr val="73716C"/>
                </a:solidFill>
                <a:latin typeface="Calibri" pitchFamily="34" charset="0"/>
                <a:ea typeface="Calibri" pitchFamily="34" charset="-122"/>
                <a:cs typeface="Calibri" pitchFamily="34" charset="-120"/>
              </a:rPr>
              <a:t>Each one exists because of a specific way the feature could fail quietly.</a:t>
            </a:r>
            <a:endParaRPr lang="en-US" sz="1450" dirty="0"/>
          </a:p>
        </p:txBody>
      </p:sp>
      <p:sp>
        <p:nvSpPr>
          <p:cNvPr id="4" name="Shape 2"/>
          <p:cNvSpPr/>
          <p:nvPr/>
        </p:nvSpPr>
        <p:spPr>
          <a:xfrm>
            <a:off x="685800" y="2121408"/>
            <a:ext cx="5321808" cy="1691640"/>
          </a:xfrm>
          <a:prstGeom prst="roundRect">
            <a:avLst>
              <a:gd name="adj" fmla="val 4865"/>
            </a:avLst>
          </a:prstGeom>
          <a:solidFill>
            <a:srgbClr val="FAF9F5"/>
          </a:solidFill>
          <a:ln w="9525">
            <a:solidFill>
              <a:srgbClr val="DFDBD1"/>
            </a:solidFill>
            <a:prstDash val="solid"/>
          </a:ln>
          <a:effectLst>
            <a:outerShdw sx="100000" sy="100000" kx="0" ky="0" algn="bl" rotWithShape="0" blurRad="152400" dist="25400" dir="5400000">
              <a:srgbClr val="8C857A">
                <a:alpha val="16000"/>
              </a:srgbClr>
            </a:outerShdw>
          </a:effectLst>
        </p:spPr>
      </p:sp>
      <p:sp>
        <p:nvSpPr>
          <p:cNvPr id="5" name="Text 3"/>
          <p:cNvSpPr/>
          <p:nvPr/>
        </p:nvSpPr>
        <p:spPr>
          <a:xfrm>
            <a:off x="978408" y="2432304"/>
            <a:ext cx="566928" cy="566928"/>
          </a:xfrm>
          <a:prstGeom prst="ellipse">
            <a:avLst/>
          </a:prstGeom>
          <a:solidFill>
            <a:srgbClr val="D97757"/>
          </a:solidFill>
          <a:ln/>
        </p:spPr>
        <p:txBody>
          <a:bodyPr wrap="square" lIns="0" tIns="0" rIns="0" bIns="0" rtlCol="0" anchor="ctr"/>
          <a:lstStyle/>
          <a:p>
            <a:pPr algn="ctr" indent="0" marL="0">
              <a:buNone/>
            </a:pPr>
            <a:r>
              <a:rPr lang="en-US" sz="2000" b="1" dirty="0">
                <a:solidFill>
                  <a:srgbClr val="FAF9F5"/>
                </a:solidFill>
                <a:latin typeface="Calibri" pitchFamily="34" charset="0"/>
                <a:ea typeface="Calibri" pitchFamily="34" charset="-122"/>
                <a:cs typeface="Calibri" pitchFamily="34" charset="-120"/>
              </a:rPr>
              <a:t>3</a:t>
            </a:r>
            <a:endParaRPr lang="en-US" sz="2000" dirty="0"/>
          </a:p>
        </p:txBody>
      </p:sp>
      <p:sp>
        <p:nvSpPr>
          <p:cNvPr id="6" name="Text 4"/>
          <p:cNvSpPr/>
          <p:nvPr/>
        </p:nvSpPr>
        <p:spPr>
          <a:xfrm>
            <a:off x="1709928" y="2432304"/>
            <a:ext cx="4023360" cy="310896"/>
          </a:xfrm>
          <a:prstGeom prst="rect">
            <a:avLst/>
          </a:prstGeom>
          <a:noFill/>
          <a:ln/>
        </p:spPr>
        <p:txBody>
          <a:bodyPr wrap="square" lIns="0" tIns="0" rIns="0" bIns="0" rtlCol="0" anchor="ctr"/>
          <a:lstStyle/>
          <a:p>
            <a:pPr indent="0" marL="0">
              <a:buNone/>
            </a:pPr>
            <a:r>
              <a:rPr lang="en-US" sz="1450" b="1" dirty="0">
                <a:solidFill>
                  <a:srgbClr val="191919"/>
                </a:solidFill>
                <a:latin typeface="Calibri" pitchFamily="34" charset="0"/>
                <a:ea typeface="Calibri" pitchFamily="34" charset="-122"/>
                <a:cs typeface="Calibri" pitchFamily="34" charset="-120"/>
              </a:rPr>
              <a:t>Attempts, then it stops</a:t>
            </a:r>
            <a:endParaRPr lang="en-US" sz="1450" dirty="0"/>
          </a:p>
        </p:txBody>
      </p:sp>
      <p:sp>
        <p:nvSpPr>
          <p:cNvPr id="7" name="Text 5"/>
          <p:cNvSpPr/>
          <p:nvPr/>
        </p:nvSpPr>
        <p:spPr>
          <a:xfrm>
            <a:off x="1709928" y="2816352"/>
            <a:ext cx="4041648" cy="822960"/>
          </a:xfrm>
          <a:prstGeom prst="rect">
            <a:avLst/>
          </a:prstGeom>
          <a:noFill/>
          <a:ln/>
        </p:spPr>
        <p:txBody>
          <a:bodyPr wrap="square" lIns="0" tIns="0" rIns="0" bIns="0" rtlCol="0" anchor="ctr"/>
          <a:lstStyle/>
          <a:p>
            <a:pPr indent="0" marL="0">
              <a:lnSpc>
                <a:spcPct val="122000"/>
              </a:lnSpc>
              <a:buNone/>
            </a:pPr>
            <a:r>
              <a:rPr lang="en-US" sz="1150" dirty="0">
                <a:solidFill>
                  <a:srgbClr val="73716C"/>
                </a:solidFill>
                <a:latin typeface="Calibri" pitchFamily="34" charset="0"/>
                <a:ea typeface="Calibri" pitchFamily="34" charset="-122"/>
                <a:cs typeface="Calibri" pitchFamily="34" charset="-120"/>
              </a:rPr>
              <a:t>Three tries on a ticket. Then it hands the work back and announces it in Slack — a mode that degrades silently is worse than no mode.</a:t>
            </a:r>
            <a:endParaRPr lang="en-US" sz="1150" dirty="0"/>
          </a:p>
        </p:txBody>
      </p:sp>
      <p:sp>
        <p:nvSpPr>
          <p:cNvPr id="8" name="Shape 6"/>
          <p:cNvSpPr/>
          <p:nvPr/>
        </p:nvSpPr>
        <p:spPr>
          <a:xfrm>
            <a:off x="6254496" y="2121408"/>
            <a:ext cx="5321808" cy="1691640"/>
          </a:xfrm>
          <a:prstGeom prst="roundRect">
            <a:avLst>
              <a:gd name="adj" fmla="val 4865"/>
            </a:avLst>
          </a:prstGeom>
          <a:solidFill>
            <a:srgbClr val="FAF9F5"/>
          </a:solidFill>
          <a:ln w="9525">
            <a:solidFill>
              <a:srgbClr val="DFDBD1"/>
            </a:solidFill>
            <a:prstDash val="solid"/>
          </a:ln>
          <a:effectLst>
            <a:outerShdw sx="100000" sy="100000" kx="0" ky="0" algn="bl" rotWithShape="0" blurRad="152400" dist="25400" dir="5400000">
              <a:srgbClr val="8C857A">
                <a:alpha val="16000"/>
              </a:srgbClr>
            </a:outerShdw>
          </a:effectLst>
        </p:spPr>
      </p:sp>
      <p:sp>
        <p:nvSpPr>
          <p:cNvPr id="9" name="Text 7"/>
          <p:cNvSpPr/>
          <p:nvPr/>
        </p:nvSpPr>
        <p:spPr>
          <a:xfrm>
            <a:off x="6547104" y="2432304"/>
            <a:ext cx="566928" cy="566928"/>
          </a:xfrm>
          <a:prstGeom prst="ellipse">
            <a:avLst/>
          </a:prstGeom>
          <a:solidFill>
            <a:srgbClr val="D97757"/>
          </a:solidFill>
          <a:ln/>
        </p:spPr>
        <p:txBody>
          <a:bodyPr wrap="square" lIns="0" tIns="0" rIns="0" bIns="0" rtlCol="0" anchor="ctr"/>
          <a:lstStyle/>
          <a:p>
            <a:pPr algn="ctr" indent="0" marL="0">
              <a:buNone/>
            </a:pPr>
            <a:r>
              <a:rPr lang="en-US" sz="2000" b="1" dirty="0">
                <a:solidFill>
                  <a:srgbClr val="FAF9F5"/>
                </a:solidFill>
                <a:latin typeface="Calibri" pitchFamily="34" charset="0"/>
                <a:ea typeface="Calibri" pitchFamily="34" charset="-122"/>
                <a:cs typeface="Calibri" pitchFamily="34" charset="-120"/>
              </a:rPr>
              <a:t>0</a:t>
            </a:r>
            <a:endParaRPr lang="en-US" sz="2000" dirty="0"/>
          </a:p>
        </p:txBody>
      </p:sp>
      <p:sp>
        <p:nvSpPr>
          <p:cNvPr id="10" name="Text 8"/>
          <p:cNvSpPr/>
          <p:nvPr/>
        </p:nvSpPr>
        <p:spPr>
          <a:xfrm>
            <a:off x="7278624" y="2432304"/>
            <a:ext cx="4023360" cy="310896"/>
          </a:xfrm>
          <a:prstGeom prst="rect">
            <a:avLst/>
          </a:prstGeom>
          <a:noFill/>
          <a:ln/>
        </p:spPr>
        <p:txBody>
          <a:bodyPr wrap="square" lIns="0" tIns="0" rIns="0" bIns="0" rtlCol="0" anchor="ctr"/>
          <a:lstStyle/>
          <a:p>
            <a:pPr indent="0" marL="0">
              <a:buNone/>
            </a:pPr>
            <a:r>
              <a:rPr lang="en-US" sz="1450" b="1" dirty="0">
                <a:solidFill>
                  <a:srgbClr val="191919"/>
                </a:solidFill>
                <a:latin typeface="Calibri" pitchFamily="34" charset="0"/>
                <a:ea typeface="Calibri" pitchFamily="34" charset="-122"/>
                <a:cs typeface="Calibri" pitchFamily="34" charset="-120"/>
              </a:rPr>
              <a:t>Merge capability</a:t>
            </a:r>
            <a:endParaRPr lang="en-US" sz="1450" dirty="0"/>
          </a:p>
        </p:txBody>
      </p:sp>
      <p:sp>
        <p:nvSpPr>
          <p:cNvPr id="11" name="Text 9"/>
          <p:cNvSpPr/>
          <p:nvPr/>
        </p:nvSpPr>
        <p:spPr>
          <a:xfrm>
            <a:off x="7278624" y="2816352"/>
            <a:ext cx="4041648" cy="822960"/>
          </a:xfrm>
          <a:prstGeom prst="rect">
            <a:avLst/>
          </a:prstGeom>
          <a:noFill/>
          <a:ln/>
        </p:spPr>
        <p:txBody>
          <a:bodyPr wrap="square" lIns="0" tIns="0" rIns="0" bIns="0" rtlCol="0" anchor="ctr"/>
          <a:lstStyle/>
          <a:p>
            <a:pPr indent="0" marL="0">
              <a:lnSpc>
                <a:spcPct val="122000"/>
              </a:lnSpc>
              <a:buNone/>
            </a:pPr>
            <a:r>
              <a:rPr lang="en-US" sz="1150" dirty="0">
                <a:solidFill>
                  <a:srgbClr val="73716C"/>
                </a:solidFill>
                <a:latin typeface="Calibri" pitchFamily="34" charset="0"/>
                <a:ea typeface="Calibri" pitchFamily="34" charset="-122"/>
                <a:cs typeface="Calibri" pitchFamily="34" charset="-120"/>
              </a:rPr>
              <a:t>The agent's entire contract is “open a pull request”. It has no merge path, and its token cannot modify CI configuration.</a:t>
            </a:r>
            <a:endParaRPr lang="en-US" sz="1150" dirty="0"/>
          </a:p>
        </p:txBody>
      </p:sp>
      <p:sp>
        <p:nvSpPr>
          <p:cNvPr id="12" name="Shape 10"/>
          <p:cNvSpPr/>
          <p:nvPr/>
        </p:nvSpPr>
        <p:spPr>
          <a:xfrm>
            <a:off x="685800" y="3950208"/>
            <a:ext cx="5321808" cy="1691640"/>
          </a:xfrm>
          <a:prstGeom prst="roundRect">
            <a:avLst>
              <a:gd name="adj" fmla="val 4865"/>
            </a:avLst>
          </a:prstGeom>
          <a:solidFill>
            <a:srgbClr val="FAF9F5"/>
          </a:solidFill>
          <a:ln w="9525">
            <a:solidFill>
              <a:srgbClr val="DFDBD1"/>
            </a:solidFill>
            <a:prstDash val="solid"/>
          </a:ln>
          <a:effectLst>
            <a:outerShdw sx="100000" sy="100000" kx="0" ky="0" algn="bl" rotWithShape="0" blurRad="152400" dist="25400" dir="5400000">
              <a:srgbClr val="8C857A">
                <a:alpha val="16000"/>
              </a:srgbClr>
            </a:outerShdw>
          </a:effectLst>
        </p:spPr>
      </p:sp>
      <p:sp>
        <p:nvSpPr>
          <p:cNvPr id="13" name="Text 11"/>
          <p:cNvSpPr/>
          <p:nvPr/>
        </p:nvSpPr>
        <p:spPr>
          <a:xfrm>
            <a:off x="978408" y="4261104"/>
            <a:ext cx="566928" cy="566928"/>
          </a:xfrm>
          <a:prstGeom prst="ellipse">
            <a:avLst/>
          </a:prstGeom>
          <a:solidFill>
            <a:srgbClr val="D97757"/>
          </a:solidFill>
          <a:ln/>
        </p:spPr>
        <p:txBody>
          <a:bodyPr wrap="square" lIns="0" tIns="0" rIns="0" bIns="0" rtlCol="0" anchor="ctr"/>
          <a:lstStyle/>
          <a:p>
            <a:pPr algn="ctr" indent="0" marL="0">
              <a:buNone/>
            </a:pPr>
            <a:r>
              <a:rPr lang="en-US" sz="2000" b="1" dirty="0">
                <a:solidFill>
                  <a:srgbClr val="FAF9F5"/>
                </a:solidFill>
                <a:latin typeface="Calibri" pitchFamily="34" charset="0"/>
                <a:ea typeface="Calibri" pitchFamily="34" charset="-122"/>
                <a:cs typeface="Calibri" pitchFamily="34" charset="-120"/>
              </a:rPr>
              <a:t>1</a:t>
            </a:r>
            <a:endParaRPr lang="en-US" sz="2000" dirty="0"/>
          </a:p>
        </p:txBody>
      </p:sp>
      <p:sp>
        <p:nvSpPr>
          <p:cNvPr id="14" name="Text 12"/>
          <p:cNvSpPr/>
          <p:nvPr/>
        </p:nvSpPr>
        <p:spPr>
          <a:xfrm>
            <a:off x="1709928" y="4261104"/>
            <a:ext cx="4023360" cy="310896"/>
          </a:xfrm>
          <a:prstGeom prst="rect">
            <a:avLst/>
          </a:prstGeom>
          <a:noFill/>
          <a:ln/>
        </p:spPr>
        <p:txBody>
          <a:bodyPr wrap="square" lIns="0" tIns="0" rIns="0" bIns="0" rtlCol="0" anchor="ctr"/>
          <a:lstStyle/>
          <a:p>
            <a:pPr indent="0" marL="0">
              <a:buNone/>
            </a:pPr>
            <a:r>
              <a:rPr lang="en-US" sz="1450" b="1" dirty="0">
                <a:solidFill>
                  <a:srgbClr val="191919"/>
                </a:solidFill>
                <a:latin typeface="Calibri" pitchFamily="34" charset="0"/>
                <a:ea typeface="Calibri" pitchFamily="34" charset="-122"/>
                <a:cs typeface="Calibri" pitchFamily="34" charset="-120"/>
              </a:rPr>
              <a:t>Commit from you ends it</a:t>
            </a:r>
            <a:endParaRPr lang="en-US" sz="1450" dirty="0"/>
          </a:p>
        </p:txBody>
      </p:sp>
      <p:sp>
        <p:nvSpPr>
          <p:cNvPr id="15" name="Text 13"/>
          <p:cNvSpPr/>
          <p:nvPr/>
        </p:nvSpPr>
        <p:spPr>
          <a:xfrm>
            <a:off x="1709928" y="4645152"/>
            <a:ext cx="4041648" cy="822960"/>
          </a:xfrm>
          <a:prstGeom prst="rect">
            <a:avLst/>
          </a:prstGeom>
          <a:noFill/>
          <a:ln/>
        </p:spPr>
        <p:txBody>
          <a:bodyPr wrap="square" lIns="0" tIns="0" rIns="0" bIns="0" rtlCol="0" anchor="ctr"/>
          <a:lstStyle/>
          <a:p>
            <a:pPr indent="0" marL="0">
              <a:lnSpc>
                <a:spcPct val="122000"/>
              </a:lnSpc>
              <a:buNone/>
            </a:pPr>
            <a:r>
              <a:rPr lang="en-US" sz="1150" dirty="0">
                <a:solidFill>
                  <a:srgbClr val="73716C"/>
                </a:solidFill>
                <a:latin typeface="Calibri" pitchFamily="34" charset="0"/>
                <a:ea typeface="Calibri" pitchFamily="34" charset="-122"/>
                <a:cs typeface="Calibri" pitchFamily="34" charset="-120"/>
              </a:rPr>
              <a:t>Push to the branch yourself and autonomous mode ends for that ticket immediately. You took over.</a:t>
            </a:r>
            <a:endParaRPr lang="en-US" sz="1150" dirty="0"/>
          </a:p>
        </p:txBody>
      </p:sp>
      <p:sp>
        <p:nvSpPr>
          <p:cNvPr id="16" name="Shape 14"/>
          <p:cNvSpPr/>
          <p:nvPr/>
        </p:nvSpPr>
        <p:spPr>
          <a:xfrm>
            <a:off x="6254496" y="3950208"/>
            <a:ext cx="5321808" cy="1691640"/>
          </a:xfrm>
          <a:prstGeom prst="roundRect">
            <a:avLst>
              <a:gd name="adj" fmla="val 4865"/>
            </a:avLst>
          </a:prstGeom>
          <a:solidFill>
            <a:srgbClr val="FAF9F5"/>
          </a:solidFill>
          <a:ln w="9525">
            <a:solidFill>
              <a:srgbClr val="DFDBD1"/>
            </a:solidFill>
            <a:prstDash val="solid"/>
          </a:ln>
          <a:effectLst>
            <a:outerShdw sx="100000" sy="100000" kx="0" ky="0" algn="bl" rotWithShape="0" blurRad="152400" dist="25400" dir="5400000">
              <a:srgbClr val="8C857A">
                <a:alpha val="16000"/>
              </a:srgbClr>
            </a:outerShdw>
          </a:effectLst>
        </p:spPr>
      </p:sp>
      <p:sp>
        <p:nvSpPr>
          <p:cNvPr id="17" name="Text 15"/>
          <p:cNvSpPr/>
          <p:nvPr/>
        </p:nvSpPr>
        <p:spPr>
          <a:xfrm>
            <a:off x="6547104" y="4261104"/>
            <a:ext cx="566928" cy="566928"/>
          </a:xfrm>
          <a:prstGeom prst="ellipse">
            <a:avLst/>
          </a:prstGeom>
          <a:solidFill>
            <a:srgbClr val="D97757"/>
          </a:solidFill>
          <a:ln/>
        </p:spPr>
        <p:txBody>
          <a:bodyPr wrap="square" lIns="0" tIns="0" rIns="0" bIns="0" rtlCol="0" anchor="ctr"/>
          <a:lstStyle/>
          <a:p>
            <a:pPr algn="ctr" indent="0" marL="0">
              <a:buNone/>
            </a:pPr>
            <a:r>
              <a:rPr lang="en-US" sz="2000" b="1" dirty="0">
                <a:solidFill>
                  <a:srgbClr val="FAF9F5"/>
                </a:solidFill>
                <a:latin typeface="Calibri" pitchFamily="34" charset="0"/>
                <a:ea typeface="Calibri" pitchFamily="34" charset="-122"/>
                <a:cs typeface="Calibri" pitchFamily="34" charset="-120"/>
              </a:rPr>
              <a:t>3</a:t>
            </a:r>
            <a:endParaRPr lang="en-US" sz="2000" dirty="0"/>
          </a:p>
        </p:txBody>
      </p:sp>
      <p:sp>
        <p:nvSpPr>
          <p:cNvPr id="18" name="Text 16"/>
          <p:cNvSpPr/>
          <p:nvPr/>
        </p:nvSpPr>
        <p:spPr>
          <a:xfrm>
            <a:off x="7278624" y="4261104"/>
            <a:ext cx="4023360" cy="310896"/>
          </a:xfrm>
          <a:prstGeom prst="rect">
            <a:avLst/>
          </a:prstGeom>
          <a:noFill/>
          <a:ln/>
        </p:spPr>
        <p:txBody>
          <a:bodyPr wrap="square" lIns="0" tIns="0" rIns="0" bIns="0" rtlCol="0" anchor="ctr"/>
          <a:lstStyle/>
          <a:p>
            <a:pPr indent="0" marL="0">
              <a:buNone/>
            </a:pPr>
            <a:r>
              <a:rPr lang="en-US" sz="1450" b="1" dirty="0">
                <a:solidFill>
                  <a:srgbClr val="191919"/>
                </a:solidFill>
                <a:latin typeface="Calibri" pitchFamily="34" charset="0"/>
                <a:ea typeface="Calibri" pitchFamily="34" charset="-122"/>
                <a:cs typeface="Calibri" pitchFamily="34" charset="-120"/>
              </a:rPr>
              <a:t>Open agent PRs, capped</a:t>
            </a:r>
            <a:endParaRPr lang="en-US" sz="1450" dirty="0"/>
          </a:p>
        </p:txBody>
      </p:sp>
      <p:sp>
        <p:nvSpPr>
          <p:cNvPr id="19" name="Text 17"/>
          <p:cNvSpPr/>
          <p:nvPr/>
        </p:nvSpPr>
        <p:spPr>
          <a:xfrm>
            <a:off x="7278624" y="4645152"/>
            <a:ext cx="4041648" cy="822960"/>
          </a:xfrm>
          <a:prstGeom prst="rect">
            <a:avLst/>
          </a:prstGeom>
          <a:noFill/>
          <a:ln/>
        </p:spPr>
        <p:txBody>
          <a:bodyPr wrap="square" lIns="0" tIns="0" rIns="0" bIns="0" rtlCol="0" anchor="ctr"/>
          <a:lstStyle/>
          <a:p>
            <a:pPr indent="0" marL="0">
              <a:lnSpc>
                <a:spcPct val="122000"/>
              </a:lnSpc>
              <a:buNone/>
            </a:pPr>
            <a:r>
              <a:rPr lang="en-US" sz="1150" dirty="0">
                <a:solidFill>
                  <a:srgbClr val="73716C"/>
                </a:solidFill>
                <a:latin typeface="Calibri" pitchFamily="34" charset="0"/>
                <a:ea typeface="Calibri" pitchFamily="34" charset="-122"/>
                <a:cs typeface="Calibri" pitchFamily="34" charset="-120"/>
              </a:rPr>
              <a:t>The approver is a real person — the risk is rubber-stamping, so throughput is capped rather than gated.</a:t>
            </a:r>
            <a:endParaRPr lang="en-US" sz="1150" dirty="0"/>
          </a:p>
        </p:txBody>
      </p:sp>
      <p:sp>
        <p:nvSpPr>
          <p:cNvPr id="20" name="Text 18"/>
          <p:cNvSpPr/>
          <p:nvPr/>
        </p:nvSpPr>
        <p:spPr>
          <a:xfrm>
            <a:off x="685800" y="5943600"/>
            <a:ext cx="10881360" cy="365760"/>
          </a:xfrm>
          <a:prstGeom prst="rect">
            <a:avLst/>
          </a:prstGeom>
          <a:noFill/>
          <a:ln/>
        </p:spPr>
        <p:txBody>
          <a:bodyPr wrap="square" lIns="0" tIns="0" rIns="0" bIns="0" rtlCol="0" anchor="ctr"/>
          <a:lstStyle/>
          <a:p>
            <a:pPr indent="0" marL="0">
              <a:buNone/>
            </a:pPr>
            <a:r>
              <a:rPr lang="en-US" sz="1700" b="1" dirty="0">
                <a:solidFill>
                  <a:srgbClr val="CC785C"/>
                </a:solidFill>
                <a:latin typeface="Cambria" pitchFamily="34" charset="0"/>
                <a:ea typeface="Cambria" pitchFamily="34" charset="-122"/>
                <a:cs typeface="Cambria" pitchFamily="34" charset="-120"/>
              </a:rPr>
              <a:t>An agent that reads the ticket, Slack and email — then writes code — earns every one of these.</a:t>
            </a:r>
            <a:endParaRPr lang="en-US" sz="17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0EEE6"/>
        </a:solidFill>
      </p:bgPr>
    </p:bg>
    <p:spTree>
      <p:nvGrpSpPr>
        <p:cNvPr id="1" name=""/>
        <p:cNvGrpSpPr/>
        <p:nvPr/>
      </p:nvGrpSpPr>
      <p:grpSpPr>
        <a:xfrm>
          <a:off x="0" y="0"/>
          <a:ext cx="0" cy="0"/>
          <a:chOff x="0" y="0"/>
          <a:chExt cx="0" cy="0"/>
        </a:xfrm>
      </p:grpSpPr>
      <p:sp>
        <p:nvSpPr>
          <p:cNvPr id="2" name="Text 0"/>
          <p:cNvSpPr/>
          <p:nvPr/>
        </p:nvSpPr>
        <p:spPr>
          <a:xfrm>
            <a:off x="685800" y="457200"/>
            <a:ext cx="10881360" cy="1170432"/>
          </a:xfrm>
          <a:prstGeom prst="rect">
            <a:avLst/>
          </a:prstGeom>
          <a:noFill/>
          <a:ln/>
        </p:spPr>
        <p:txBody>
          <a:bodyPr wrap="square" lIns="0" tIns="0" rIns="0" bIns="0" rtlCol="0" anchor="ctr"/>
          <a:lstStyle/>
          <a:p>
            <a:pPr indent="0" marL="0">
              <a:buNone/>
            </a:pPr>
            <a:r>
              <a:rPr lang="en-US" sz="3100" b="1" dirty="0">
                <a:solidFill>
                  <a:srgbClr val="191919"/>
                </a:solidFill>
                <a:latin typeface="Cambria" pitchFamily="34" charset="0"/>
                <a:ea typeface="Cambria" pitchFamily="34" charset="-122"/>
                <a:cs typeface="Cambria" pitchFamily="34" charset="-120"/>
              </a:rPr>
              <a:t>One settings resolver decides every run. Nothing else may disagree.</a:t>
            </a:r>
            <a:endParaRPr lang="en-US" sz="3100" dirty="0"/>
          </a:p>
        </p:txBody>
      </p:sp>
      <p:sp>
        <p:nvSpPr>
          <p:cNvPr id="3" name="Text 1"/>
          <p:cNvSpPr/>
          <p:nvPr/>
        </p:nvSpPr>
        <p:spPr>
          <a:xfrm>
            <a:off x="685800" y="1682496"/>
            <a:ext cx="10881360" cy="292608"/>
          </a:xfrm>
          <a:prstGeom prst="rect">
            <a:avLst/>
          </a:prstGeom>
          <a:noFill/>
          <a:ln/>
        </p:spPr>
        <p:txBody>
          <a:bodyPr wrap="square" lIns="0" tIns="0" rIns="0" bIns="0" rtlCol="0" anchor="ctr"/>
          <a:lstStyle/>
          <a:p>
            <a:pPr indent="0" marL="0">
              <a:buNone/>
            </a:pPr>
            <a:r>
              <a:rPr lang="en-US" sz="1450" dirty="0">
                <a:solidFill>
                  <a:srgbClr val="73716C"/>
                </a:solidFill>
                <a:latin typeface="Calibri" pitchFamily="34" charset="0"/>
                <a:ea typeface="Calibri" pitchFamily="34" charset="-122"/>
                <a:cs typeface="Calibri" pitchFamily="34" charset="-120"/>
              </a:rPr>
              <a:t>Webhook in, four loops running, eight integrations out — and the analysis never leaves the machine.</a:t>
            </a:r>
            <a:endParaRPr lang="en-US" sz="1450" dirty="0"/>
          </a:p>
        </p:txBody>
      </p:sp>
      <p:sp>
        <p:nvSpPr>
          <p:cNvPr id="4" name="Shape 2"/>
          <p:cNvSpPr/>
          <p:nvPr/>
        </p:nvSpPr>
        <p:spPr>
          <a:xfrm>
            <a:off x="685800" y="2121408"/>
            <a:ext cx="7863840" cy="694944"/>
          </a:xfrm>
          <a:prstGeom prst="roundRect">
            <a:avLst>
              <a:gd name="adj" fmla="val 10526"/>
            </a:avLst>
          </a:prstGeom>
          <a:solidFill>
            <a:srgbClr val="C9C3B8"/>
          </a:solidFill>
          <a:ln/>
        </p:spPr>
      </p:sp>
      <p:sp>
        <p:nvSpPr>
          <p:cNvPr id="5" name="Text 3"/>
          <p:cNvSpPr/>
          <p:nvPr/>
        </p:nvSpPr>
        <p:spPr>
          <a:xfrm>
            <a:off x="960120" y="2121408"/>
            <a:ext cx="2011680" cy="694944"/>
          </a:xfrm>
          <a:prstGeom prst="rect">
            <a:avLst/>
          </a:prstGeom>
          <a:noFill/>
          <a:ln/>
        </p:spPr>
        <p:txBody>
          <a:bodyPr wrap="square" lIns="0" tIns="0" rIns="0" bIns="0" rtlCol="0" anchor="ctr"/>
          <a:lstStyle/>
          <a:p>
            <a:pPr indent="0" marL="0">
              <a:buNone/>
            </a:pPr>
            <a:r>
              <a:rPr lang="en-US" sz="1150" b="1" spc="140" kern="0" dirty="0">
                <a:solidFill>
                  <a:srgbClr val="191919"/>
                </a:solidFill>
                <a:latin typeface="Calibri" pitchFamily="34" charset="0"/>
                <a:ea typeface="Calibri" pitchFamily="34" charset="-122"/>
                <a:cs typeface="Calibri" pitchFamily="34" charset="-120"/>
              </a:rPr>
              <a:t>CLIENT</a:t>
            </a:r>
            <a:endParaRPr lang="en-US" sz="1150" dirty="0"/>
          </a:p>
        </p:txBody>
      </p:sp>
      <p:sp>
        <p:nvSpPr>
          <p:cNvPr id="6" name="Text 4"/>
          <p:cNvSpPr/>
          <p:nvPr/>
        </p:nvSpPr>
        <p:spPr>
          <a:xfrm>
            <a:off x="2880360" y="2121408"/>
            <a:ext cx="5532120" cy="694944"/>
          </a:xfrm>
          <a:prstGeom prst="rect">
            <a:avLst/>
          </a:prstGeom>
          <a:noFill/>
          <a:ln/>
        </p:spPr>
        <p:txBody>
          <a:bodyPr wrap="square" lIns="0" tIns="0" rIns="0" bIns="0" rtlCol="0" anchor="ctr"/>
          <a:lstStyle/>
          <a:p>
            <a:pPr indent="0" marL="0">
              <a:buNone/>
            </a:pPr>
            <a:r>
              <a:rPr lang="en-US" sz="1100" dirty="0">
                <a:solidFill>
                  <a:srgbClr val="191919"/>
                </a:solidFill>
                <a:latin typeface="Calibri" pitchFamily="34" charset="0"/>
                <a:ea typeface="Calibri" pitchFamily="34" charset="-122"/>
                <a:cs typeface="Calibri" pitchFamily="34" charset="-120"/>
              </a:rPr>
              <a:t>React SPA · task board · pipeline view · settings</a:t>
            </a:r>
            <a:endParaRPr lang="en-US" sz="1100" dirty="0"/>
          </a:p>
        </p:txBody>
      </p:sp>
      <p:sp>
        <p:nvSpPr>
          <p:cNvPr id="7" name="Shape 5"/>
          <p:cNvSpPr/>
          <p:nvPr/>
        </p:nvSpPr>
        <p:spPr>
          <a:xfrm>
            <a:off x="4617720" y="2816352"/>
            <a:ext cx="0" cy="146304"/>
          </a:xfrm>
          <a:prstGeom prst="line">
            <a:avLst/>
          </a:prstGeom>
          <a:noFill/>
          <a:ln w="15875">
            <a:solidFill>
              <a:srgbClr val="8C857A"/>
            </a:solidFill>
            <a:prstDash val="solid"/>
            <a:tailEnd type="triangle"/>
          </a:ln>
        </p:spPr>
      </p:sp>
      <p:sp>
        <p:nvSpPr>
          <p:cNvPr id="8" name="Shape 6"/>
          <p:cNvSpPr/>
          <p:nvPr/>
        </p:nvSpPr>
        <p:spPr>
          <a:xfrm>
            <a:off x="685800" y="2944368"/>
            <a:ext cx="7863840" cy="694944"/>
          </a:xfrm>
          <a:prstGeom prst="roundRect">
            <a:avLst>
              <a:gd name="adj" fmla="val 10526"/>
            </a:avLst>
          </a:prstGeom>
          <a:solidFill>
            <a:srgbClr val="AFA89C"/>
          </a:solidFill>
          <a:ln/>
        </p:spPr>
      </p:sp>
      <p:sp>
        <p:nvSpPr>
          <p:cNvPr id="9" name="Text 7"/>
          <p:cNvSpPr/>
          <p:nvPr/>
        </p:nvSpPr>
        <p:spPr>
          <a:xfrm>
            <a:off x="960120" y="2944368"/>
            <a:ext cx="2011680" cy="694944"/>
          </a:xfrm>
          <a:prstGeom prst="rect">
            <a:avLst/>
          </a:prstGeom>
          <a:noFill/>
          <a:ln/>
        </p:spPr>
        <p:txBody>
          <a:bodyPr wrap="square" lIns="0" tIns="0" rIns="0" bIns="0" rtlCol="0" anchor="ctr"/>
          <a:lstStyle/>
          <a:p>
            <a:pPr indent="0" marL="0">
              <a:buNone/>
            </a:pPr>
            <a:r>
              <a:rPr lang="en-US" sz="1150" b="1" spc="140" kern="0" dirty="0">
                <a:solidFill>
                  <a:srgbClr val="191919"/>
                </a:solidFill>
                <a:latin typeface="Calibri" pitchFamily="34" charset="0"/>
                <a:ea typeface="Calibri" pitchFamily="34" charset="-122"/>
                <a:cs typeface="Calibri" pitchFamily="34" charset="-120"/>
              </a:rPr>
              <a:t>API</a:t>
            </a:r>
            <a:endParaRPr lang="en-US" sz="1150" dirty="0"/>
          </a:p>
        </p:txBody>
      </p:sp>
      <p:sp>
        <p:nvSpPr>
          <p:cNvPr id="10" name="Text 8"/>
          <p:cNvSpPr/>
          <p:nvPr/>
        </p:nvSpPr>
        <p:spPr>
          <a:xfrm>
            <a:off x="2880360" y="2944368"/>
            <a:ext cx="5532120" cy="694944"/>
          </a:xfrm>
          <a:prstGeom prst="rect">
            <a:avLst/>
          </a:prstGeom>
          <a:noFill/>
          <a:ln/>
        </p:spPr>
        <p:txBody>
          <a:bodyPr wrap="square" lIns="0" tIns="0" rIns="0" bIns="0" rtlCol="0" anchor="ctr"/>
          <a:lstStyle/>
          <a:p>
            <a:pPr indent="0" marL="0">
              <a:buNone/>
            </a:pPr>
            <a:r>
              <a:rPr lang="en-US" sz="1100" dirty="0">
                <a:solidFill>
                  <a:srgbClr val="191919"/>
                </a:solidFill>
                <a:latin typeface="Calibri" pitchFamily="34" charset="0"/>
                <a:ea typeface="Calibri" pitchFamily="34" charset="-122"/>
                <a:cs typeface="Calibri" pitchFamily="34" charset="-120"/>
              </a:rPr>
              <a:t>FastAPI · 52 endpoints · identity from the JWT, never a parameter</a:t>
            </a:r>
            <a:endParaRPr lang="en-US" sz="1100" dirty="0"/>
          </a:p>
        </p:txBody>
      </p:sp>
      <p:sp>
        <p:nvSpPr>
          <p:cNvPr id="11" name="Shape 9"/>
          <p:cNvSpPr/>
          <p:nvPr/>
        </p:nvSpPr>
        <p:spPr>
          <a:xfrm>
            <a:off x="4617720" y="3639312"/>
            <a:ext cx="0" cy="146304"/>
          </a:xfrm>
          <a:prstGeom prst="line">
            <a:avLst/>
          </a:prstGeom>
          <a:noFill/>
          <a:ln w="15875">
            <a:solidFill>
              <a:srgbClr val="8C857A"/>
            </a:solidFill>
            <a:prstDash val="solid"/>
            <a:tailEnd type="triangle"/>
          </a:ln>
        </p:spPr>
      </p:sp>
      <p:sp>
        <p:nvSpPr>
          <p:cNvPr id="12" name="Shape 10"/>
          <p:cNvSpPr/>
          <p:nvPr/>
        </p:nvSpPr>
        <p:spPr>
          <a:xfrm>
            <a:off x="685800" y="3767328"/>
            <a:ext cx="7863840" cy="694944"/>
          </a:xfrm>
          <a:prstGeom prst="roundRect">
            <a:avLst>
              <a:gd name="adj" fmla="val 10526"/>
            </a:avLst>
          </a:prstGeom>
          <a:solidFill>
            <a:srgbClr val="D97757"/>
          </a:solidFill>
          <a:ln/>
        </p:spPr>
      </p:sp>
      <p:sp>
        <p:nvSpPr>
          <p:cNvPr id="13" name="Text 11"/>
          <p:cNvSpPr/>
          <p:nvPr/>
        </p:nvSpPr>
        <p:spPr>
          <a:xfrm>
            <a:off x="960120" y="3767328"/>
            <a:ext cx="2011680" cy="694944"/>
          </a:xfrm>
          <a:prstGeom prst="rect">
            <a:avLst/>
          </a:prstGeom>
          <a:noFill/>
          <a:ln/>
        </p:spPr>
        <p:txBody>
          <a:bodyPr wrap="square" lIns="0" tIns="0" rIns="0" bIns="0" rtlCol="0" anchor="ctr"/>
          <a:lstStyle/>
          <a:p>
            <a:pPr indent="0" marL="0">
              <a:buNone/>
            </a:pPr>
            <a:r>
              <a:rPr lang="en-US" sz="1150" b="1" spc="140" kern="0" dirty="0">
                <a:solidFill>
                  <a:srgbClr val="FAF9F5"/>
                </a:solidFill>
                <a:latin typeface="Calibri" pitchFamily="34" charset="0"/>
                <a:ea typeface="Calibri" pitchFamily="34" charset="-122"/>
                <a:cs typeface="Calibri" pitchFamily="34" charset="-120"/>
              </a:rPr>
              <a:t>ORCHESTRATION</a:t>
            </a:r>
            <a:endParaRPr lang="en-US" sz="1150" dirty="0"/>
          </a:p>
        </p:txBody>
      </p:sp>
      <p:sp>
        <p:nvSpPr>
          <p:cNvPr id="14" name="Text 12"/>
          <p:cNvSpPr/>
          <p:nvPr/>
        </p:nvSpPr>
        <p:spPr>
          <a:xfrm>
            <a:off x="2880360" y="3767328"/>
            <a:ext cx="5532120" cy="694944"/>
          </a:xfrm>
          <a:prstGeom prst="rect">
            <a:avLst/>
          </a:prstGeom>
          <a:noFill/>
          <a:ln/>
        </p:spPr>
        <p:txBody>
          <a:bodyPr wrap="square" lIns="0" tIns="0" rIns="0" bIns="0" rtlCol="0" anchor="ctr"/>
          <a:lstStyle/>
          <a:p>
            <a:pPr indent="0" marL="0">
              <a:buNone/>
            </a:pPr>
            <a:r>
              <a:rPr lang="en-US" sz="1100" dirty="0">
                <a:solidFill>
                  <a:srgbClr val="FAF9F5"/>
                </a:solidFill>
                <a:latin typeface="Calibri" pitchFamily="34" charset="0"/>
                <a:ea typeface="Calibri" pitchFamily="34" charset="-122"/>
                <a:cs typeface="Calibri" pitchFamily="34" charset="-120"/>
              </a:rPr>
              <a:t>Settings resolver · analysis worker · merge sweeper · QA poller · time agent</a:t>
            </a:r>
            <a:endParaRPr lang="en-US" sz="1100" dirty="0"/>
          </a:p>
        </p:txBody>
      </p:sp>
      <p:sp>
        <p:nvSpPr>
          <p:cNvPr id="15" name="Shape 13"/>
          <p:cNvSpPr/>
          <p:nvPr/>
        </p:nvSpPr>
        <p:spPr>
          <a:xfrm>
            <a:off x="4617720" y="4462272"/>
            <a:ext cx="0" cy="146304"/>
          </a:xfrm>
          <a:prstGeom prst="line">
            <a:avLst/>
          </a:prstGeom>
          <a:noFill/>
          <a:ln w="15875">
            <a:solidFill>
              <a:srgbClr val="8C857A"/>
            </a:solidFill>
            <a:prstDash val="solid"/>
            <a:tailEnd type="triangle"/>
          </a:ln>
        </p:spPr>
      </p:sp>
      <p:sp>
        <p:nvSpPr>
          <p:cNvPr id="16" name="Shape 14"/>
          <p:cNvSpPr/>
          <p:nvPr/>
        </p:nvSpPr>
        <p:spPr>
          <a:xfrm>
            <a:off x="685800" y="4590288"/>
            <a:ext cx="7863840" cy="694944"/>
          </a:xfrm>
          <a:prstGeom prst="roundRect">
            <a:avLst>
              <a:gd name="adj" fmla="val 10526"/>
            </a:avLst>
          </a:prstGeom>
          <a:solidFill>
            <a:srgbClr val="CC785C"/>
          </a:solidFill>
          <a:ln/>
        </p:spPr>
      </p:sp>
      <p:sp>
        <p:nvSpPr>
          <p:cNvPr id="17" name="Text 15"/>
          <p:cNvSpPr/>
          <p:nvPr/>
        </p:nvSpPr>
        <p:spPr>
          <a:xfrm>
            <a:off x="960120" y="4590288"/>
            <a:ext cx="2011680" cy="694944"/>
          </a:xfrm>
          <a:prstGeom prst="rect">
            <a:avLst/>
          </a:prstGeom>
          <a:noFill/>
          <a:ln/>
        </p:spPr>
        <p:txBody>
          <a:bodyPr wrap="square" lIns="0" tIns="0" rIns="0" bIns="0" rtlCol="0" anchor="ctr"/>
          <a:lstStyle/>
          <a:p>
            <a:pPr indent="0" marL="0">
              <a:buNone/>
            </a:pPr>
            <a:r>
              <a:rPr lang="en-US" sz="1150" b="1" spc="140" kern="0" dirty="0">
                <a:solidFill>
                  <a:srgbClr val="FAF9F5"/>
                </a:solidFill>
                <a:latin typeface="Calibri" pitchFamily="34" charset="0"/>
                <a:ea typeface="Calibri" pitchFamily="34" charset="-122"/>
                <a:cs typeface="Calibri" pitchFamily="34" charset="-120"/>
              </a:rPr>
              <a:t>MODELS &amp; DATA</a:t>
            </a:r>
            <a:endParaRPr lang="en-US" sz="1150" dirty="0"/>
          </a:p>
        </p:txBody>
      </p:sp>
      <p:sp>
        <p:nvSpPr>
          <p:cNvPr id="18" name="Text 16"/>
          <p:cNvSpPr/>
          <p:nvPr/>
        </p:nvSpPr>
        <p:spPr>
          <a:xfrm>
            <a:off x="2880360" y="4590288"/>
            <a:ext cx="5532120" cy="694944"/>
          </a:xfrm>
          <a:prstGeom prst="rect">
            <a:avLst/>
          </a:prstGeom>
          <a:noFill/>
          <a:ln/>
        </p:spPr>
        <p:txBody>
          <a:bodyPr wrap="square" lIns="0" tIns="0" rIns="0" bIns="0" rtlCol="0" anchor="ctr"/>
          <a:lstStyle/>
          <a:p>
            <a:pPr indent="0" marL="0">
              <a:buNone/>
            </a:pPr>
            <a:r>
              <a:rPr lang="en-US" sz="1100" dirty="0">
                <a:solidFill>
                  <a:srgbClr val="FAF9F5"/>
                </a:solidFill>
                <a:latin typeface="Calibri" pitchFamily="34" charset="0"/>
                <a:ea typeface="Calibri" pitchFamily="34" charset="-122"/>
                <a:cs typeface="Calibri" pitchFamily="34" charset="-120"/>
              </a:rPr>
              <a:t>Local server for analysis · OpenCode's model for authoring · PostgreSQL</a:t>
            </a:r>
            <a:endParaRPr lang="en-US" sz="1100" dirty="0"/>
          </a:p>
        </p:txBody>
      </p:sp>
      <p:sp>
        <p:nvSpPr>
          <p:cNvPr id="19" name="Shape 17"/>
          <p:cNvSpPr/>
          <p:nvPr/>
        </p:nvSpPr>
        <p:spPr>
          <a:xfrm>
            <a:off x="8823960" y="2121408"/>
            <a:ext cx="2697480" cy="3163824"/>
          </a:xfrm>
          <a:prstGeom prst="roundRect">
            <a:avLst>
              <a:gd name="adj" fmla="val 3051"/>
            </a:avLst>
          </a:prstGeom>
          <a:solidFill>
            <a:srgbClr val="FAF9F5"/>
          </a:solidFill>
          <a:ln w="9525">
            <a:solidFill>
              <a:srgbClr val="DFDBD1"/>
            </a:solidFill>
            <a:prstDash val="solid"/>
          </a:ln>
          <a:effectLst>
            <a:outerShdw sx="100000" sy="100000" kx="0" ky="0" algn="bl" rotWithShape="0" blurRad="152400" dist="25400" dir="5400000">
              <a:srgbClr val="8C857A">
                <a:alpha val="16000"/>
              </a:srgbClr>
            </a:outerShdw>
          </a:effectLst>
        </p:spPr>
      </p:sp>
      <p:sp>
        <p:nvSpPr>
          <p:cNvPr id="20" name="Text 18"/>
          <p:cNvSpPr/>
          <p:nvPr/>
        </p:nvSpPr>
        <p:spPr>
          <a:xfrm>
            <a:off x="9098280" y="2377440"/>
            <a:ext cx="2194560" cy="237744"/>
          </a:xfrm>
          <a:prstGeom prst="rect">
            <a:avLst/>
          </a:prstGeom>
          <a:noFill/>
          <a:ln/>
        </p:spPr>
        <p:txBody>
          <a:bodyPr wrap="square" lIns="0" tIns="0" rIns="0" bIns="0" rtlCol="0" anchor="ctr"/>
          <a:lstStyle/>
          <a:p>
            <a:pPr indent="0" marL="0">
              <a:buNone/>
            </a:pPr>
            <a:r>
              <a:rPr lang="en-US" sz="1050" b="1" spc="240" kern="0" dirty="0">
                <a:solidFill>
                  <a:srgbClr val="D97757"/>
                </a:solidFill>
                <a:latin typeface="Calibri" pitchFamily="34" charset="0"/>
                <a:ea typeface="Calibri" pitchFamily="34" charset="-122"/>
                <a:cs typeface="Calibri" pitchFamily="34" charset="-120"/>
              </a:rPr>
              <a:t>CONNECTED</a:t>
            </a:r>
            <a:endParaRPr lang="en-US" sz="1050" dirty="0"/>
          </a:p>
        </p:txBody>
      </p:sp>
      <p:sp>
        <p:nvSpPr>
          <p:cNvPr id="21" name="Text 19"/>
          <p:cNvSpPr/>
          <p:nvPr/>
        </p:nvSpPr>
        <p:spPr>
          <a:xfrm>
            <a:off x="9144000" y="2743200"/>
            <a:ext cx="2194560" cy="2423160"/>
          </a:xfrm>
          <a:prstGeom prst="rect">
            <a:avLst/>
          </a:prstGeom>
          <a:noFill/>
          <a:ln/>
        </p:spPr>
        <p:txBody>
          <a:bodyPr wrap="square" lIns="0" tIns="0" rIns="0" bIns="0" rtlCol="0" anchor="ctr"/>
          <a:lstStyle/>
          <a:p>
            <a:pPr marL="342900" indent="-342900">
              <a:spcAft>
                <a:spcPts val="400"/>
              </a:spcAft>
              <a:buSzPct val="100000"/>
              <a:buChar char="●"/>
            </a:pPr>
            <a:r>
              <a:rPr lang="en-US" sz="1150" dirty="0">
                <a:solidFill>
                  <a:srgbClr val="191919"/>
                </a:solidFill>
                <a:latin typeface="Calibri" pitchFamily="34" charset="0"/>
                <a:ea typeface="Calibri" pitchFamily="34" charset="-122"/>
                <a:cs typeface="Calibri" pitchFamily="34" charset="-120"/>
              </a:rPr>
              <a:t>GitHub</a:t>
            </a:r>
            <a:endParaRPr lang="en-US" sz="1150" dirty="0"/>
          </a:p>
          <a:p>
            <a:pPr marL="342900" indent="-342900">
              <a:spcAft>
                <a:spcPts val="400"/>
              </a:spcAft>
              <a:buSzPct val="100000"/>
              <a:buChar char="●"/>
            </a:pPr>
            <a:r>
              <a:rPr lang="en-US" sz="1150" dirty="0">
                <a:solidFill>
                  <a:srgbClr val="191919"/>
                </a:solidFill>
                <a:latin typeface="Calibri" pitchFamily="34" charset="0"/>
                <a:ea typeface="Calibri" pitchFamily="34" charset="-122"/>
                <a:cs typeface="Calibri" pitchFamily="34" charset="-120"/>
              </a:rPr>
              <a:t>Jira</a:t>
            </a:r>
            <a:endParaRPr lang="en-US" sz="1150" dirty="0"/>
          </a:p>
          <a:p>
            <a:pPr marL="342900" indent="-342900">
              <a:spcAft>
                <a:spcPts val="400"/>
              </a:spcAft>
              <a:buSzPct val="100000"/>
              <a:buChar char="●"/>
            </a:pPr>
            <a:r>
              <a:rPr lang="en-US" sz="1150" dirty="0">
                <a:solidFill>
                  <a:srgbClr val="191919"/>
                </a:solidFill>
                <a:latin typeface="Calibri" pitchFamily="34" charset="0"/>
                <a:ea typeface="Calibri" pitchFamily="34" charset="-122"/>
                <a:cs typeface="Calibri" pitchFamily="34" charset="-120"/>
              </a:rPr>
              <a:t>Linear</a:t>
            </a:r>
            <a:endParaRPr lang="en-US" sz="1150" dirty="0"/>
          </a:p>
          <a:p>
            <a:pPr marL="342900" indent="-342900">
              <a:spcAft>
                <a:spcPts val="400"/>
              </a:spcAft>
              <a:buSzPct val="100000"/>
              <a:buChar char="●"/>
            </a:pPr>
            <a:r>
              <a:rPr lang="en-US" sz="1150" dirty="0">
                <a:solidFill>
                  <a:srgbClr val="191919"/>
                </a:solidFill>
                <a:latin typeface="Calibri" pitchFamily="34" charset="0"/>
                <a:ea typeface="Calibri" pitchFamily="34" charset="-122"/>
                <a:cs typeface="Calibri" pitchFamily="34" charset="-120"/>
              </a:rPr>
              <a:t>Slack</a:t>
            </a:r>
            <a:endParaRPr lang="en-US" sz="1150" dirty="0"/>
          </a:p>
          <a:p>
            <a:pPr marL="342900" indent="-342900">
              <a:spcAft>
                <a:spcPts val="400"/>
              </a:spcAft>
              <a:buSzPct val="100000"/>
              <a:buChar char="●"/>
            </a:pPr>
            <a:r>
              <a:rPr lang="en-US" sz="1150" dirty="0">
                <a:solidFill>
                  <a:srgbClr val="191919"/>
                </a:solidFill>
                <a:latin typeface="Calibri" pitchFamily="34" charset="0"/>
                <a:ea typeface="Calibri" pitchFamily="34" charset="-122"/>
                <a:cs typeface="Calibri" pitchFamily="34" charset="-120"/>
              </a:rPr>
              <a:t>Gmail</a:t>
            </a:r>
            <a:endParaRPr lang="en-US" sz="1150" dirty="0"/>
          </a:p>
          <a:p>
            <a:pPr marL="342900" indent="-342900">
              <a:spcAft>
                <a:spcPts val="400"/>
              </a:spcAft>
              <a:buSzPct val="100000"/>
              <a:buChar char="●"/>
            </a:pPr>
            <a:r>
              <a:rPr lang="en-US" sz="1150" dirty="0">
                <a:solidFill>
                  <a:srgbClr val="191919"/>
                </a:solidFill>
                <a:latin typeface="Calibri" pitchFamily="34" charset="0"/>
                <a:ea typeface="Calibri" pitchFamily="34" charset="-122"/>
                <a:cs typeface="Calibri" pitchFamily="34" charset="-120"/>
              </a:rPr>
              <a:t>Calendar</a:t>
            </a:r>
            <a:endParaRPr lang="en-US" sz="1150" dirty="0"/>
          </a:p>
          <a:p>
            <a:pPr marL="342900" indent="-342900">
              <a:spcAft>
                <a:spcPts val="400"/>
              </a:spcAft>
              <a:buSzPct val="100000"/>
              <a:buChar char="●"/>
            </a:pPr>
            <a:r>
              <a:rPr lang="en-US" sz="1150" dirty="0">
                <a:solidFill>
                  <a:srgbClr val="191919"/>
                </a:solidFill>
                <a:latin typeface="Calibri" pitchFamily="34" charset="0"/>
                <a:ea typeface="Calibri" pitchFamily="34" charset="-122"/>
                <a:cs typeface="Calibri" pitchFamily="34" charset="-120"/>
              </a:rPr>
              <a:t>Google Docs</a:t>
            </a:r>
            <a:endParaRPr lang="en-US" sz="1150" dirty="0"/>
          </a:p>
          <a:p>
            <a:pPr marL="342900" indent="-342900">
              <a:spcAft>
                <a:spcPts val="400"/>
              </a:spcAft>
              <a:buSzPct val="100000"/>
              <a:buChar char="●"/>
            </a:pPr>
            <a:r>
              <a:rPr lang="en-US" sz="1150" dirty="0">
                <a:solidFill>
                  <a:srgbClr val="191919"/>
                </a:solidFill>
                <a:latin typeface="Calibri" pitchFamily="34" charset="0"/>
                <a:ea typeface="Calibri" pitchFamily="34" charset="-122"/>
                <a:cs typeface="Calibri" pitchFamily="34" charset="-120"/>
              </a:rPr>
              <a:t>Notion</a:t>
            </a:r>
            <a:endParaRPr lang="en-US" sz="1150" dirty="0"/>
          </a:p>
        </p:txBody>
      </p:sp>
      <p:sp>
        <p:nvSpPr>
          <p:cNvPr id="22" name="Text 20"/>
          <p:cNvSpPr/>
          <p:nvPr/>
        </p:nvSpPr>
        <p:spPr>
          <a:xfrm>
            <a:off x="685800" y="5715000"/>
            <a:ext cx="10881360" cy="365760"/>
          </a:xfrm>
          <a:prstGeom prst="rect">
            <a:avLst/>
          </a:prstGeom>
          <a:noFill/>
          <a:ln/>
        </p:spPr>
        <p:txBody>
          <a:bodyPr wrap="square" lIns="0" tIns="0" rIns="0" bIns="0" rtlCol="0" anchor="ctr"/>
          <a:lstStyle/>
          <a:p>
            <a:pPr indent="0" marL="0">
              <a:buNone/>
            </a:pPr>
            <a:r>
              <a:rPr lang="en-US" sz="1700" b="1" dirty="0">
                <a:solidFill>
                  <a:srgbClr val="CC785C"/>
                </a:solidFill>
                <a:latin typeface="Cambria" pitchFamily="34" charset="0"/>
                <a:ea typeface="Cambria" pitchFamily="34" charset="-122"/>
                <a:cs typeface="Cambria" pitchFamily="34" charset="-120"/>
              </a:rPr>
              <a:t>Every model that reads your code automatically runs on the developer's own hardware.</a:t>
            </a:r>
            <a:endParaRPr lang="en-US" sz="17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0EEE6"/>
        </a:solidFill>
      </p:bgPr>
    </p:bg>
    <p:spTree>
      <p:nvGrpSpPr>
        <p:cNvPr id="1" name=""/>
        <p:cNvGrpSpPr/>
        <p:nvPr/>
      </p:nvGrpSpPr>
      <p:grpSpPr>
        <a:xfrm>
          <a:off x="0" y="0"/>
          <a:ext cx="0" cy="0"/>
          <a:chOff x="0" y="0"/>
          <a:chExt cx="0" cy="0"/>
        </a:xfrm>
      </p:grpSpPr>
      <p:sp>
        <p:nvSpPr>
          <p:cNvPr id="2" name="Text 0"/>
          <p:cNvSpPr/>
          <p:nvPr/>
        </p:nvSpPr>
        <p:spPr>
          <a:xfrm>
            <a:off x="685800" y="457200"/>
            <a:ext cx="10881360" cy="1170432"/>
          </a:xfrm>
          <a:prstGeom prst="rect">
            <a:avLst/>
          </a:prstGeom>
          <a:noFill/>
          <a:ln/>
        </p:spPr>
        <p:txBody>
          <a:bodyPr wrap="square" lIns="0" tIns="0" rIns="0" bIns="0" rtlCol="0" anchor="ctr"/>
          <a:lstStyle/>
          <a:p>
            <a:pPr indent="0" marL="0">
              <a:buNone/>
            </a:pPr>
            <a:r>
              <a:rPr lang="en-US" sz="3100" b="1" dirty="0">
                <a:solidFill>
                  <a:srgbClr val="191919"/>
                </a:solidFill>
                <a:latin typeface="Cambria" pitchFamily="34" charset="0"/>
                <a:ea typeface="Cambria" pitchFamily="34" charset="-122"/>
                <a:cs typeface="Cambria" pitchFamily="34" charset="-120"/>
              </a:rPr>
              <a:t>859 tests, and every one pins a behaviour we broke at least once.</a:t>
            </a:r>
            <a:endParaRPr lang="en-US" sz="3100" dirty="0"/>
          </a:p>
        </p:txBody>
      </p:sp>
      <p:sp>
        <p:nvSpPr>
          <p:cNvPr id="3" name="Text 1"/>
          <p:cNvSpPr/>
          <p:nvPr/>
        </p:nvSpPr>
        <p:spPr>
          <a:xfrm>
            <a:off x="685800" y="1682496"/>
            <a:ext cx="10881360" cy="292608"/>
          </a:xfrm>
          <a:prstGeom prst="rect">
            <a:avLst/>
          </a:prstGeom>
          <a:noFill/>
          <a:ln/>
        </p:spPr>
        <p:txBody>
          <a:bodyPr wrap="square" lIns="0" tIns="0" rIns="0" bIns="0" rtlCol="0" anchor="ctr"/>
          <a:lstStyle/>
          <a:p>
            <a:pPr indent="0" marL="0">
              <a:buNone/>
            </a:pPr>
            <a:r>
              <a:rPr lang="en-US" sz="1450" dirty="0">
                <a:solidFill>
                  <a:srgbClr val="73716C"/>
                </a:solidFill>
                <a:latin typeface="Calibri" pitchFamily="34" charset="0"/>
                <a:ea typeface="Calibri" pitchFamily="34" charset="-122"/>
                <a:cs typeface="Calibri" pitchFamily="34" charset="-120"/>
              </a:rPr>
              <a:t>Test coverage by subsystem — the loops that reach other people carry the most.</a:t>
            </a:r>
            <a:endParaRPr lang="en-US" sz="1450" dirty="0"/>
          </a:p>
        </p:txBody>
      </p:sp>
      <p:graphicFrame>
        <p:nvGraphicFramePr>
          <p:cNvPr id="4" name="Chart 0" descr=""/>
          <p:cNvGraphicFramePr/>
          <p:nvPr/>
        </p:nvGraphicFramePr>
        <p:xfrm>
          <a:off x="685800" y="2121408"/>
          <a:ext cx="7040880" cy="3246120"/>
        </p:xfrm>
        <a:graphic xmlns:a="http://schemas.openxmlformats.org/drawingml/2006/main">
          <a:graphicData uri="http://schemas.openxmlformats.org/drawingml/2006/chart">
            <c:chart xmlns:c="http://schemas.openxmlformats.org/drawingml/2006/chart" r:id="rId1"/>
          </a:graphicData>
        </a:graphic>
      </p:graphicFrame>
      <p:sp>
        <p:nvSpPr>
          <p:cNvPr id="5" name="Shape 2"/>
          <p:cNvSpPr/>
          <p:nvPr/>
        </p:nvSpPr>
        <p:spPr>
          <a:xfrm>
            <a:off x="8001000" y="2121408"/>
            <a:ext cx="1664208" cy="1024128"/>
          </a:xfrm>
          <a:prstGeom prst="roundRect">
            <a:avLst>
              <a:gd name="adj" fmla="val 8036"/>
            </a:avLst>
          </a:prstGeom>
          <a:solidFill>
            <a:srgbClr val="FAF9F5"/>
          </a:solidFill>
          <a:ln w="9525">
            <a:solidFill>
              <a:srgbClr val="DFDBD1"/>
            </a:solidFill>
            <a:prstDash val="solid"/>
          </a:ln>
        </p:spPr>
      </p:sp>
      <p:sp>
        <p:nvSpPr>
          <p:cNvPr id="6" name="Text 3"/>
          <p:cNvSpPr/>
          <p:nvPr/>
        </p:nvSpPr>
        <p:spPr>
          <a:xfrm>
            <a:off x="8183880" y="2167128"/>
            <a:ext cx="1371600" cy="475488"/>
          </a:xfrm>
          <a:prstGeom prst="rect">
            <a:avLst/>
          </a:prstGeom>
          <a:noFill/>
          <a:ln/>
        </p:spPr>
        <p:txBody>
          <a:bodyPr wrap="square" lIns="0" tIns="0" rIns="0" bIns="0" rtlCol="0" anchor="ctr"/>
          <a:lstStyle/>
          <a:p>
            <a:pPr indent="0" marL="0">
              <a:buNone/>
            </a:pPr>
            <a:r>
              <a:rPr lang="en-US" sz="2100" b="1" dirty="0">
                <a:solidFill>
                  <a:srgbClr val="D97757"/>
                </a:solidFill>
                <a:latin typeface="Cambria" pitchFamily="34" charset="0"/>
                <a:ea typeface="Cambria" pitchFamily="34" charset="-122"/>
                <a:cs typeface="Cambria" pitchFamily="34" charset="-120"/>
              </a:rPr>
              <a:t>53,691</a:t>
            </a:r>
            <a:endParaRPr lang="en-US" sz="2100" dirty="0"/>
          </a:p>
        </p:txBody>
      </p:sp>
      <p:sp>
        <p:nvSpPr>
          <p:cNvPr id="7" name="Text 4"/>
          <p:cNvSpPr/>
          <p:nvPr/>
        </p:nvSpPr>
        <p:spPr>
          <a:xfrm>
            <a:off x="8183880" y="2642616"/>
            <a:ext cx="1371600" cy="457200"/>
          </a:xfrm>
          <a:prstGeom prst="rect">
            <a:avLst/>
          </a:prstGeom>
          <a:noFill/>
          <a:ln/>
        </p:spPr>
        <p:txBody>
          <a:bodyPr wrap="square" lIns="0" tIns="0" rIns="0" bIns="0" rtlCol="0" anchor="ctr"/>
          <a:lstStyle/>
          <a:p>
            <a:pPr indent="0" marL="0">
              <a:lnSpc>
                <a:spcPct val="110000"/>
              </a:lnSpc>
              <a:buNone/>
            </a:pPr>
            <a:r>
              <a:rPr lang="en-US" sz="1000" dirty="0">
                <a:solidFill>
                  <a:srgbClr val="73716C"/>
                </a:solidFill>
                <a:latin typeface="Calibri" pitchFamily="34" charset="0"/>
                <a:ea typeface="Calibri" pitchFamily="34" charset="-122"/>
                <a:cs typeface="Calibri" pitchFamily="34" charset="-120"/>
              </a:rPr>
              <a:t>lines of</a:t>
            </a:r>
            <a:endParaRPr lang="en-US" sz="1000" dirty="0"/>
          </a:p>
          <a:p>
            <a:pPr indent="0" marL="0">
              <a:lnSpc>
                <a:spcPct val="110000"/>
              </a:lnSpc>
              <a:buNone/>
            </a:pPr>
            <a:r>
              <a:rPr lang="en-US" sz="1000" dirty="0">
                <a:solidFill>
                  <a:srgbClr val="73716C"/>
                </a:solidFill>
                <a:latin typeface="Calibri" pitchFamily="34" charset="0"/>
                <a:ea typeface="Calibri" pitchFamily="34" charset="-122"/>
                <a:cs typeface="Calibri" pitchFamily="34" charset="-120"/>
              </a:rPr>
              <a:t>production code</a:t>
            </a:r>
            <a:endParaRPr lang="en-US" sz="1000" dirty="0"/>
          </a:p>
        </p:txBody>
      </p:sp>
      <p:sp>
        <p:nvSpPr>
          <p:cNvPr id="8" name="Shape 5"/>
          <p:cNvSpPr/>
          <p:nvPr/>
        </p:nvSpPr>
        <p:spPr>
          <a:xfrm>
            <a:off x="9784080" y="2121408"/>
            <a:ext cx="1664208" cy="1024128"/>
          </a:xfrm>
          <a:prstGeom prst="roundRect">
            <a:avLst>
              <a:gd name="adj" fmla="val 8036"/>
            </a:avLst>
          </a:prstGeom>
          <a:solidFill>
            <a:srgbClr val="FAF9F5"/>
          </a:solidFill>
          <a:ln w="9525">
            <a:solidFill>
              <a:srgbClr val="DFDBD1"/>
            </a:solidFill>
            <a:prstDash val="solid"/>
          </a:ln>
        </p:spPr>
      </p:sp>
      <p:sp>
        <p:nvSpPr>
          <p:cNvPr id="9" name="Text 6"/>
          <p:cNvSpPr/>
          <p:nvPr/>
        </p:nvSpPr>
        <p:spPr>
          <a:xfrm>
            <a:off x="9966960" y="2167128"/>
            <a:ext cx="1371600" cy="475488"/>
          </a:xfrm>
          <a:prstGeom prst="rect">
            <a:avLst/>
          </a:prstGeom>
          <a:noFill/>
          <a:ln/>
        </p:spPr>
        <p:txBody>
          <a:bodyPr wrap="square" lIns="0" tIns="0" rIns="0" bIns="0" rtlCol="0" anchor="ctr"/>
          <a:lstStyle/>
          <a:p>
            <a:pPr indent="0" marL="0">
              <a:buNone/>
            </a:pPr>
            <a:r>
              <a:rPr lang="en-US" sz="2100" b="1" dirty="0">
                <a:solidFill>
                  <a:srgbClr val="D97757"/>
                </a:solidFill>
                <a:latin typeface="Cambria" pitchFamily="34" charset="0"/>
                <a:ea typeface="Cambria" pitchFamily="34" charset="-122"/>
                <a:cs typeface="Cambria" pitchFamily="34" charset="-120"/>
              </a:rPr>
              <a:t>57</a:t>
            </a:r>
            <a:endParaRPr lang="en-US" sz="2100" dirty="0"/>
          </a:p>
        </p:txBody>
      </p:sp>
      <p:sp>
        <p:nvSpPr>
          <p:cNvPr id="10" name="Text 7"/>
          <p:cNvSpPr/>
          <p:nvPr/>
        </p:nvSpPr>
        <p:spPr>
          <a:xfrm>
            <a:off x="9966960" y="2642616"/>
            <a:ext cx="1371600" cy="457200"/>
          </a:xfrm>
          <a:prstGeom prst="rect">
            <a:avLst/>
          </a:prstGeom>
          <a:noFill/>
          <a:ln/>
        </p:spPr>
        <p:txBody>
          <a:bodyPr wrap="square" lIns="0" tIns="0" rIns="0" bIns="0" rtlCol="0" anchor="ctr"/>
          <a:lstStyle/>
          <a:p>
            <a:pPr indent="0" marL="0">
              <a:lnSpc>
                <a:spcPct val="110000"/>
              </a:lnSpc>
              <a:buNone/>
            </a:pPr>
            <a:r>
              <a:rPr lang="en-US" sz="1000" dirty="0">
                <a:solidFill>
                  <a:srgbClr val="73716C"/>
                </a:solidFill>
                <a:latin typeface="Calibri" pitchFamily="34" charset="0"/>
                <a:ea typeface="Calibri" pitchFamily="34" charset="-122"/>
                <a:cs typeface="Calibri" pitchFamily="34" charset="-120"/>
              </a:rPr>
              <a:t>backend service</a:t>
            </a:r>
            <a:endParaRPr lang="en-US" sz="1000" dirty="0"/>
          </a:p>
          <a:p>
            <a:pPr indent="0" marL="0">
              <a:lnSpc>
                <a:spcPct val="110000"/>
              </a:lnSpc>
              <a:buNone/>
            </a:pPr>
            <a:r>
              <a:rPr lang="en-US" sz="1000" dirty="0">
                <a:solidFill>
                  <a:srgbClr val="73716C"/>
                </a:solidFill>
                <a:latin typeface="Calibri" pitchFamily="34" charset="0"/>
                <a:ea typeface="Calibri" pitchFamily="34" charset="-122"/>
                <a:cs typeface="Calibri" pitchFamily="34" charset="-120"/>
              </a:rPr>
              <a:t>modules</a:t>
            </a:r>
            <a:endParaRPr lang="en-US" sz="1000" dirty="0"/>
          </a:p>
        </p:txBody>
      </p:sp>
      <p:sp>
        <p:nvSpPr>
          <p:cNvPr id="11" name="Shape 8"/>
          <p:cNvSpPr/>
          <p:nvPr/>
        </p:nvSpPr>
        <p:spPr>
          <a:xfrm>
            <a:off x="8001000" y="3236976"/>
            <a:ext cx="1664208" cy="1024128"/>
          </a:xfrm>
          <a:prstGeom prst="roundRect">
            <a:avLst>
              <a:gd name="adj" fmla="val 8036"/>
            </a:avLst>
          </a:prstGeom>
          <a:solidFill>
            <a:srgbClr val="FAF9F5"/>
          </a:solidFill>
          <a:ln w="9525">
            <a:solidFill>
              <a:srgbClr val="DFDBD1"/>
            </a:solidFill>
            <a:prstDash val="solid"/>
          </a:ln>
        </p:spPr>
      </p:sp>
      <p:sp>
        <p:nvSpPr>
          <p:cNvPr id="12" name="Text 9"/>
          <p:cNvSpPr/>
          <p:nvPr/>
        </p:nvSpPr>
        <p:spPr>
          <a:xfrm>
            <a:off x="8183880" y="3282696"/>
            <a:ext cx="1371600" cy="475488"/>
          </a:xfrm>
          <a:prstGeom prst="rect">
            <a:avLst/>
          </a:prstGeom>
          <a:noFill/>
          <a:ln/>
        </p:spPr>
        <p:txBody>
          <a:bodyPr wrap="square" lIns="0" tIns="0" rIns="0" bIns="0" rtlCol="0" anchor="ctr"/>
          <a:lstStyle/>
          <a:p>
            <a:pPr indent="0" marL="0">
              <a:buNone/>
            </a:pPr>
            <a:r>
              <a:rPr lang="en-US" sz="2100" b="1" dirty="0">
                <a:solidFill>
                  <a:srgbClr val="D97757"/>
                </a:solidFill>
                <a:latin typeface="Cambria" pitchFamily="34" charset="0"/>
                <a:ea typeface="Cambria" pitchFamily="34" charset="-122"/>
                <a:cs typeface="Cambria" pitchFamily="34" charset="-120"/>
              </a:rPr>
              <a:t>25</a:t>
            </a:r>
            <a:endParaRPr lang="en-US" sz="2100" dirty="0"/>
          </a:p>
        </p:txBody>
      </p:sp>
      <p:sp>
        <p:nvSpPr>
          <p:cNvPr id="13" name="Text 10"/>
          <p:cNvSpPr/>
          <p:nvPr/>
        </p:nvSpPr>
        <p:spPr>
          <a:xfrm>
            <a:off x="8183880" y="3758184"/>
            <a:ext cx="1371600" cy="457200"/>
          </a:xfrm>
          <a:prstGeom prst="rect">
            <a:avLst/>
          </a:prstGeom>
          <a:noFill/>
          <a:ln/>
        </p:spPr>
        <p:txBody>
          <a:bodyPr wrap="square" lIns="0" tIns="0" rIns="0" bIns="0" rtlCol="0" anchor="ctr"/>
          <a:lstStyle/>
          <a:p>
            <a:pPr indent="0" marL="0">
              <a:lnSpc>
                <a:spcPct val="110000"/>
              </a:lnSpc>
              <a:buNone/>
            </a:pPr>
            <a:r>
              <a:rPr lang="en-US" sz="1000" dirty="0">
                <a:solidFill>
                  <a:srgbClr val="73716C"/>
                </a:solidFill>
                <a:latin typeface="Calibri" pitchFamily="34" charset="0"/>
                <a:ea typeface="Calibri" pitchFamily="34" charset="-122"/>
                <a:cs typeface="Calibri" pitchFamily="34" charset="-120"/>
              </a:rPr>
              <a:t>schema</a:t>
            </a:r>
            <a:endParaRPr lang="en-US" sz="1000" dirty="0"/>
          </a:p>
          <a:p>
            <a:pPr indent="0" marL="0">
              <a:lnSpc>
                <a:spcPct val="110000"/>
              </a:lnSpc>
              <a:buNone/>
            </a:pPr>
            <a:r>
              <a:rPr lang="en-US" sz="1000" dirty="0">
                <a:solidFill>
                  <a:srgbClr val="73716C"/>
                </a:solidFill>
                <a:latin typeface="Calibri" pitchFamily="34" charset="0"/>
                <a:ea typeface="Calibri" pitchFamily="34" charset="-122"/>
                <a:cs typeface="Calibri" pitchFamily="34" charset="-120"/>
              </a:rPr>
              <a:t>migrations</a:t>
            </a:r>
            <a:endParaRPr lang="en-US" sz="1000" dirty="0"/>
          </a:p>
        </p:txBody>
      </p:sp>
      <p:sp>
        <p:nvSpPr>
          <p:cNvPr id="14" name="Shape 11"/>
          <p:cNvSpPr/>
          <p:nvPr/>
        </p:nvSpPr>
        <p:spPr>
          <a:xfrm>
            <a:off x="9784080" y="3236976"/>
            <a:ext cx="1664208" cy="1024128"/>
          </a:xfrm>
          <a:prstGeom prst="roundRect">
            <a:avLst>
              <a:gd name="adj" fmla="val 8036"/>
            </a:avLst>
          </a:prstGeom>
          <a:solidFill>
            <a:srgbClr val="FAF9F5"/>
          </a:solidFill>
          <a:ln w="9525">
            <a:solidFill>
              <a:srgbClr val="DFDBD1"/>
            </a:solidFill>
            <a:prstDash val="solid"/>
          </a:ln>
        </p:spPr>
      </p:sp>
      <p:sp>
        <p:nvSpPr>
          <p:cNvPr id="15" name="Text 12"/>
          <p:cNvSpPr/>
          <p:nvPr/>
        </p:nvSpPr>
        <p:spPr>
          <a:xfrm>
            <a:off x="9966960" y="3282696"/>
            <a:ext cx="1371600" cy="475488"/>
          </a:xfrm>
          <a:prstGeom prst="rect">
            <a:avLst/>
          </a:prstGeom>
          <a:noFill/>
          <a:ln/>
        </p:spPr>
        <p:txBody>
          <a:bodyPr wrap="square" lIns="0" tIns="0" rIns="0" bIns="0" rtlCol="0" anchor="ctr"/>
          <a:lstStyle/>
          <a:p>
            <a:pPr indent="0" marL="0">
              <a:buNone/>
            </a:pPr>
            <a:r>
              <a:rPr lang="en-US" sz="2100" b="1" dirty="0">
                <a:solidFill>
                  <a:srgbClr val="D97757"/>
                </a:solidFill>
                <a:latin typeface="Cambria" pitchFamily="34" charset="0"/>
                <a:ea typeface="Cambria" pitchFamily="34" charset="-122"/>
                <a:cs typeface="Cambria" pitchFamily="34" charset="-120"/>
              </a:rPr>
              <a:t>21</a:t>
            </a:r>
            <a:endParaRPr lang="en-US" sz="2100" dirty="0"/>
          </a:p>
        </p:txBody>
      </p:sp>
      <p:sp>
        <p:nvSpPr>
          <p:cNvPr id="16" name="Text 13"/>
          <p:cNvSpPr/>
          <p:nvPr/>
        </p:nvSpPr>
        <p:spPr>
          <a:xfrm>
            <a:off x="9966960" y="3758184"/>
            <a:ext cx="1371600" cy="457200"/>
          </a:xfrm>
          <a:prstGeom prst="rect">
            <a:avLst/>
          </a:prstGeom>
          <a:noFill/>
          <a:ln/>
        </p:spPr>
        <p:txBody>
          <a:bodyPr wrap="square" lIns="0" tIns="0" rIns="0" bIns="0" rtlCol="0" anchor="ctr"/>
          <a:lstStyle/>
          <a:p>
            <a:pPr indent="0" marL="0">
              <a:lnSpc>
                <a:spcPct val="110000"/>
              </a:lnSpc>
              <a:buNone/>
            </a:pPr>
            <a:r>
              <a:rPr lang="en-US" sz="1000" dirty="0">
                <a:solidFill>
                  <a:srgbClr val="73716C"/>
                </a:solidFill>
                <a:latin typeface="Calibri" pitchFamily="34" charset="0"/>
                <a:ea typeface="Calibri" pitchFamily="34" charset="-122"/>
                <a:cs typeface="Calibri" pitchFamily="34" charset="-120"/>
              </a:rPr>
              <a:t>database</a:t>
            </a:r>
            <a:endParaRPr lang="en-US" sz="1000" dirty="0"/>
          </a:p>
          <a:p>
            <a:pPr indent="0" marL="0">
              <a:lnSpc>
                <a:spcPct val="110000"/>
              </a:lnSpc>
              <a:buNone/>
            </a:pPr>
            <a:r>
              <a:rPr lang="en-US" sz="1000" dirty="0">
                <a:solidFill>
                  <a:srgbClr val="73716C"/>
                </a:solidFill>
                <a:latin typeface="Calibri" pitchFamily="34" charset="0"/>
                <a:ea typeface="Calibri" pitchFamily="34" charset="-122"/>
                <a:cs typeface="Calibri" pitchFamily="34" charset="-120"/>
              </a:rPr>
              <a:t>tables</a:t>
            </a:r>
            <a:endParaRPr lang="en-US" sz="1000" dirty="0"/>
          </a:p>
        </p:txBody>
      </p:sp>
      <p:sp>
        <p:nvSpPr>
          <p:cNvPr id="17" name="Shape 14"/>
          <p:cNvSpPr/>
          <p:nvPr/>
        </p:nvSpPr>
        <p:spPr>
          <a:xfrm>
            <a:off x="8001000" y="4352544"/>
            <a:ext cx="1664208" cy="1024128"/>
          </a:xfrm>
          <a:prstGeom prst="roundRect">
            <a:avLst>
              <a:gd name="adj" fmla="val 8036"/>
            </a:avLst>
          </a:prstGeom>
          <a:solidFill>
            <a:srgbClr val="FAF9F5"/>
          </a:solidFill>
          <a:ln w="9525">
            <a:solidFill>
              <a:srgbClr val="DFDBD1"/>
            </a:solidFill>
            <a:prstDash val="solid"/>
          </a:ln>
        </p:spPr>
      </p:sp>
      <p:sp>
        <p:nvSpPr>
          <p:cNvPr id="18" name="Text 15"/>
          <p:cNvSpPr/>
          <p:nvPr/>
        </p:nvSpPr>
        <p:spPr>
          <a:xfrm>
            <a:off x="8183880" y="4398264"/>
            <a:ext cx="1371600" cy="475488"/>
          </a:xfrm>
          <a:prstGeom prst="rect">
            <a:avLst/>
          </a:prstGeom>
          <a:noFill/>
          <a:ln/>
        </p:spPr>
        <p:txBody>
          <a:bodyPr wrap="square" lIns="0" tIns="0" rIns="0" bIns="0" rtlCol="0" anchor="ctr"/>
          <a:lstStyle/>
          <a:p>
            <a:pPr indent="0" marL="0">
              <a:buNone/>
            </a:pPr>
            <a:r>
              <a:rPr lang="en-US" sz="2100" b="1" dirty="0">
                <a:solidFill>
                  <a:srgbClr val="D97757"/>
                </a:solidFill>
                <a:latin typeface="Cambria" pitchFamily="34" charset="0"/>
                <a:ea typeface="Cambria" pitchFamily="34" charset="-122"/>
                <a:cs typeface="Cambria" pitchFamily="34" charset="-120"/>
              </a:rPr>
              <a:t>59</a:t>
            </a:r>
            <a:endParaRPr lang="en-US" sz="2100" dirty="0"/>
          </a:p>
        </p:txBody>
      </p:sp>
      <p:sp>
        <p:nvSpPr>
          <p:cNvPr id="19" name="Text 16"/>
          <p:cNvSpPr/>
          <p:nvPr/>
        </p:nvSpPr>
        <p:spPr>
          <a:xfrm>
            <a:off x="8183880" y="4873752"/>
            <a:ext cx="1371600" cy="457200"/>
          </a:xfrm>
          <a:prstGeom prst="rect">
            <a:avLst/>
          </a:prstGeom>
          <a:noFill/>
          <a:ln/>
        </p:spPr>
        <p:txBody>
          <a:bodyPr wrap="square" lIns="0" tIns="0" rIns="0" bIns="0" rtlCol="0" anchor="ctr"/>
          <a:lstStyle/>
          <a:p>
            <a:pPr indent="0" marL="0">
              <a:lnSpc>
                <a:spcPct val="110000"/>
              </a:lnSpc>
              <a:buNone/>
            </a:pPr>
            <a:r>
              <a:rPr lang="en-US" sz="1000" dirty="0">
                <a:solidFill>
                  <a:srgbClr val="73716C"/>
                </a:solidFill>
                <a:latin typeface="Calibri" pitchFamily="34" charset="0"/>
                <a:ea typeface="Calibri" pitchFamily="34" charset="-122"/>
                <a:cs typeface="Calibri" pitchFamily="34" charset="-120"/>
              </a:rPr>
              <a:t>API</a:t>
            </a:r>
            <a:endParaRPr lang="en-US" sz="1000" dirty="0"/>
          </a:p>
          <a:p>
            <a:pPr indent="0" marL="0">
              <a:lnSpc>
                <a:spcPct val="110000"/>
              </a:lnSpc>
              <a:buNone/>
            </a:pPr>
            <a:r>
              <a:rPr lang="en-US" sz="1000" dirty="0">
                <a:solidFill>
                  <a:srgbClr val="73716C"/>
                </a:solidFill>
                <a:latin typeface="Calibri" pitchFamily="34" charset="0"/>
                <a:ea typeface="Calibri" pitchFamily="34" charset="-122"/>
                <a:cs typeface="Calibri" pitchFamily="34" charset="-120"/>
              </a:rPr>
              <a:t>endpoints</a:t>
            </a:r>
            <a:endParaRPr lang="en-US" sz="1000" dirty="0"/>
          </a:p>
        </p:txBody>
      </p:sp>
      <p:sp>
        <p:nvSpPr>
          <p:cNvPr id="20" name="Shape 17"/>
          <p:cNvSpPr/>
          <p:nvPr/>
        </p:nvSpPr>
        <p:spPr>
          <a:xfrm>
            <a:off x="9784080" y="4352544"/>
            <a:ext cx="1664208" cy="1024128"/>
          </a:xfrm>
          <a:prstGeom prst="roundRect">
            <a:avLst>
              <a:gd name="adj" fmla="val 8036"/>
            </a:avLst>
          </a:prstGeom>
          <a:solidFill>
            <a:srgbClr val="FAF9F5"/>
          </a:solidFill>
          <a:ln w="9525">
            <a:solidFill>
              <a:srgbClr val="DFDBD1"/>
            </a:solidFill>
            <a:prstDash val="solid"/>
          </a:ln>
        </p:spPr>
      </p:sp>
      <p:sp>
        <p:nvSpPr>
          <p:cNvPr id="21" name="Text 18"/>
          <p:cNvSpPr/>
          <p:nvPr/>
        </p:nvSpPr>
        <p:spPr>
          <a:xfrm>
            <a:off x="9966960" y="4398264"/>
            <a:ext cx="1371600" cy="475488"/>
          </a:xfrm>
          <a:prstGeom prst="rect">
            <a:avLst/>
          </a:prstGeom>
          <a:noFill/>
          <a:ln/>
        </p:spPr>
        <p:txBody>
          <a:bodyPr wrap="square" lIns="0" tIns="0" rIns="0" bIns="0" rtlCol="0" anchor="ctr"/>
          <a:lstStyle/>
          <a:p>
            <a:pPr indent="0" marL="0">
              <a:buNone/>
            </a:pPr>
            <a:r>
              <a:rPr lang="en-US" sz="2100" b="1" dirty="0">
                <a:solidFill>
                  <a:srgbClr val="D97757"/>
                </a:solidFill>
                <a:latin typeface="Cambria" pitchFamily="34" charset="0"/>
                <a:ea typeface="Cambria" pitchFamily="34" charset="-122"/>
                <a:cs typeface="Cambria" pitchFamily="34" charset="-120"/>
              </a:rPr>
              <a:t>4</a:t>
            </a:r>
            <a:endParaRPr lang="en-US" sz="2100" dirty="0"/>
          </a:p>
        </p:txBody>
      </p:sp>
      <p:sp>
        <p:nvSpPr>
          <p:cNvPr id="22" name="Text 19"/>
          <p:cNvSpPr/>
          <p:nvPr/>
        </p:nvSpPr>
        <p:spPr>
          <a:xfrm>
            <a:off x="9966960" y="4873752"/>
            <a:ext cx="1371600" cy="457200"/>
          </a:xfrm>
          <a:prstGeom prst="rect">
            <a:avLst/>
          </a:prstGeom>
          <a:noFill/>
          <a:ln/>
        </p:spPr>
        <p:txBody>
          <a:bodyPr wrap="square" lIns="0" tIns="0" rIns="0" bIns="0" rtlCol="0" anchor="ctr"/>
          <a:lstStyle/>
          <a:p>
            <a:pPr indent="0" marL="0">
              <a:lnSpc>
                <a:spcPct val="110000"/>
              </a:lnSpc>
              <a:buNone/>
            </a:pPr>
            <a:r>
              <a:rPr lang="en-US" sz="1000" dirty="0">
                <a:solidFill>
                  <a:srgbClr val="73716C"/>
                </a:solidFill>
                <a:latin typeface="Calibri" pitchFamily="34" charset="0"/>
                <a:ea typeface="Calibri" pitchFamily="34" charset="-122"/>
                <a:cs typeface="Calibri" pitchFamily="34" charset="-120"/>
              </a:rPr>
              <a:t>concurrent</a:t>
            </a:r>
            <a:endParaRPr lang="en-US" sz="1000" dirty="0"/>
          </a:p>
          <a:p>
            <a:pPr indent="0" marL="0">
              <a:lnSpc>
                <a:spcPct val="110000"/>
              </a:lnSpc>
              <a:buNone/>
            </a:pPr>
            <a:r>
              <a:rPr lang="en-US" sz="1000" dirty="0">
                <a:solidFill>
                  <a:srgbClr val="73716C"/>
                </a:solidFill>
                <a:latin typeface="Calibri" pitchFamily="34" charset="0"/>
                <a:ea typeface="Calibri" pitchFamily="34" charset="-122"/>
                <a:cs typeface="Calibri" pitchFamily="34" charset="-120"/>
              </a:rPr>
              <a:t>background loops</a:t>
            </a:r>
            <a:endParaRPr lang="en-US" sz="1000" dirty="0"/>
          </a:p>
        </p:txBody>
      </p:sp>
      <p:sp>
        <p:nvSpPr>
          <p:cNvPr id="23" name="Text 20"/>
          <p:cNvSpPr/>
          <p:nvPr/>
        </p:nvSpPr>
        <p:spPr>
          <a:xfrm>
            <a:off x="685800" y="5806440"/>
            <a:ext cx="10881360" cy="365760"/>
          </a:xfrm>
          <a:prstGeom prst="rect">
            <a:avLst/>
          </a:prstGeom>
          <a:noFill/>
          <a:ln/>
        </p:spPr>
        <p:txBody>
          <a:bodyPr wrap="square" lIns="0" tIns="0" rIns="0" bIns="0" rtlCol="0" anchor="ctr"/>
          <a:lstStyle/>
          <a:p>
            <a:pPr indent="0" marL="0">
              <a:buNone/>
            </a:pPr>
            <a:r>
              <a:rPr lang="en-US" sz="1700" b="1" dirty="0">
                <a:solidFill>
                  <a:srgbClr val="CC785C"/>
                </a:solidFill>
                <a:latin typeface="Cambria" pitchFamily="34" charset="0"/>
                <a:ea typeface="Cambria" pitchFamily="34" charset="-122"/>
                <a:cs typeface="Cambria" pitchFamily="34" charset="-120"/>
              </a:rPr>
              <a:t>Nothing here was scaffolded. Every subsystem was debugged into existence.</a:t>
            </a:r>
            <a:endParaRPr lang="en-US" sz="17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0EEE6"/>
        </a:solidFill>
      </p:bgPr>
    </p:bg>
    <p:spTree>
      <p:nvGrpSpPr>
        <p:cNvPr id="1" name=""/>
        <p:cNvGrpSpPr/>
        <p:nvPr/>
      </p:nvGrpSpPr>
      <p:grpSpPr>
        <a:xfrm>
          <a:off x="0" y="0"/>
          <a:ext cx="0" cy="0"/>
          <a:chOff x="0" y="0"/>
          <a:chExt cx="0" cy="0"/>
        </a:xfrm>
      </p:grpSpPr>
      <p:sp>
        <p:nvSpPr>
          <p:cNvPr id="2" name="Text 0"/>
          <p:cNvSpPr/>
          <p:nvPr/>
        </p:nvSpPr>
        <p:spPr>
          <a:xfrm>
            <a:off x="685800" y="457200"/>
            <a:ext cx="10881360" cy="1170432"/>
          </a:xfrm>
          <a:prstGeom prst="rect">
            <a:avLst/>
          </a:prstGeom>
          <a:noFill/>
          <a:ln/>
        </p:spPr>
        <p:txBody>
          <a:bodyPr wrap="square" lIns="0" tIns="0" rIns="0" bIns="0" rtlCol="0" anchor="ctr"/>
          <a:lstStyle/>
          <a:p>
            <a:pPr indent="0" marL="0">
              <a:buNone/>
            </a:pPr>
            <a:r>
              <a:rPr lang="en-US" sz="3100" b="1" dirty="0">
                <a:solidFill>
                  <a:srgbClr val="191919"/>
                </a:solidFill>
                <a:latin typeface="Cambria" pitchFamily="34" charset="0"/>
                <a:ea typeface="Cambria" pitchFamily="34" charset="-122"/>
                <a:cs typeface="Cambria" pitchFamily="34" charset="-120"/>
              </a:rPr>
              <a:t>A quarter of the codebase is tests.</a:t>
            </a:r>
            <a:endParaRPr lang="en-US" sz="3100" dirty="0"/>
          </a:p>
        </p:txBody>
      </p:sp>
      <p:sp>
        <p:nvSpPr>
          <p:cNvPr id="3" name="Text 1"/>
          <p:cNvSpPr/>
          <p:nvPr/>
        </p:nvSpPr>
        <p:spPr>
          <a:xfrm>
            <a:off x="685800" y="1682496"/>
            <a:ext cx="10881360" cy="292608"/>
          </a:xfrm>
          <a:prstGeom prst="rect">
            <a:avLst/>
          </a:prstGeom>
          <a:noFill/>
          <a:ln/>
        </p:spPr>
        <p:txBody>
          <a:bodyPr wrap="square" lIns="0" tIns="0" rIns="0" bIns="0" rtlCol="0" anchor="ctr"/>
          <a:lstStyle/>
          <a:p>
            <a:pPr indent="0" marL="0">
              <a:buNone/>
            </a:pPr>
            <a:r>
              <a:rPr lang="en-US" sz="1450" dirty="0">
                <a:solidFill>
                  <a:srgbClr val="73716C"/>
                </a:solidFill>
                <a:latin typeface="Calibri" pitchFamily="34" charset="0"/>
                <a:ea typeface="Calibri" pitchFamily="34" charset="-122"/>
                <a:cs typeface="Calibri" pitchFamily="34" charset="-120"/>
              </a:rPr>
              <a:t>And every invariant in the repository is written down beside the failure that produced it.</a:t>
            </a:r>
            <a:endParaRPr lang="en-US" sz="1450" dirty="0"/>
          </a:p>
        </p:txBody>
      </p:sp>
      <p:graphicFrame>
        <p:nvGraphicFramePr>
          <p:cNvPr id="4" name="Chart 0" descr=""/>
          <p:cNvGraphicFramePr/>
          <p:nvPr/>
        </p:nvGraphicFramePr>
        <p:xfrm>
          <a:off x="685800" y="2121408"/>
          <a:ext cx="4754880" cy="3291840"/>
        </p:xfrm>
        <a:graphic xmlns:a="http://schemas.openxmlformats.org/drawingml/2006/main">
          <a:graphicData uri="http://schemas.openxmlformats.org/drawingml/2006/chart">
            <c:chart xmlns:c="http://schemas.openxmlformats.org/drawingml/2006/chart" r:id="rId1"/>
          </a:graphicData>
        </a:graphic>
      </p:graphicFrame>
      <p:sp>
        <p:nvSpPr>
          <p:cNvPr id="5" name="Shape 2"/>
          <p:cNvSpPr/>
          <p:nvPr/>
        </p:nvSpPr>
        <p:spPr>
          <a:xfrm>
            <a:off x="5943600" y="2121408"/>
            <a:ext cx="5577840" cy="1024128"/>
          </a:xfrm>
          <a:prstGeom prst="roundRect">
            <a:avLst>
              <a:gd name="adj" fmla="val 8036"/>
            </a:avLst>
          </a:prstGeom>
          <a:solidFill>
            <a:srgbClr val="FAF9F5"/>
          </a:solidFill>
          <a:ln w="9525">
            <a:solidFill>
              <a:srgbClr val="DFDBD1"/>
            </a:solidFill>
            <a:prstDash val="solid"/>
          </a:ln>
          <a:effectLst>
            <a:outerShdw sx="100000" sy="100000" kx="0" ky="0" algn="bl" rotWithShape="0" blurRad="152400" dist="25400" dir="5400000">
              <a:srgbClr val="8C857A">
                <a:alpha val="16000"/>
              </a:srgbClr>
            </a:outerShdw>
          </a:effectLst>
        </p:spPr>
      </p:sp>
      <p:sp>
        <p:nvSpPr>
          <p:cNvPr id="6" name="Text 3"/>
          <p:cNvSpPr/>
          <p:nvPr/>
        </p:nvSpPr>
        <p:spPr>
          <a:xfrm>
            <a:off x="6217920" y="2121408"/>
            <a:ext cx="914400" cy="1024128"/>
          </a:xfrm>
          <a:prstGeom prst="rect">
            <a:avLst/>
          </a:prstGeom>
          <a:noFill/>
          <a:ln/>
        </p:spPr>
        <p:txBody>
          <a:bodyPr wrap="square" lIns="0" tIns="0" rIns="0" bIns="0" rtlCol="0" anchor="ctr"/>
          <a:lstStyle/>
          <a:p>
            <a:pPr algn="ctr" indent="0" marL="0">
              <a:buNone/>
            </a:pPr>
            <a:r>
              <a:rPr lang="en-US" sz="3000" b="1" dirty="0">
                <a:solidFill>
                  <a:srgbClr val="D97757"/>
                </a:solidFill>
                <a:latin typeface="Cambria" pitchFamily="34" charset="0"/>
                <a:ea typeface="Cambria" pitchFamily="34" charset="-122"/>
                <a:cs typeface="Cambria" pitchFamily="34" charset="-120"/>
              </a:rPr>
              <a:t>31</a:t>
            </a:r>
            <a:endParaRPr lang="en-US" sz="3000" dirty="0"/>
          </a:p>
        </p:txBody>
      </p:sp>
      <p:sp>
        <p:nvSpPr>
          <p:cNvPr id="7" name="Text 4"/>
          <p:cNvSpPr/>
          <p:nvPr/>
        </p:nvSpPr>
        <p:spPr>
          <a:xfrm>
            <a:off x="7178040" y="2121408"/>
            <a:ext cx="4114800" cy="1024128"/>
          </a:xfrm>
          <a:prstGeom prst="rect">
            <a:avLst/>
          </a:prstGeom>
          <a:noFill/>
          <a:ln/>
        </p:spPr>
        <p:txBody>
          <a:bodyPr wrap="square" lIns="0" tIns="0" rIns="0" bIns="0" rtlCol="0" anchor="ctr"/>
          <a:lstStyle/>
          <a:p>
            <a:pPr indent="0" marL="0">
              <a:lnSpc>
                <a:spcPct val="122000"/>
              </a:lnSpc>
              <a:buNone/>
            </a:pPr>
            <a:r>
              <a:rPr lang="en-US" sz="1150" dirty="0">
                <a:solidFill>
                  <a:srgbClr val="191919"/>
                </a:solidFill>
                <a:latin typeface="Calibri" pitchFamily="34" charset="0"/>
                <a:ea typeface="Calibri" pitchFamily="34" charset="-122"/>
                <a:cs typeface="Calibri" pitchFamily="34" charset="-120"/>
              </a:rPr>
              <a:t>invariants documented with the</a:t>
            </a:r>
            <a:endParaRPr lang="en-US" sz="1150" dirty="0"/>
          </a:p>
          <a:p>
            <a:pPr indent="0" marL="0">
              <a:lnSpc>
                <a:spcPct val="122000"/>
              </a:lnSpc>
              <a:buNone/>
            </a:pPr>
            <a:r>
              <a:rPr lang="en-US" sz="1150" dirty="0">
                <a:solidFill>
                  <a:srgbClr val="191919"/>
                </a:solidFill>
                <a:latin typeface="Calibri" pitchFamily="34" charset="0"/>
                <a:ea typeface="Calibri" pitchFamily="34" charset="-122"/>
                <a:cs typeface="Calibri" pitchFamily="34" charset="-120"/>
              </a:rPr>
              <a:t>bug that caused each one</a:t>
            </a:r>
            <a:endParaRPr lang="en-US" sz="1150" dirty="0"/>
          </a:p>
        </p:txBody>
      </p:sp>
      <p:sp>
        <p:nvSpPr>
          <p:cNvPr id="8" name="Shape 5"/>
          <p:cNvSpPr/>
          <p:nvPr/>
        </p:nvSpPr>
        <p:spPr>
          <a:xfrm>
            <a:off x="5943600" y="3236976"/>
            <a:ext cx="5577840" cy="1024128"/>
          </a:xfrm>
          <a:prstGeom prst="roundRect">
            <a:avLst>
              <a:gd name="adj" fmla="val 8036"/>
            </a:avLst>
          </a:prstGeom>
          <a:solidFill>
            <a:srgbClr val="FAF9F5"/>
          </a:solidFill>
          <a:ln w="9525">
            <a:solidFill>
              <a:srgbClr val="DFDBD1"/>
            </a:solidFill>
            <a:prstDash val="solid"/>
          </a:ln>
          <a:effectLst>
            <a:outerShdw sx="100000" sy="100000" kx="0" ky="0" algn="bl" rotWithShape="0" blurRad="152400" dist="25400" dir="5400000">
              <a:srgbClr val="8C857A">
                <a:alpha val="16000"/>
              </a:srgbClr>
            </a:outerShdw>
          </a:effectLst>
        </p:spPr>
      </p:sp>
      <p:sp>
        <p:nvSpPr>
          <p:cNvPr id="9" name="Text 6"/>
          <p:cNvSpPr/>
          <p:nvPr/>
        </p:nvSpPr>
        <p:spPr>
          <a:xfrm>
            <a:off x="6217920" y="3236976"/>
            <a:ext cx="914400" cy="1024128"/>
          </a:xfrm>
          <a:prstGeom prst="rect">
            <a:avLst/>
          </a:prstGeom>
          <a:noFill/>
          <a:ln/>
        </p:spPr>
        <p:txBody>
          <a:bodyPr wrap="square" lIns="0" tIns="0" rIns="0" bIns="0" rtlCol="0" anchor="ctr"/>
          <a:lstStyle/>
          <a:p>
            <a:pPr algn="ctr" indent="0" marL="0">
              <a:buNone/>
            </a:pPr>
            <a:r>
              <a:rPr lang="en-US" sz="3000" b="1" dirty="0">
                <a:solidFill>
                  <a:srgbClr val="D97757"/>
                </a:solidFill>
                <a:latin typeface="Cambria" pitchFamily="34" charset="0"/>
                <a:ea typeface="Cambria" pitchFamily="34" charset="-122"/>
                <a:cs typeface="Cambria" pitchFamily="34" charset="-120"/>
              </a:rPr>
              <a:t>9</a:t>
            </a:r>
            <a:endParaRPr lang="en-US" sz="3000" dirty="0"/>
          </a:p>
        </p:txBody>
      </p:sp>
      <p:sp>
        <p:nvSpPr>
          <p:cNvPr id="10" name="Text 7"/>
          <p:cNvSpPr/>
          <p:nvPr/>
        </p:nvSpPr>
        <p:spPr>
          <a:xfrm>
            <a:off x="7178040" y="3236976"/>
            <a:ext cx="4114800" cy="1024128"/>
          </a:xfrm>
          <a:prstGeom prst="rect">
            <a:avLst/>
          </a:prstGeom>
          <a:noFill/>
          <a:ln/>
        </p:spPr>
        <p:txBody>
          <a:bodyPr wrap="square" lIns="0" tIns="0" rIns="0" bIns="0" rtlCol="0" anchor="ctr"/>
          <a:lstStyle/>
          <a:p>
            <a:pPr indent="0" marL="0">
              <a:lnSpc>
                <a:spcPct val="122000"/>
              </a:lnSpc>
              <a:buNone/>
            </a:pPr>
            <a:r>
              <a:rPr lang="en-US" sz="1150" dirty="0">
                <a:solidFill>
                  <a:srgbClr val="191919"/>
                </a:solidFill>
                <a:latin typeface="Calibri" pitchFamily="34" charset="0"/>
                <a:ea typeface="Calibri" pitchFamily="34" charset="-122"/>
                <a:cs typeface="Calibri" pitchFamily="34" charset="-120"/>
              </a:rPr>
              <a:t>loops that swallow their own errors</a:t>
            </a:r>
            <a:endParaRPr lang="en-US" sz="1150" dirty="0"/>
          </a:p>
          <a:p>
            <a:pPr indent="0" marL="0">
              <a:lnSpc>
                <a:spcPct val="122000"/>
              </a:lnSpc>
              <a:buNone/>
            </a:pPr>
            <a:r>
              <a:rPr lang="en-US" sz="1150" dirty="0">
                <a:solidFill>
                  <a:srgbClr val="191919"/>
                </a:solidFill>
                <a:latin typeface="Calibri" pitchFamily="34" charset="0"/>
                <a:ea typeface="Calibri" pitchFamily="34" charset="-122"/>
                <a:cs typeface="Calibri" pitchFamily="34" charset="-120"/>
              </a:rPr>
              <a:t>so one dead integration costs one integration</a:t>
            </a:r>
            <a:endParaRPr lang="en-US" sz="1150" dirty="0"/>
          </a:p>
        </p:txBody>
      </p:sp>
      <p:sp>
        <p:nvSpPr>
          <p:cNvPr id="11" name="Shape 8"/>
          <p:cNvSpPr/>
          <p:nvPr/>
        </p:nvSpPr>
        <p:spPr>
          <a:xfrm>
            <a:off x="5943600" y="4352544"/>
            <a:ext cx="5577840" cy="1024128"/>
          </a:xfrm>
          <a:prstGeom prst="roundRect">
            <a:avLst>
              <a:gd name="adj" fmla="val 8036"/>
            </a:avLst>
          </a:prstGeom>
          <a:solidFill>
            <a:srgbClr val="FAF9F5"/>
          </a:solidFill>
          <a:ln w="9525">
            <a:solidFill>
              <a:srgbClr val="DFDBD1"/>
            </a:solidFill>
            <a:prstDash val="solid"/>
          </a:ln>
          <a:effectLst>
            <a:outerShdw sx="100000" sy="100000" kx="0" ky="0" algn="bl" rotWithShape="0" blurRad="152400" dist="25400" dir="5400000">
              <a:srgbClr val="8C857A">
                <a:alpha val="16000"/>
              </a:srgbClr>
            </a:outerShdw>
          </a:effectLst>
        </p:spPr>
      </p:sp>
      <p:sp>
        <p:nvSpPr>
          <p:cNvPr id="12" name="Text 9"/>
          <p:cNvSpPr/>
          <p:nvPr/>
        </p:nvSpPr>
        <p:spPr>
          <a:xfrm>
            <a:off x="6217920" y="4352544"/>
            <a:ext cx="914400" cy="1024128"/>
          </a:xfrm>
          <a:prstGeom prst="rect">
            <a:avLst/>
          </a:prstGeom>
          <a:noFill/>
          <a:ln/>
        </p:spPr>
        <p:txBody>
          <a:bodyPr wrap="square" lIns="0" tIns="0" rIns="0" bIns="0" rtlCol="0" anchor="ctr"/>
          <a:lstStyle/>
          <a:p>
            <a:pPr algn="ctr" indent="0" marL="0">
              <a:buNone/>
            </a:pPr>
            <a:r>
              <a:rPr lang="en-US" sz="3000" b="1" dirty="0">
                <a:solidFill>
                  <a:srgbClr val="D97757"/>
                </a:solidFill>
                <a:latin typeface="Cambria" pitchFamily="34" charset="0"/>
                <a:ea typeface="Cambria" pitchFamily="34" charset="-122"/>
                <a:cs typeface="Cambria" pitchFamily="34" charset="-120"/>
              </a:rPr>
              <a:t>4</a:t>
            </a:r>
            <a:endParaRPr lang="en-US" sz="3000" dirty="0"/>
          </a:p>
        </p:txBody>
      </p:sp>
      <p:sp>
        <p:nvSpPr>
          <p:cNvPr id="13" name="Text 10"/>
          <p:cNvSpPr/>
          <p:nvPr/>
        </p:nvSpPr>
        <p:spPr>
          <a:xfrm>
            <a:off x="7178040" y="4352544"/>
            <a:ext cx="4114800" cy="1024128"/>
          </a:xfrm>
          <a:prstGeom prst="rect">
            <a:avLst/>
          </a:prstGeom>
          <a:noFill/>
          <a:ln/>
        </p:spPr>
        <p:txBody>
          <a:bodyPr wrap="square" lIns="0" tIns="0" rIns="0" bIns="0" rtlCol="0" anchor="ctr"/>
          <a:lstStyle/>
          <a:p>
            <a:pPr indent="0" marL="0">
              <a:lnSpc>
                <a:spcPct val="122000"/>
              </a:lnSpc>
              <a:buNone/>
            </a:pPr>
            <a:r>
              <a:rPr lang="en-US" sz="1150" dirty="0">
                <a:solidFill>
                  <a:srgbClr val="191919"/>
                </a:solidFill>
                <a:latin typeface="Calibri" pitchFamily="34" charset="0"/>
                <a:ea typeface="Calibri" pitchFamily="34" charset="-122"/>
                <a:cs typeface="Calibri" pitchFamily="34" charset="-120"/>
              </a:rPr>
              <a:t>models read attacker-controlled text —</a:t>
            </a:r>
            <a:endParaRPr lang="en-US" sz="1150" dirty="0"/>
          </a:p>
          <a:p>
            <a:pPr indent="0" marL="0">
              <a:lnSpc>
                <a:spcPct val="122000"/>
              </a:lnSpc>
              <a:buNone/>
            </a:pPr>
            <a:r>
              <a:rPr lang="en-US" sz="1150" dirty="0">
                <a:solidFill>
                  <a:srgbClr val="191919"/>
                </a:solidFill>
                <a:latin typeface="Calibri" pitchFamily="34" charset="0"/>
                <a:ea typeface="Calibri" pitchFamily="34" charset="-122"/>
                <a:cs typeface="Calibri" pitchFamily="34" charset="-120"/>
              </a:rPr>
              <a:t>none of them has a single tool bound</a:t>
            </a:r>
            <a:endParaRPr lang="en-US" sz="1150" dirty="0"/>
          </a:p>
        </p:txBody>
      </p:sp>
      <p:sp>
        <p:nvSpPr>
          <p:cNvPr id="14" name="Text 11"/>
          <p:cNvSpPr/>
          <p:nvPr/>
        </p:nvSpPr>
        <p:spPr>
          <a:xfrm>
            <a:off x="685800" y="5806440"/>
            <a:ext cx="10881360" cy="365760"/>
          </a:xfrm>
          <a:prstGeom prst="rect">
            <a:avLst/>
          </a:prstGeom>
          <a:noFill/>
          <a:ln/>
        </p:spPr>
        <p:txBody>
          <a:bodyPr wrap="square" lIns="0" tIns="0" rIns="0" bIns="0" rtlCol="0" anchor="ctr"/>
          <a:lstStyle/>
          <a:p>
            <a:pPr indent="0" marL="0">
              <a:buNone/>
            </a:pPr>
            <a:r>
              <a:rPr lang="en-US" sz="1700" b="1" dirty="0">
                <a:solidFill>
                  <a:srgbClr val="CC785C"/>
                </a:solidFill>
                <a:latin typeface="Cambria" pitchFamily="34" charset="0"/>
                <a:ea typeface="Cambria" pitchFamily="34" charset="-122"/>
                <a:cs typeface="Cambria" pitchFamily="34" charset="-120"/>
              </a:rPr>
              <a:t>Almost none of these bugs announced themselves — they all looked like success.</a:t>
            </a:r>
            <a:endParaRPr lang="en-US" sz="17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1F1E1D"/>
        </a:solidFill>
      </p:bgPr>
    </p:bg>
    <p:spTree>
      <p:nvGrpSpPr>
        <p:cNvPr id="1" name=""/>
        <p:cNvGrpSpPr/>
        <p:nvPr/>
      </p:nvGrpSpPr>
      <p:grpSpPr>
        <a:xfrm>
          <a:off x="0" y="0"/>
          <a:ext cx="0" cy="0"/>
          <a:chOff x="0" y="0"/>
          <a:chExt cx="0" cy="0"/>
        </a:xfrm>
      </p:grpSpPr>
      <p:sp>
        <p:nvSpPr>
          <p:cNvPr id="2" name="Text 0"/>
          <p:cNvSpPr/>
          <p:nvPr/>
        </p:nvSpPr>
        <p:spPr>
          <a:xfrm>
            <a:off x="685800" y="457200"/>
            <a:ext cx="10881360" cy="1170432"/>
          </a:xfrm>
          <a:prstGeom prst="rect">
            <a:avLst/>
          </a:prstGeom>
          <a:noFill/>
          <a:ln/>
        </p:spPr>
        <p:txBody>
          <a:bodyPr wrap="square" lIns="0" tIns="0" rIns="0" bIns="0" rtlCol="0" anchor="ctr"/>
          <a:lstStyle/>
          <a:p>
            <a:pPr indent="0" marL="0">
              <a:buNone/>
            </a:pPr>
            <a:r>
              <a:rPr lang="en-US" sz="3100" b="1" dirty="0">
                <a:solidFill>
                  <a:srgbClr val="F5F3EE"/>
                </a:solidFill>
                <a:latin typeface="Cambria" pitchFamily="34" charset="0"/>
                <a:ea typeface="Cambria" pitchFamily="34" charset="-122"/>
                <a:cs typeface="Cambria" pitchFamily="34" charset="-120"/>
              </a:rPr>
              <a:t>The pipeline has now carried a ticket to sign-off on live services.</a:t>
            </a:r>
            <a:endParaRPr lang="en-US" sz="3100" dirty="0"/>
          </a:p>
        </p:txBody>
      </p:sp>
      <p:sp>
        <p:nvSpPr>
          <p:cNvPr id="3" name="Text 1"/>
          <p:cNvSpPr/>
          <p:nvPr/>
        </p:nvSpPr>
        <p:spPr>
          <a:xfrm>
            <a:off x="685800" y="1682496"/>
            <a:ext cx="10881360" cy="292608"/>
          </a:xfrm>
          <a:prstGeom prst="rect">
            <a:avLst/>
          </a:prstGeom>
          <a:noFill/>
          <a:ln/>
        </p:spPr>
        <p:txBody>
          <a:bodyPr wrap="square" lIns="0" tIns="0" rIns="0" bIns="0" rtlCol="0" anchor="ctr"/>
          <a:lstStyle/>
          <a:p>
            <a:pPr indent="0" marL="0">
              <a:buNone/>
            </a:pPr>
            <a:r>
              <a:rPr lang="en-US" sz="1450" dirty="0">
                <a:solidFill>
                  <a:srgbClr val="A8A49C"/>
                </a:solidFill>
                <a:latin typeface="Calibri" pitchFamily="34" charset="0"/>
                <a:ea typeface="Calibri" pitchFamily="34" charset="-122"/>
                <a:cs typeface="Calibri" pitchFamily="34" charset="-120"/>
              </a:rPr>
              <a:t>One work item, start to finish, against real GitHub, Slack, Gmail and Google Docs — not a fixture.</a:t>
            </a:r>
            <a:endParaRPr lang="en-US" sz="1450" dirty="0"/>
          </a:p>
        </p:txBody>
      </p:sp>
      <p:sp>
        <p:nvSpPr>
          <p:cNvPr id="4" name="Text 2"/>
          <p:cNvSpPr/>
          <p:nvPr/>
        </p:nvSpPr>
        <p:spPr>
          <a:xfrm>
            <a:off x="713232" y="2194560"/>
            <a:ext cx="384048" cy="384048"/>
          </a:xfrm>
          <a:prstGeom prst="ellipse">
            <a:avLst/>
          </a:prstGeom>
          <a:solidFill>
            <a:srgbClr val="D97757"/>
          </a:solidFill>
          <a:ln/>
        </p:spPr>
        <p:txBody>
          <a:bodyPr wrap="square" lIns="0" tIns="0" rIns="0" bIns="0" rtlCol="0" anchor="ctr"/>
          <a:lstStyle/>
          <a:p>
            <a:pPr algn="ctr" indent="0" marL="0">
              <a:buNone/>
            </a:pPr>
            <a:r>
              <a:rPr lang="en-US" sz="1200" b="1" dirty="0">
                <a:solidFill>
                  <a:srgbClr val="1F1E1D"/>
                </a:solidFill>
                <a:latin typeface="Calibri" pitchFamily="34" charset="0"/>
                <a:ea typeface="Calibri" pitchFamily="34" charset="-122"/>
                <a:cs typeface="Calibri" pitchFamily="34" charset="-120"/>
              </a:rPr>
              <a:t>1</a:t>
            </a:r>
            <a:endParaRPr lang="en-US" sz="1200" dirty="0"/>
          </a:p>
        </p:txBody>
      </p:sp>
      <p:sp>
        <p:nvSpPr>
          <p:cNvPr id="5" name="Text 3"/>
          <p:cNvSpPr/>
          <p:nvPr/>
        </p:nvSpPr>
        <p:spPr>
          <a:xfrm>
            <a:off x="1261872" y="2139696"/>
            <a:ext cx="3246120" cy="292608"/>
          </a:xfrm>
          <a:prstGeom prst="rect">
            <a:avLst/>
          </a:prstGeom>
          <a:noFill/>
          <a:ln/>
        </p:spPr>
        <p:txBody>
          <a:bodyPr wrap="square" lIns="0" tIns="0" rIns="0" bIns="0" rtlCol="0" anchor="ctr"/>
          <a:lstStyle/>
          <a:p>
            <a:pPr indent="0" marL="0">
              <a:buNone/>
            </a:pPr>
            <a:r>
              <a:rPr lang="en-US" sz="1300" b="1" dirty="0">
                <a:solidFill>
                  <a:srgbClr val="F5F3EE"/>
                </a:solidFill>
                <a:latin typeface="Calibri" pitchFamily="34" charset="0"/>
                <a:ea typeface="Calibri" pitchFamily="34" charset="-122"/>
                <a:cs typeface="Calibri" pitchFamily="34" charset="-120"/>
              </a:rPr>
              <a:t>Ticket assigned</a:t>
            </a:r>
            <a:endParaRPr lang="en-US" sz="1300" dirty="0"/>
          </a:p>
        </p:txBody>
      </p:sp>
      <p:sp>
        <p:nvSpPr>
          <p:cNvPr id="6" name="Text 4"/>
          <p:cNvSpPr/>
          <p:nvPr/>
        </p:nvSpPr>
        <p:spPr>
          <a:xfrm>
            <a:off x="1261872" y="2404872"/>
            <a:ext cx="5120640" cy="274320"/>
          </a:xfrm>
          <a:prstGeom prst="rect">
            <a:avLst/>
          </a:prstGeom>
          <a:noFill/>
          <a:ln/>
        </p:spPr>
        <p:txBody>
          <a:bodyPr wrap="square" lIns="0" tIns="0" rIns="0" bIns="0" rtlCol="0" anchor="ctr"/>
          <a:lstStyle/>
          <a:p>
            <a:pPr indent="0" marL="0">
              <a:buNone/>
            </a:pPr>
            <a:r>
              <a:rPr lang="en-US" sz="1050" dirty="0">
                <a:solidFill>
                  <a:srgbClr val="A8A49C"/>
                </a:solidFill>
                <a:latin typeface="Calibri" pitchFamily="34" charset="0"/>
                <a:ea typeface="Calibri" pitchFamily="34" charset="-122"/>
                <a:cs typeface="Calibri" pitchFamily="34" charset="-120"/>
              </a:rPr>
              <a:t>GitHub issue #1, one repository</a:t>
            </a:r>
            <a:endParaRPr lang="en-US" sz="1050" dirty="0"/>
          </a:p>
        </p:txBody>
      </p:sp>
      <p:sp>
        <p:nvSpPr>
          <p:cNvPr id="7" name="Text 5"/>
          <p:cNvSpPr/>
          <p:nvPr/>
        </p:nvSpPr>
        <p:spPr>
          <a:xfrm>
            <a:off x="713232" y="2862072"/>
            <a:ext cx="384048" cy="384048"/>
          </a:xfrm>
          <a:prstGeom prst="ellipse">
            <a:avLst/>
          </a:prstGeom>
          <a:solidFill>
            <a:srgbClr val="D97757"/>
          </a:solidFill>
          <a:ln/>
        </p:spPr>
        <p:txBody>
          <a:bodyPr wrap="square" lIns="0" tIns="0" rIns="0" bIns="0" rtlCol="0" anchor="ctr"/>
          <a:lstStyle/>
          <a:p>
            <a:pPr algn="ctr" indent="0" marL="0">
              <a:buNone/>
            </a:pPr>
            <a:r>
              <a:rPr lang="en-US" sz="1200" b="1" dirty="0">
                <a:solidFill>
                  <a:srgbClr val="1F1E1D"/>
                </a:solidFill>
                <a:latin typeface="Calibri" pitchFamily="34" charset="0"/>
                <a:ea typeface="Calibri" pitchFamily="34" charset="-122"/>
                <a:cs typeface="Calibri" pitchFamily="34" charset="-120"/>
              </a:rPr>
              <a:t>2</a:t>
            </a:r>
            <a:endParaRPr lang="en-US" sz="1200" dirty="0"/>
          </a:p>
        </p:txBody>
      </p:sp>
      <p:sp>
        <p:nvSpPr>
          <p:cNvPr id="8" name="Text 6"/>
          <p:cNvSpPr/>
          <p:nvPr/>
        </p:nvSpPr>
        <p:spPr>
          <a:xfrm>
            <a:off x="1261872" y="2807208"/>
            <a:ext cx="3246120" cy="292608"/>
          </a:xfrm>
          <a:prstGeom prst="rect">
            <a:avLst/>
          </a:prstGeom>
          <a:noFill/>
          <a:ln/>
        </p:spPr>
        <p:txBody>
          <a:bodyPr wrap="square" lIns="0" tIns="0" rIns="0" bIns="0" rtlCol="0" anchor="ctr"/>
          <a:lstStyle/>
          <a:p>
            <a:pPr indent="0" marL="0">
              <a:buNone/>
            </a:pPr>
            <a:r>
              <a:rPr lang="en-US" sz="1300" b="1" dirty="0">
                <a:solidFill>
                  <a:srgbClr val="F5F3EE"/>
                </a:solidFill>
                <a:latin typeface="Calibri" pitchFamily="34" charset="0"/>
                <a:ea typeface="Calibri" pitchFamily="34" charset="-122"/>
                <a:cs typeface="Calibri" pitchFamily="34" charset="-120"/>
              </a:rPr>
              <a:t>Agent wrote the code</a:t>
            </a:r>
            <a:endParaRPr lang="en-US" sz="1300" dirty="0"/>
          </a:p>
        </p:txBody>
      </p:sp>
      <p:sp>
        <p:nvSpPr>
          <p:cNvPr id="9" name="Text 7"/>
          <p:cNvSpPr/>
          <p:nvPr/>
        </p:nvSpPr>
        <p:spPr>
          <a:xfrm>
            <a:off x="1261872" y="3072384"/>
            <a:ext cx="5120640" cy="274320"/>
          </a:xfrm>
          <a:prstGeom prst="rect">
            <a:avLst/>
          </a:prstGeom>
          <a:noFill/>
          <a:ln/>
        </p:spPr>
        <p:txBody>
          <a:bodyPr wrap="square" lIns="0" tIns="0" rIns="0" bIns="0" rtlCol="0" anchor="ctr"/>
          <a:lstStyle/>
          <a:p>
            <a:pPr indent="0" marL="0">
              <a:buNone/>
            </a:pPr>
            <a:r>
              <a:rPr lang="en-US" sz="1050" dirty="0">
                <a:solidFill>
                  <a:srgbClr val="A8A49C"/>
                </a:solidFill>
                <a:latin typeface="Calibri" pitchFamily="34" charset="0"/>
                <a:ea typeface="Calibri" pitchFamily="34" charset="-122"/>
                <a:cs typeface="Calibri" pitchFamily="34" charset="-120"/>
              </a:rPr>
              <a:t>worktree cut from the local clone</a:t>
            </a:r>
            <a:endParaRPr lang="en-US" sz="1050" dirty="0"/>
          </a:p>
        </p:txBody>
      </p:sp>
      <p:sp>
        <p:nvSpPr>
          <p:cNvPr id="10" name="Text 8"/>
          <p:cNvSpPr/>
          <p:nvPr/>
        </p:nvSpPr>
        <p:spPr>
          <a:xfrm>
            <a:off x="4617720" y="2807208"/>
            <a:ext cx="822960" cy="292608"/>
          </a:xfrm>
          <a:prstGeom prst="rect">
            <a:avLst/>
          </a:prstGeom>
          <a:noFill/>
          <a:ln/>
        </p:spPr>
        <p:txBody>
          <a:bodyPr wrap="square" lIns="0" tIns="0" rIns="0" bIns="0" rtlCol="0" anchor="ctr"/>
          <a:lstStyle/>
          <a:p>
            <a:pPr indent="0" marL="0">
              <a:buNone/>
            </a:pPr>
            <a:r>
              <a:rPr lang="en-US" sz="1300" b="1" dirty="0">
                <a:solidFill>
                  <a:srgbClr val="D4A27F"/>
                </a:solidFill>
                <a:latin typeface="Cambria" pitchFamily="34" charset="0"/>
                <a:ea typeface="Cambria" pitchFamily="34" charset="-122"/>
                <a:cs typeface="Cambria" pitchFamily="34" charset="-120"/>
              </a:rPr>
              <a:t>106s</a:t>
            </a:r>
            <a:endParaRPr lang="en-US" sz="1300" dirty="0"/>
          </a:p>
        </p:txBody>
      </p:sp>
      <p:sp>
        <p:nvSpPr>
          <p:cNvPr id="11" name="Text 9"/>
          <p:cNvSpPr/>
          <p:nvPr/>
        </p:nvSpPr>
        <p:spPr>
          <a:xfrm>
            <a:off x="713232" y="3529584"/>
            <a:ext cx="384048" cy="384048"/>
          </a:xfrm>
          <a:prstGeom prst="ellipse">
            <a:avLst/>
          </a:prstGeom>
          <a:solidFill>
            <a:srgbClr val="D97757"/>
          </a:solidFill>
          <a:ln/>
        </p:spPr>
        <p:txBody>
          <a:bodyPr wrap="square" lIns="0" tIns="0" rIns="0" bIns="0" rtlCol="0" anchor="ctr"/>
          <a:lstStyle/>
          <a:p>
            <a:pPr algn="ctr" indent="0" marL="0">
              <a:buNone/>
            </a:pPr>
            <a:r>
              <a:rPr lang="en-US" sz="1200" b="1" dirty="0">
                <a:solidFill>
                  <a:srgbClr val="1F1E1D"/>
                </a:solidFill>
                <a:latin typeface="Calibri" pitchFamily="34" charset="0"/>
                <a:ea typeface="Calibri" pitchFamily="34" charset="-122"/>
                <a:cs typeface="Calibri" pitchFamily="34" charset="-120"/>
              </a:rPr>
              <a:t>3</a:t>
            </a:r>
            <a:endParaRPr lang="en-US" sz="1200" dirty="0"/>
          </a:p>
        </p:txBody>
      </p:sp>
      <p:sp>
        <p:nvSpPr>
          <p:cNvPr id="12" name="Text 10"/>
          <p:cNvSpPr/>
          <p:nvPr/>
        </p:nvSpPr>
        <p:spPr>
          <a:xfrm>
            <a:off x="1261872" y="3474720"/>
            <a:ext cx="3246120" cy="292608"/>
          </a:xfrm>
          <a:prstGeom prst="rect">
            <a:avLst/>
          </a:prstGeom>
          <a:noFill/>
          <a:ln/>
        </p:spPr>
        <p:txBody>
          <a:bodyPr wrap="square" lIns="0" tIns="0" rIns="0" bIns="0" rtlCol="0" anchor="ctr"/>
          <a:lstStyle/>
          <a:p>
            <a:pPr indent="0" marL="0">
              <a:buNone/>
            </a:pPr>
            <a:r>
              <a:rPr lang="en-US" sz="1300" b="1" dirty="0">
                <a:solidFill>
                  <a:srgbClr val="F5F3EE"/>
                </a:solidFill>
                <a:latin typeface="Calibri" pitchFamily="34" charset="0"/>
                <a:ea typeface="Calibri" pitchFamily="34" charset="-122"/>
                <a:cs typeface="Calibri" pitchFamily="34" charset="-120"/>
              </a:rPr>
              <a:t>Pull request opened</a:t>
            </a:r>
            <a:endParaRPr lang="en-US" sz="1300" dirty="0"/>
          </a:p>
        </p:txBody>
      </p:sp>
      <p:sp>
        <p:nvSpPr>
          <p:cNvPr id="13" name="Text 11"/>
          <p:cNvSpPr/>
          <p:nvPr/>
        </p:nvSpPr>
        <p:spPr>
          <a:xfrm>
            <a:off x="1261872" y="3739896"/>
            <a:ext cx="5120640" cy="274320"/>
          </a:xfrm>
          <a:prstGeom prst="rect">
            <a:avLst/>
          </a:prstGeom>
          <a:noFill/>
          <a:ln/>
        </p:spPr>
        <p:txBody>
          <a:bodyPr wrap="square" lIns="0" tIns="0" rIns="0" bIns="0" rtlCol="0" anchor="ctr"/>
          <a:lstStyle/>
          <a:p>
            <a:pPr indent="0" marL="0">
              <a:buNone/>
            </a:pPr>
            <a:r>
              <a:rPr lang="en-US" sz="1050" dirty="0">
                <a:solidFill>
                  <a:srgbClr val="A8A49C"/>
                </a:solidFill>
                <a:latin typeface="Calibri" pitchFamily="34" charset="0"/>
                <a:ea typeface="Calibri" pitchFamily="34" charset="-122"/>
                <a:cs typeface="Calibri" pitchFamily="34" charset="-120"/>
              </a:rPr>
              <a:t>3 files, +161 lines, machine-authored banner</a:t>
            </a:r>
            <a:endParaRPr lang="en-US" sz="1050" dirty="0"/>
          </a:p>
        </p:txBody>
      </p:sp>
      <p:sp>
        <p:nvSpPr>
          <p:cNvPr id="14" name="Text 12"/>
          <p:cNvSpPr/>
          <p:nvPr/>
        </p:nvSpPr>
        <p:spPr>
          <a:xfrm>
            <a:off x="713232" y="4197096"/>
            <a:ext cx="384048" cy="384048"/>
          </a:xfrm>
          <a:prstGeom prst="ellipse">
            <a:avLst/>
          </a:prstGeom>
          <a:solidFill>
            <a:srgbClr val="D97757"/>
          </a:solidFill>
          <a:ln/>
        </p:spPr>
        <p:txBody>
          <a:bodyPr wrap="square" lIns="0" tIns="0" rIns="0" bIns="0" rtlCol="0" anchor="ctr"/>
          <a:lstStyle/>
          <a:p>
            <a:pPr algn="ctr" indent="0" marL="0">
              <a:buNone/>
            </a:pPr>
            <a:r>
              <a:rPr lang="en-US" sz="1200" b="1" dirty="0">
                <a:solidFill>
                  <a:srgbClr val="1F1E1D"/>
                </a:solidFill>
                <a:latin typeface="Calibri" pitchFamily="34" charset="0"/>
                <a:ea typeface="Calibri" pitchFamily="34" charset="-122"/>
                <a:cs typeface="Calibri" pitchFamily="34" charset="-120"/>
              </a:rPr>
              <a:t>4</a:t>
            </a:r>
            <a:endParaRPr lang="en-US" sz="1200" dirty="0"/>
          </a:p>
        </p:txBody>
      </p:sp>
      <p:sp>
        <p:nvSpPr>
          <p:cNvPr id="15" name="Text 13"/>
          <p:cNvSpPr/>
          <p:nvPr/>
        </p:nvSpPr>
        <p:spPr>
          <a:xfrm>
            <a:off x="1261872" y="4142232"/>
            <a:ext cx="3246120" cy="292608"/>
          </a:xfrm>
          <a:prstGeom prst="rect">
            <a:avLst/>
          </a:prstGeom>
          <a:noFill/>
          <a:ln/>
        </p:spPr>
        <p:txBody>
          <a:bodyPr wrap="square" lIns="0" tIns="0" rIns="0" bIns="0" rtlCol="0" anchor="ctr"/>
          <a:lstStyle/>
          <a:p>
            <a:pPr indent="0" marL="0">
              <a:buNone/>
            </a:pPr>
            <a:r>
              <a:rPr lang="en-US" sz="1300" b="1" dirty="0">
                <a:solidFill>
                  <a:srgbClr val="F5F3EE"/>
                </a:solidFill>
                <a:latin typeface="Calibri" pitchFamily="34" charset="0"/>
                <a:ea typeface="Calibri" pitchFamily="34" charset="-122"/>
                <a:cs typeface="Calibri" pitchFamily="34" charset="-120"/>
              </a:rPr>
              <a:t>Analysed on local models</a:t>
            </a:r>
            <a:endParaRPr lang="en-US" sz="1300" dirty="0"/>
          </a:p>
        </p:txBody>
      </p:sp>
      <p:sp>
        <p:nvSpPr>
          <p:cNvPr id="16" name="Text 14"/>
          <p:cNvSpPr/>
          <p:nvPr/>
        </p:nvSpPr>
        <p:spPr>
          <a:xfrm>
            <a:off x="1261872" y="4407408"/>
            <a:ext cx="5120640" cy="274320"/>
          </a:xfrm>
          <a:prstGeom prst="rect">
            <a:avLst/>
          </a:prstGeom>
          <a:noFill/>
          <a:ln/>
        </p:spPr>
        <p:txBody>
          <a:bodyPr wrap="square" lIns="0" tIns="0" rIns="0" bIns="0" rtlCol="0" anchor="ctr"/>
          <a:lstStyle/>
          <a:p>
            <a:pPr indent="0" marL="0">
              <a:buNone/>
            </a:pPr>
            <a:r>
              <a:rPr lang="en-US" sz="1050" dirty="0">
                <a:solidFill>
                  <a:srgbClr val="A8A49C"/>
                </a:solidFill>
                <a:latin typeface="Calibri" pitchFamily="34" charset="0"/>
                <a:ea typeface="Calibri" pitchFamily="34" charset="-122"/>
                <a:cs typeface="Calibri" pitchFamily="34" charset="-120"/>
              </a:rPr>
              <a:t>security scan and code review, no cloud call</a:t>
            </a:r>
            <a:endParaRPr lang="en-US" sz="1050" dirty="0"/>
          </a:p>
        </p:txBody>
      </p:sp>
      <p:sp>
        <p:nvSpPr>
          <p:cNvPr id="17" name="Text 15"/>
          <p:cNvSpPr/>
          <p:nvPr/>
        </p:nvSpPr>
        <p:spPr>
          <a:xfrm>
            <a:off x="713232" y="4864608"/>
            <a:ext cx="384048" cy="384048"/>
          </a:xfrm>
          <a:prstGeom prst="ellipse">
            <a:avLst/>
          </a:prstGeom>
          <a:solidFill>
            <a:srgbClr val="D97757"/>
          </a:solidFill>
          <a:ln/>
        </p:spPr>
        <p:txBody>
          <a:bodyPr wrap="square" lIns="0" tIns="0" rIns="0" bIns="0" rtlCol="0" anchor="ctr"/>
          <a:lstStyle/>
          <a:p>
            <a:pPr algn="ctr" indent="0" marL="0">
              <a:buNone/>
            </a:pPr>
            <a:r>
              <a:rPr lang="en-US" sz="1200" b="1" dirty="0">
                <a:solidFill>
                  <a:srgbClr val="1F1E1D"/>
                </a:solidFill>
                <a:latin typeface="Calibri" pitchFamily="34" charset="0"/>
                <a:ea typeface="Calibri" pitchFamily="34" charset="-122"/>
                <a:cs typeface="Calibri" pitchFamily="34" charset="-120"/>
              </a:rPr>
              <a:t>5</a:t>
            </a:r>
            <a:endParaRPr lang="en-US" sz="1200" dirty="0"/>
          </a:p>
        </p:txBody>
      </p:sp>
      <p:sp>
        <p:nvSpPr>
          <p:cNvPr id="18" name="Text 16"/>
          <p:cNvSpPr/>
          <p:nvPr/>
        </p:nvSpPr>
        <p:spPr>
          <a:xfrm>
            <a:off x="1261872" y="4809744"/>
            <a:ext cx="3246120" cy="292608"/>
          </a:xfrm>
          <a:prstGeom prst="rect">
            <a:avLst/>
          </a:prstGeom>
          <a:noFill/>
          <a:ln/>
        </p:spPr>
        <p:txBody>
          <a:bodyPr wrap="square" lIns="0" tIns="0" rIns="0" bIns="0" rtlCol="0" anchor="ctr"/>
          <a:lstStyle/>
          <a:p>
            <a:pPr indent="0" marL="0">
              <a:buNone/>
            </a:pPr>
            <a:r>
              <a:rPr lang="en-US" sz="1300" b="1" dirty="0">
                <a:solidFill>
                  <a:srgbClr val="F5F3EE"/>
                </a:solidFill>
                <a:latin typeface="Calibri" pitchFamily="34" charset="0"/>
                <a:ea typeface="Calibri" pitchFamily="34" charset="-122"/>
                <a:cs typeface="Calibri" pitchFamily="34" charset="-120"/>
              </a:rPr>
              <a:t>Reviewed and merged</a:t>
            </a:r>
            <a:endParaRPr lang="en-US" sz="1300" dirty="0"/>
          </a:p>
        </p:txBody>
      </p:sp>
      <p:sp>
        <p:nvSpPr>
          <p:cNvPr id="19" name="Text 17"/>
          <p:cNvSpPr/>
          <p:nvPr/>
        </p:nvSpPr>
        <p:spPr>
          <a:xfrm>
            <a:off x="1261872" y="5074920"/>
            <a:ext cx="5120640" cy="274320"/>
          </a:xfrm>
          <a:prstGeom prst="rect">
            <a:avLst/>
          </a:prstGeom>
          <a:noFill/>
          <a:ln/>
        </p:spPr>
        <p:txBody>
          <a:bodyPr wrap="square" lIns="0" tIns="0" rIns="0" bIns="0" rtlCol="0" anchor="ctr"/>
          <a:lstStyle/>
          <a:p>
            <a:pPr indent="0" marL="0">
              <a:buNone/>
            </a:pPr>
            <a:r>
              <a:rPr lang="en-US" sz="1050" dirty="0">
                <a:solidFill>
                  <a:srgbClr val="A8A49C"/>
                </a:solidFill>
                <a:latin typeface="Calibri" pitchFamily="34" charset="0"/>
                <a:ea typeface="Calibri" pitchFamily="34" charset="-122"/>
                <a:cs typeface="Calibri" pitchFamily="34" charset="-120"/>
              </a:rPr>
              <a:t>human approval — the agent cannot approve itself</a:t>
            </a:r>
            <a:endParaRPr lang="en-US" sz="1050" dirty="0"/>
          </a:p>
        </p:txBody>
      </p:sp>
      <p:sp>
        <p:nvSpPr>
          <p:cNvPr id="20" name="Text 18"/>
          <p:cNvSpPr/>
          <p:nvPr/>
        </p:nvSpPr>
        <p:spPr>
          <a:xfrm>
            <a:off x="713232" y="5532120"/>
            <a:ext cx="384048" cy="384048"/>
          </a:xfrm>
          <a:prstGeom prst="ellipse">
            <a:avLst/>
          </a:prstGeom>
          <a:solidFill>
            <a:srgbClr val="D97757"/>
          </a:solidFill>
          <a:ln/>
        </p:spPr>
        <p:txBody>
          <a:bodyPr wrap="square" lIns="0" tIns="0" rIns="0" bIns="0" rtlCol="0" anchor="ctr"/>
          <a:lstStyle/>
          <a:p>
            <a:pPr algn="ctr" indent="0" marL="0">
              <a:buNone/>
            </a:pPr>
            <a:r>
              <a:rPr lang="en-US" sz="1200" b="1" dirty="0">
                <a:solidFill>
                  <a:srgbClr val="1F1E1D"/>
                </a:solidFill>
                <a:latin typeface="Calibri" pitchFamily="34" charset="0"/>
                <a:ea typeface="Calibri" pitchFamily="34" charset="-122"/>
                <a:cs typeface="Calibri" pitchFamily="34" charset="-120"/>
              </a:rPr>
              <a:t>6</a:t>
            </a:r>
            <a:endParaRPr lang="en-US" sz="1200" dirty="0"/>
          </a:p>
        </p:txBody>
      </p:sp>
      <p:sp>
        <p:nvSpPr>
          <p:cNvPr id="21" name="Text 19"/>
          <p:cNvSpPr/>
          <p:nvPr/>
        </p:nvSpPr>
        <p:spPr>
          <a:xfrm>
            <a:off x="1261872" y="5477256"/>
            <a:ext cx="3246120" cy="292608"/>
          </a:xfrm>
          <a:prstGeom prst="rect">
            <a:avLst/>
          </a:prstGeom>
          <a:noFill/>
          <a:ln/>
        </p:spPr>
        <p:txBody>
          <a:bodyPr wrap="square" lIns="0" tIns="0" rIns="0" bIns="0" rtlCol="0" anchor="ctr"/>
          <a:lstStyle/>
          <a:p>
            <a:pPr indent="0" marL="0">
              <a:buNone/>
            </a:pPr>
            <a:r>
              <a:rPr lang="en-US" sz="1300" b="1" dirty="0">
                <a:solidFill>
                  <a:srgbClr val="F5F3EE"/>
                </a:solidFill>
                <a:latin typeface="Calibri" pitchFamily="34" charset="0"/>
                <a:ea typeface="Calibri" pitchFamily="34" charset="-122"/>
                <a:cs typeface="Calibri" pitchFamily="34" charset="-120"/>
              </a:rPr>
              <a:t>Testing team signed off</a:t>
            </a:r>
            <a:endParaRPr lang="en-US" sz="1300" dirty="0"/>
          </a:p>
        </p:txBody>
      </p:sp>
      <p:sp>
        <p:nvSpPr>
          <p:cNvPr id="22" name="Text 20"/>
          <p:cNvSpPr/>
          <p:nvPr/>
        </p:nvSpPr>
        <p:spPr>
          <a:xfrm>
            <a:off x="1261872" y="5742432"/>
            <a:ext cx="5120640" cy="274320"/>
          </a:xfrm>
          <a:prstGeom prst="rect">
            <a:avLst/>
          </a:prstGeom>
          <a:noFill/>
          <a:ln/>
        </p:spPr>
        <p:txBody>
          <a:bodyPr wrap="square" lIns="0" tIns="0" rIns="0" bIns="0" rtlCol="0" anchor="ctr"/>
          <a:lstStyle/>
          <a:p>
            <a:pPr indent="0" marL="0">
              <a:buNone/>
            </a:pPr>
            <a:r>
              <a:rPr lang="en-US" sz="1050" dirty="0">
                <a:solidFill>
                  <a:srgbClr val="A8A49C"/>
                </a:solidFill>
                <a:latin typeface="Calibri" pitchFamily="34" charset="0"/>
                <a:ea typeface="Calibri" pitchFamily="34" charset="-122"/>
                <a:cs typeface="Calibri" pitchFamily="34" charset="-120"/>
              </a:rPr>
              <a:t>brief sent, tester replied, ticket closed</a:t>
            </a:r>
            <a:endParaRPr lang="en-US" sz="1050" dirty="0"/>
          </a:p>
        </p:txBody>
      </p:sp>
      <p:sp>
        <p:nvSpPr>
          <p:cNvPr id="23" name="Shape 21"/>
          <p:cNvSpPr/>
          <p:nvPr/>
        </p:nvSpPr>
        <p:spPr>
          <a:xfrm>
            <a:off x="6903720" y="2084832"/>
            <a:ext cx="4599432" cy="3310128"/>
          </a:xfrm>
          <a:prstGeom prst="roundRect">
            <a:avLst>
              <a:gd name="adj" fmla="val 2486"/>
            </a:avLst>
          </a:prstGeom>
          <a:solidFill>
            <a:srgbClr val="2A2826"/>
          </a:solidFill>
          <a:ln w="12700">
            <a:solidFill>
              <a:srgbClr val="D97757"/>
            </a:solidFill>
            <a:prstDash val="solid"/>
          </a:ln>
        </p:spPr>
      </p:sp>
      <p:sp>
        <p:nvSpPr>
          <p:cNvPr id="24" name="Text 22"/>
          <p:cNvSpPr/>
          <p:nvPr/>
        </p:nvSpPr>
        <p:spPr>
          <a:xfrm>
            <a:off x="7223760" y="2340864"/>
            <a:ext cx="4023360" cy="237744"/>
          </a:xfrm>
          <a:prstGeom prst="rect">
            <a:avLst/>
          </a:prstGeom>
          <a:noFill/>
          <a:ln/>
        </p:spPr>
        <p:txBody>
          <a:bodyPr wrap="square" lIns="0" tIns="0" rIns="0" bIns="0" rtlCol="0" anchor="ctr"/>
          <a:lstStyle/>
          <a:p>
            <a:pPr indent="0" marL="0">
              <a:buNone/>
            </a:pPr>
            <a:r>
              <a:rPr lang="en-US" sz="1050" b="1" spc="240" kern="0" dirty="0">
                <a:solidFill>
                  <a:srgbClr val="D97757"/>
                </a:solidFill>
                <a:latin typeface="Calibri" pitchFamily="34" charset="0"/>
                <a:ea typeface="Calibri" pitchFamily="34" charset="-122"/>
                <a:cs typeface="Calibri" pitchFamily="34" charset="-120"/>
              </a:rPr>
              <a:t>THE STEP THAT PROVES THE DESIGN</a:t>
            </a:r>
            <a:endParaRPr lang="en-US" sz="1050" dirty="0"/>
          </a:p>
        </p:txBody>
      </p:sp>
      <p:sp>
        <p:nvSpPr>
          <p:cNvPr id="25" name="Text 23"/>
          <p:cNvSpPr/>
          <p:nvPr/>
        </p:nvSpPr>
        <p:spPr>
          <a:xfrm>
            <a:off x="7242048" y="2761488"/>
            <a:ext cx="3977640" cy="2468880"/>
          </a:xfrm>
          <a:prstGeom prst="rect">
            <a:avLst/>
          </a:prstGeom>
          <a:noFill/>
          <a:ln/>
        </p:spPr>
        <p:txBody>
          <a:bodyPr wrap="square" lIns="0" tIns="0" rIns="0" bIns="0" rtlCol="0" anchor="ctr"/>
          <a:lstStyle/>
          <a:p>
            <a:pPr indent="0" marL="0">
              <a:lnSpc>
                <a:spcPct val="118000"/>
              </a:lnSpc>
              <a:buNone/>
            </a:pPr>
            <a:r>
              <a:rPr lang="en-US" sz="1150" b="1" dirty="0">
                <a:solidFill>
                  <a:srgbClr val="F5F3EE"/>
                </a:solidFill>
                <a:latin typeface="Calibri" pitchFamily="34" charset="0"/>
                <a:ea typeface="Calibri" pitchFamily="34" charset="-122"/>
                <a:cs typeface="Calibri" pitchFamily="34" charset="-120"/>
              </a:rPr>
              <a:t>Merged</a:t>
            </a:r>
            <a:endParaRPr lang="en-US" sz="1150" dirty="0"/>
          </a:p>
          <a:p>
            <a:pPr indent="0" marL="0">
              <a:lnSpc>
                <a:spcPct val="118000"/>
              </a:lnSpc>
              <a:buNone/>
            </a:pPr>
            <a:r>
              <a:rPr lang="en-US" sz="1150" dirty="0">
                <a:solidFill>
                  <a:srgbClr val="A8A49C"/>
                </a:solidFill>
                <a:latin typeface="Calibri" pitchFamily="34" charset="0"/>
                <a:ea typeface="Calibri" pitchFamily="34" charset="-122"/>
                <a:cs typeface="Calibri" pitchFamily="34" charset="-120"/>
              </a:rPr>
              <a:t>GitHub closed the ticket automatically.
</a:t>
            </a:r>
            <a:endParaRPr lang="en-US" sz="1150" dirty="0"/>
          </a:p>
          <a:p>
            <a:pPr indent="0" marL="0">
              <a:lnSpc>
                <a:spcPct val="118000"/>
              </a:lnSpc>
              <a:buNone/>
            </a:pPr>
            <a:r>
              <a:rPr lang="en-US" sz="1150" b="1" dirty="0">
                <a:solidFill>
                  <a:srgbClr val="D97757"/>
                </a:solidFill>
                <a:latin typeface="Calibri" pitchFamily="34" charset="0"/>
                <a:ea typeface="Calibri" pitchFamily="34" charset="-122"/>
                <a:cs typeface="Calibri" pitchFamily="34" charset="-120"/>
              </a:rPr>
              <a:t>Reopened, 2 minutes later</a:t>
            </a:r>
            <a:endParaRPr lang="en-US" sz="1150" dirty="0"/>
          </a:p>
          <a:p>
            <a:pPr indent="0" marL="0">
              <a:lnSpc>
                <a:spcPct val="118000"/>
              </a:lnSpc>
              <a:buNone/>
            </a:pPr>
            <a:r>
              <a:rPr lang="en-US" sz="1150" dirty="0">
                <a:solidFill>
                  <a:srgbClr val="A8A49C"/>
                </a:solidFill>
                <a:latin typeface="Calibri" pitchFamily="34" charset="0"/>
                <a:ea typeface="Calibri" pitchFamily="34" charset="-122"/>
                <a:cs typeface="Calibri" pitchFamily="34" charset="-120"/>
              </a:rPr>
              <a:t>This repository closes on QA sign-off, not at merge — so Locus put it back.
</a:t>
            </a:r>
            <a:endParaRPr lang="en-US" sz="1150" dirty="0"/>
          </a:p>
          <a:p>
            <a:pPr indent="0" marL="0">
              <a:lnSpc>
                <a:spcPct val="118000"/>
              </a:lnSpc>
              <a:buNone/>
            </a:pPr>
            <a:r>
              <a:rPr lang="en-US" sz="1150" b="1" dirty="0">
                <a:solidFill>
                  <a:srgbClr val="F5F3EE"/>
                </a:solidFill>
                <a:latin typeface="Calibri" pitchFamily="34" charset="0"/>
                <a:ea typeface="Calibri" pitchFamily="34" charset="-122"/>
                <a:cs typeface="Calibri" pitchFamily="34" charset="-120"/>
              </a:rPr>
              <a:t>Signed off</a:t>
            </a:r>
            <a:endParaRPr lang="en-US" sz="1150" dirty="0"/>
          </a:p>
          <a:p>
            <a:pPr indent="0" marL="0">
              <a:lnSpc>
                <a:spcPct val="118000"/>
              </a:lnSpc>
              <a:buNone/>
            </a:pPr>
            <a:r>
              <a:rPr lang="en-US" sz="1150" dirty="0">
                <a:solidFill>
                  <a:srgbClr val="A8A49C"/>
                </a:solidFill>
                <a:latin typeface="Calibri" pitchFamily="34" charset="0"/>
                <a:ea typeface="Calibri" pitchFamily="34" charset="-122"/>
                <a:cs typeface="Calibri" pitchFamily="34" charset="-120"/>
              </a:rPr>
              <a:t>The tester replied. Only then did it close.</a:t>
            </a:r>
            <a:endParaRPr lang="en-US" sz="1150" dirty="0"/>
          </a:p>
        </p:txBody>
      </p:sp>
      <p:sp>
        <p:nvSpPr>
          <p:cNvPr id="26" name="Text 24"/>
          <p:cNvSpPr/>
          <p:nvPr/>
        </p:nvSpPr>
        <p:spPr>
          <a:xfrm>
            <a:off x="685800" y="5870448"/>
            <a:ext cx="10881360" cy="365760"/>
          </a:xfrm>
          <a:prstGeom prst="rect">
            <a:avLst/>
          </a:prstGeom>
          <a:noFill/>
          <a:ln/>
        </p:spPr>
        <p:txBody>
          <a:bodyPr wrap="square" lIns="0" tIns="0" rIns="0" bIns="0" rtlCol="0" anchor="ctr"/>
          <a:lstStyle/>
          <a:p>
            <a:pPr indent="0" marL="0">
              <a:buNone/>
            </a:pPr>
            <a:r>
              <a:rPr lang="en-US" sz="1700" b="1" dirty="0">
                <a:solidFill>
                  <a:srgbClr val="D4A27F"/>
                </a:solidFill>
                <a:latin typeface="Cambria" pitchFamily="34" charset="0"/>
                <a:ea typeface="Cambria" pitchFamily="34" charset="-122"/>
                <a:cs typeface="Cambria" pitchFamily="34" charset="-120"/>
              </a:rPr>
              <a:t>Merged is not done, and the pipeline now demonstrates the difference rather than claiming it.</a:t>
            </a:r>
            <a:endParaRPr lang="en-US" sz="17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0EEE6"/>
        </a:solidFill>
      </p:bgPr>
    </p:bg>
    <p:spTree>
      <p:nvGrpSpPr>
        <p:cNvPr id="1" name=""/>
        <p:cNvGrpSpPr/>
        <p:nvPr/>
      </p:nvGrpSpPr>
      <p:grpSpPr>
        <a:xfrm>
          <a:off x="0" y="0"/>
          <a:ext cx="0" cy="0"/>
          <a:chOff x="0" y="0"/>
          <a:chExt cx="0" cy="0"/>
        </a:xfrm>
      </p:grpSpPr>
      <p:sp>
        <p:nvSpPr>
          <p:cNvPr id="2" name="Text 0"/>
          <p:cNvSpPr/>
          <p:nvPr/>
        </p:nvSpPr>
        <p:spPr>
          <a:xfrm>
            <a:off x="685800" y="457200"/>
            <a:ext cx="10881360" cy="1170432"/>
          </a:xfrm>
          <a:prstGeom prst="rect">
            <a:avLst/>
          </a:prstGeom>
          <a:noFill/>
          <a:ln/>
        </p:spPr>
        <p:txBody>
          <a:bodyPr wrap="square" lIns="0" tIns="0" rIns="0" bIns="0" rtlCol="0" anchor="ctr"/>
          <a:lstStyle/>
          <a:p>
            <a:pPr indent="0" marL="0">
              <a:buNone/>
            </a:pPr>
            <a:r>
              <a:rPr lang="en-US" sz="3100" b="1" dirty="0">
                <a:solidFill>
                  <a:srgbClr val="191919"/>
                </a:solidFill>
                <a:latin typeface="Cambria" pitchFamily="34" charset="0"/>
                <a:ea typeface="Cambria" pitchFamily="34" charset="-122"/>
                <a:cs typeface="Cambria" pitchFamily="34" charset="-120"/>
              </a:rPr>
              <a:t>Running it live surfaced six defects that 859 tests could not.</a:t>
            </a:r>
            <a:endParaRPr lang="en-US" sz="3100" dirty="0"/>
          </a:p>
        </p:txBody>
      </p:sp>
      <p:sp>
        <p:nvSpPr>
          <p:cNvPr id="3" name="Text 1"/>
          <p:cNvSpPr/>
          <p:nvPr/>
        </p:nvSpPr>
        <p:spPr>
          <a:xfrm>
            <a:off x="685800" y="1682496"/>
            <a:ext cx="10881360" cy="292608"/>
          </a:xfrm>
          <a:prstGeom prst="rect">
            <a:avLst/>
          </a:prstGeom>
          <a:noFill/>
          <a:ln/>
        </p:spPr>
        <p:txBody>
          <a:bodyPr wrap="square" lIns="0" tIns="0" rIns="0" bIns="0" rtlCol="0" anchor="ctr"/>
          <a:lstStyle/>
          <a:p>
            <a:pPr indent="0" marL="0">
              <a:buNone/>
            </a:pPr>
            <a:r>
              <a:rPr lang="en-US" sz="1450" dirty="0">
                <a:solidFill>
                  <a:srgbClr val="73716C"/>
                </a:solidFill>
                <a:latin typeface="Calibri" pitchFamily="34" charset="0"/>
                <a:ea typeface="Calibri" pitchFamily="34" charset="-122"/>
                <a:cs typeface="Calibri" pitchFamily="34" charset="-120"/>
              </a:rPr>
              <a:t>Every one sat in the gap between the code and the world it runs in — none could fail a unit test.</a:t>
            </a:r>
            <a:endParaRPr lang="en-US" sz="1450" dirty="0"/>
          </a:p>
        </p:txBody>
      </p:sp>
      <p:sp>
        <p:nvSpPr>
          <p:cNvPr id="4" name="Shape 2"/>
          <p:cNvSpPr/>
          <p:nvPr/>
        </p:nvSpPr>
        <p:spPr>
          <a:xfrm>
            <a:off x="685800" y="2139696"/>
            <a:ext cx="3520440" cy="1627632"/>
          </a:xfrm>
          <a:prstGeom prst="roundRect">
            <a:avLst>
              <a:gd name="adj" fmla="val 5056"/>
            </a:avLst>
          </a:prstGeom>
          <a:solidFill>
            <a:srgbClr val="FAF9F5"/>
          </a:solidFill>
          <a:ln w="9525">
            <a:solidFill>
              <a:srgbClr val="DFDBD1"/>
            </a:solidFill>
            <a:prstDash val="solid"/>
          </a:ln>
          <a:effectLst>
            <a:outerShdw sx="100000" sy="100000" kx="0" ky="0" algn="bl" rotWithShape="0" blurRad="152400" dist="25400" dir="5400000">
              <a:srgbClr val="8C857A">
                <a:alpha val="16000"/>
              </a:srgbClr>
            </a:outerShdw>
          </a:effectLst>
        </p:spPr>
      </p:sp>
      <p:sp>
        <p:nvSpPr>
          <p:cNvPr id="5" name="Text 3"/>
          <p:cNvSpPr/>
          <p:nvPr/>
        </p:nvSpPr>
        <p:spPr>
          <a:xfrm>
            <a:off x="923544" y="2267712"/>
            <a:ext cx="3017520" cy="274320"/>
          </a:xfrm>
          <a:prstGeom prst="rect">
            <a:avLst/>
          </a:prstGeom>
          <a:noFill/>
          <a:ln/>
        </p:spPr>
        <p:txBody>
          <a:bodyPr wrap="square" lIns="0" tIns="0" rIns="0" bIns="0" rtlCol="0" anchor="ctr"/>
          <a:lstStyle/>
          <a:p>
            <a:pPr indent="0" marL="0">
              <a:buNone/>
            </a:pPr>
            <a:r>
              <a:rPr lang="en-US" sz="1200" b="1" dirty="0">
                <a:solidFill>
                  <a:srgbClr val="D97757"/>
                </a:solidFill>
                <a:latin typeface="Calibri" pitchFamily="34" charset="0"/>
                <a:ea typeface="Calibri" pitchFamily="34" charset="-122"/>
                <a:cs typeface="Calibri" pitchFamily="34" charset="-120"/>
              </a:rPr>
              <a:t>Subprocess</a:t>
            </a:r>
            <a:endParaRPr lang="en-US" sz="1200" dirty="0"/>
          </a:p>
        </p:txBody>
      </p:sp>
      <p:sp>
        <p:nvSpPr>
          <p:cNvPr id="6" name="Text 4"/>
          <p:cNvSpPr/>
          <p:nvPr/>
        </p:nvSpPr>
        <p:spPr>
          <a:xfrm>
            <a:off x="923544" y="2560320"/>
            <a:ext cx="3063240" cy="1097280"/>
          </a:xfrm>
          <a:prstGeom prst="rect">
            <a:avLst/>
          </a:prstGeom>
          <a:noFill/>
          <a:ln/>
        </p:spPr>
        <p:txBody>
          <a:bodyPr wrap="square" lIns="0" tIns="0" rIns="0" bIns="0" rtlCol="0" anchor="ctr"/>
          <a:lstStyle/>
          <a:p>
            <a:pPr indent="0" marL="0">
              <a:lnSpc>
                <a:spcPct val="116000"/>
              </a:lnSpc>
              <a:buNone/>
            </a:pPr>
            <a:r>
              <a:rPr lang="en-US" sz="1000" dirty="0">
                <a:solidFill>
                  <a:srgbClr val="191919"/>
                </a:solidFill>
                <a:latin typeface="Calibri" pitchFamily="34" charset="0"/>
                <a:ea typeface="Calibri" pitchFamily="34" charset="-122"/>
                <a:cs typeface="Calibri" pitchFamily="34" charset="-120"/>
              </a:rPr>
              <a:t>The documented dev command put the app on an event loop that cannot spawn processes. Authoring returned 500 every time; the same code passed from a script.</a:t>
            </a:r>
            <a:endParaRPr lang="en-US" sz="1000" dirty="0"/>
          </a:p>
        </p:txBody>
      </p:sp>
      <p:sp>
        <p:nvSpPr>
          <p:cNvPr id="7" name="Shape 5"/>
          <p:cNvSpPr/>
          <p:nvPr/>
        </p:nvSpPr>
        <p:spPr>
          <a:xfrm>
            <a:off x="4416552" y="2139696"/>
            <a:ext cx="3520440" cy="1627632"/>
          </a:xfrm>
          <a:prstGeom prst="roundRect">
            <a:avLst>
              <a:gd name="adj" fmla="val 5056"/>
            </a:avLst>
          </a:prstGeom>
          <a:solidFill>
            <a:srgbClr val="FAF9F5"/>
          </a:solidFill>
          <a:ln w="9525">
            <a:solidFill>
              <a:srgbClr val="DFDBD1"/>
            </a:solidFill>
            <a:prstDash val="solid"/>
          </a:ln>
          <a:effectLst>
            <a:outerShdw sx="100000" sy="100000" kx="0" ky="0" algn="bl" rotWithShape="0" blurRad="152400" dist="25400" dir="5400000">
              <a:srgbClr val="8C857A">
                <a:alpha val="16000"/>
              </a:srgbClr>
            </a:outerShdw>
          </a:effectLst>
        </p:spPr>
      </p:sp>
      <p:sp>
        <p:nvSpPr>
          <p:cNvPr id="8" name="Text 6"/>
          <p:cNvSpPr/>
          <p:nvPr/>
        </p:nvSpPr>
        <p:spPr>
          <a:xfrm>
            <a:off x="4654296" y="2267712"/>
            <a:ext cx="3017520" cy="274320"/>
          </a:xfrm>
          <a:prstGeom prst="rect">
            <a:avLst/>
          </a:prstGeom>
          <a:noFill/>
          <a:ln/>
        </p:spPr>
        <p:txBody>
          <a:bodyPr wrap="square" lIns="0" tIns="0" rIns="0" bIns="0" rtlCol="0" anchor="ctr"/>
          <a:lstStyle/>
          <a:p>
            <a:pPr indent="0" marL="0">
              <a:buNone/>
            </a:pPr>
            <a:r>
              <a:rPr lang="en-US" sz="1200" b="1" dirty="0">
                <a:solidFill>
                  <a:srgbClr val="D97757"/>
                </a:solidFill>
                <a:latin typeface="Calibri" pitchFamily="34" charset="0"/>
                <a:ea typeface="Calibri" pitchFamily="34" charset="-122"/>
                <a:cs typeface="Calibri" pitchFamily="34" charset="-120"/>
              </a:rPr>
              <a:t>Credentials</a:t>
            </a:r>
            <a:endParaRPr lang="en-US" sz="1200" dirty="0"/>
          </a:p>
        </p:txBody>
      </p:sp>
      <p:sp>
        <p:nvSpPr>
          <p:cNvPr id="9" name="Text 7"/>
          <p:cNvSpPr/>
          <p:nvPr/>
        </p:nvSpPr>
        <p:spPr>
          <a:xfrm>
            <a:off x="4654296" y="2560320"/>
            <a:ext cx="3063240" cy="1097280"/>
          </a:xfrm>
          <a:prstGeom prst="rect">
            <a:avLst/>
          </a:prstGeom>
          <a:noFill/>
          <a:ln/>
        </p:spPr>
        <p:txBody>
          <a:bodyPr wrap="square" lIns="0" tIns="0" rIns="0" bIns="0" rtlCol="0" anchor="ctr"/>
          <a:lstStyle/>
          <a:p>
            <a:pPr indent="0" marL="0">
              <a:lnSpc>
                <a:spcPct val="116000"/>
              </a:lnSpc>
              <a:buNone/>
            </a:pPr>
            <a:r>
              <a:rPr lang="en-US" sz="1000" dirty="0">
                <a:solidFill>
                  <a:srgbClr val="191919"/>
                </a:solidFill>
                <a:latin typeface="Calibri" pitchFamily="34" charset="0"/>
                <a:ea typeface="Calibri" pitchFamily="34" charset="-122"/>
                <a:cs typeface="Calibri" pitchFamily="34" charset="-120"/>
              </a:rPr>
              <a:t>The driver read the GitHub token under a key nothing writes — and reported it as an authoring failure, spending an attempt on a key name.</a:t>
            </a:r>
            <a:endParaRPr lang="en-US" sz="1000" dirty="0"/>
          </a:p>
        </p:txBody>
      </p:sp>
      <p:sp>
        <p:nvSpPr>
          <p:cNvPr id="10" name="Shape 8"/>
          <p:cNvSpPr/>
          <p:nvPr/>
        </p:nvSpPr>
        <p:spPr>
          <a:xfrm>
            <a:off x="8147304" y="2139696"/>
            <a:ext cx="3520440" cy="1627632"/>
          </a:xfrm>
          <a:prstGeom prst="roundRect">
            <a:avLst>
              <a:gd name="adj" fmla="val 5056"/>
            </a:avLst>
          </a:prstGeom>
          <a:solidFill>
            <a:srgbClr val="FAF9F5"/>
          </a:solidFill>
          <a:ln w="9525">
            <a:solidFill>
              <a:srgbClr val="DFDBD1"/>
            </a:solidFill>
            <a:prstDash val="solid"/>
          </a:ln>
          <a:effectLst>
            <a:outerShdw sx="100000" sy="100000" kx="0" ky="0" algn="bl" rotWithShape="0" blurRad="152400" dist="25400" dir="5400000">
              <a:srgbClr val="8C857A">
                <a:alpha val="16000"/>
              </a:srgbClr>
            </a:outerShdw>
          </a:effectLst>
        </p:spPr>
      </p:sp>
      <p:sp>
        <p:nvSpPr>
          <p:cNvPr id="11" name="Text 9"/>
          <p:cNvSpPr/>
          <p:nvPr/>
        </p:nvSpPr>
        <p:spPr>
          <a:xfrm>
            <a:off x="8385048" y="2267712"/>
            <a:ext cx="3017520" cy="274320"/>
          </a:xfrm>
          <a:prstGeom prst="rect">
            <a:avLst/>
          </a:prstGeom>
          <a:noFill/>
          <a:ln/>
        </p:spPr>
        <p:txBody>
          <a:bodyPr wrap="square" lIns="0" tIns="0" rIns="0" bIns="0" rtlCol="0" anchor="ctr"/>
          <a:lstStyle/>
          <a:p>
            <a:pPr indent="0" marL="0">
              <a:buNone/>
            </a:pPr>
            <a:r>
              <a:rPr lang="en-US" sz="1200" b="1" dirty="0">
                <a:solidFill>
                  <a:srgbClr val="D97757"/>
                </a:solidFill>
                <a:latin typeface="Calibri" pitchFamily="34" charset="0"/>
                <a:ea typeface="Calibri" pitchFamily="34" charset="-122"/>
                <a:cs typeface="Calibri" pitchFamily="34" charset="-120"/>
              </a:rPr>
              <a:t>Workspace</a:t>
            </a:r>
            <a:endParaRPr lang="en-US" sz="1200" dirty="0"/>
          </a:p>
        </p:txBody>
      </p:sp>
      <p:sp>
        <p:nvSpPr>
          <p:cNvPr id="12" name="Text 10"/>
          <p:cNvSpPr/>
          <p:nvPr/>
        </p:nvSpPr>
        <p:spPr>
          <a:xfrm>
            <a:off x="8385048" y="2560320"/>
            <a:ext cx="3063240" cy="1097280"/>
          </a:xfrm>
          <a:prstGeom prst="rect">
            <a:avLst/>
          </a:prstGeom>
          <a:noFill/>
          <a:ln/>
        </p:spPr>
        <p:txBody>
          <a:bodyPr wrap="square" lIns="0" tIns="0" rIns="0" bIns="0" rtlCol="0" anchor="ctr"/>
          <a:lstStyle/>
          <a:p>
            <a:pPr indent="0" marL="0">
              <a:lnSpc>
                <a:spcPct val="116000"/>
              </a:lnSpc>
              <a:buNone/>
            </a:pPr>
            <a:r>
              <a:rPr lang="en-US" sz="1000" dirty="0">
                <a:solidFill>
                  <a:srgbClr val="191919"/>
                </a:solidFill>
                <a:latin typeface="Calibri" pitchFamily="34" charset="0"/>
                <a:ea typeface="Calibri" pitchFamily="34" charset="-122"/>
                <a:cs typeface="Calibri" pitchFamily="34" charset="-120"/>
              </a:rPr>
              <a:t>A removed worktree left a registration behind, so the next attempt at that path failed permanently.</a:t>
            </a:r>
            <a:endParaRPr lang="en-US" sz="1000" dirty="0"/>
          </a:p>
        </p:txBody>
      </p:sp>
      <p:sp>
        <p:nvSpPr>
          <p:cNvPr id="13" name="Shape 11"/>
          <p:cNvSpPr/>
          <p:nvPr/>
        </p:nvSpPr>
        <p:spPr>
          <a:xfrm>
            <a:off x="685800" y="3895344"/>
            <a:ext cx="3520440" cy="1627632"/>
          </a:xfrm>
          <a:prstGeom prst="roundRect">
            <a:avLst>
              <a:gd name="adj" fmla="val 5056"/>
            </a:avLst>
          </a:prstGeom>
          <a:solidFill>
            <a:srgbClr val="FAF9F5"/>
          </a:solidFill>
          <a:ln w="9525">
            <a:solidFill>
              <a:srgbClr val="DFDBD1"/>
            </a:solidFill>
            <a:prstDash val="solid"/>
          </a:ln>
          <a:effectLst>
            <a:outerShdw sx="100000" sy="100000" kx="0" ky="0" algn="bl" rotWithShape="0" blurRad="152400" dist="25400" dir="5400000">
              <a:srgbClr val="8C857A">
                <a:alpha val="16000"/>
              </a:srgbClr>
            </a:outerShdw>
          </a:effectLst>
        </p:spPr>
      </p:sp>
      <p:sp>
        <p:nvSpPr>
          <p:cNvPr id="14" name="Text 12"/>
          <p:cNvSpPr/>
          <p:nvPr/>
        </p:nvSpPr>
        <p:spPr>
          <a:xfrm>
            <a:off x="923544" y="4023360"/>
            <a:ext cx="3017520" cy="274320"/>
          </a:xfrm>
          <a:prstGeom prst="rect">
            <a:avLst/>
          </a:prstGeom>
          <a:noFill/>
          <a:ln/>
        </p:spPr>
        <p:txBody>
          <a:bodyPr wrap="square" lIns="0" tIns="0" rIns="0" bIns="0" rtlCol="0" anchor="ctr"/>
          <a:lstStyle/>
          <a:p>
            <a:pPr indent="0" marL="0">
              <a:buNone/>
            </a:pPr>
            <a:r>
              <a:rPr lang="en-US" sz="1200" b="1" dirty="0">
                <a:solidFill>
                  <a:srgbClr val="D97757"/>
                </a:solidFill>
                <a:latin typeface="Calibri" pitchFamily="34" charset="0"/>
                <a:ea typeface="Calibri" pitchFamily="34" charset="-122"/>
                <a:cs typeface="Calibri" pitchFamily="34" charset="-120"/>
              </a:rPr>
              <a:t>False assurance</a:t>
            </a:r>
            <a:endParaRPr lang="en-US" sz="1200" dirty="0"/>
          </a:p>
        </p:txBody>
      </p:sp>
      <p:sp>
        <p:nvSpPr>
          <p:cNvPr id="15" name="Text 13"/>
          <p:cNvSpPr/>
          <p:nvPr/>
        </p:nvSpPr>
        <p:spPr>
          <a:xfrm>
            <a:off x="923544" y="4315968"/>
            <a:ext cx="3063240" cy="1097280"/>
          </a:xfrm>
          <a:prstGeom prst="rect">
            <a:avLst/>
          </a:prstGeom>
          <a:noFill/>
          <a:ln/>
        </p:spPr>
        <p:txBody>
          <a:bodyPr wrap="square" lIns="0" tIns="0" rIns="0" bIns="0" rtlCol="0" anchor="ctr"/>
          <a:lstStyle/>
          <a:p>
            <a:pPr indent="0" marL="0">
              <a:lnSpc>
                <a:spcPct val="116000"/>
              </a:lnSpc>
              <a:buNone/>
            </a:pPr>
            <a:r>
              <a:rPr lang="en-US" sz="1000" dirty="0">
                <a:solidFill>
                  <a:srgbClr val="191919"/>
                </a:solidFill>
                <a:latin typeface="Calibri" pitchFamily="34" charset="0"/>
                <a:ea typeface="Calibri" pitchFamily="34" charset="-122"/>
                <a:cs typeface="Calibri" pitchFamily="34" charset="-120"/>
              </a:rPr>
              <a:t>The pull request said the test gate passed on repositories that have no test command.</a:t>
            </a:r>
            <a:endParaRPr lang="en-US" sz="1000" dirty="0"/>
          </a:p>
        </p:txBody>
      </p:sp>
      <p:sp>
        <p:nvSpPr>
          <p:cNvPr id="16" name="Shape 14"/>
          <p:cNvSpPr/>
          <p:nvPr/>
        </p:nvSpPr>
        <p:spPr>
          <a:xfrm>
            <a:off x="4416552" y="3895344"/>
            <a:ext cx="3520440" cy="1627632"/>
          </a:xfrm>
          <a:prstGeom prst="roundRect">
            <a:avLst>
              <a:gd name="adj" fmla="val 5056"/>
            </a:avLst>
          </a:prstGeom>
          <a:solidFill>
            <a:srgbClr val="FAF9F5"/>
          </a:solidFill>
          <a:ln w="9525">
            <a:solidFill>
              <a:srgbClr val="DFDBD1"/>
            </a:solidFill>
            <a:prstDash val="solid"/>
          </a:ln>
          <a:effectLst>
            <a:outerShdw sx="100000" sy="100000" kx="0" ky="0" algn="bl" rotWithShape="0" blurRad="152400" dist="25400" dir="5400000">
              <a:srgbClr val="8C857A">
                <a:alpha val="16000"/>
              </a:srgbClr>
            </a:outerShdw>
          </a:effectLst>
        </p:spPr>
      </p:sp>
      <p:sp>
        <p:nvSpPr>
          <p:cNvPr id="17" name="Text 15"/>
          <p:cNvSpPr/>
          <p:nvPr/>
        </p:nvSpPr>
        <p:spPr>
          <a:xfrm>
            <a:off x="4654296" y="4023360"/>
            <a:ext cx="3017520" cy="274320"/>
          </a:xfrm>
          <a:prstGeom prst="rect">
            <a:avLst/>
          </a:prstGeom>
          <a:noFill/>
          <a:ln/>
        </p:spPr>
        <p:txBody>
          <a:bodyPr wrap="square" lIns="0" tIns="0" rIns="0" bIns="0" rtlCol="0" anchor="ctr"/>
          <a:lstStyle/>
          <a:p>
            <a:pPr indent="0" marL="0">
              <a:buNone/>
            </a:pPr>
            <a:r>
              <a:rPr lang="en-US" sz="1200" b="1" dirty="0">
                <a:solidFill>
                  <a:srgbClr val="D97757"/>
                </a:solidFill>
                <a:latin typeface="Calibri" pitchFamily="34" charset="0"/>
                <a:ea typeface="Calibri" pitchFamily="34" charset="-122"/>
                <a:cs typeface="Calibri" pitchFamily="34" charset="-120"/>
              </a:rPr>
              <a:t>Attribution</a:t>
            </a:r>
            <a:endParaRPr lang="en-US" sz="1200" dirty="0"/>
          </a:p>
        </p:txBody>
      </p:sp>
      <p:sp>
        <p:nvSpPr>
          <p:cNvPr id="18" name="Text 16"/>
          <p:cNvSpPr/>
          <p:nvPr/>
        </p:nvSpPr>
        <p:spPr>
          <a:xfrm>
            <a:off x="4654296" y="4315968"/>
            <a:ext cx="3063240" cy="1097280"/>
          </a:xfrm>
          <a:prstGeom prst="rect">
            <a:avLst/>
          </a:prstGeom>
          <a:noFill/>
          <a:ln/>
        </p:spPr>
        <p:txBody>
          <a:bodyPr wrap="square" lIns="0" tIns="0" rIns="0" bIns="0" rtlCol="0" anchor="ctr"/>
          <a:lstStyle/>
          <a:p>
            <a:pPr indent="0" marL="0">
              <a:lnSpc>
                <a:spcPct val="116000"/>
              </a:lnSpc>
              <a:buNone/>
            </a:pPr>
            <a:r>
              <a:rPr lang="en-US" sz="1000" dirty="0">
                <a:solidFill>
                  <a:srgbClr val="191919"/>
                </a:solidFill>
                <a:latin typeface="Calibri" pitchFamily="34" charset="0"/>
                <a:ea typeface="Calibri" pitchFamily="34" charset="-122"/>
                <a:cs typeface="Calibri" pitchFamily="34" charset="-120"/>
              </a:rPr>
              <a:t>A model-written commit carried a human's name — and made the guard against overwriting human work fire on the agent's own commits.</a:t>
            </a:r>
            <a:endParaRPr lang="en-US" sz="1000" dirty="0"/>
          </a:p>
        </p:txBody>
      </p:sp>
      <p:sp>
        <p:nvSpPr>
          <p:cNvPr id="19" name="Shape 17"/>
          <p:cNvSpPr/>
          <p:nvPr/>
        </p:nvSpPr>
        <p:spPr>
          <a:xfrm>
            <a:off x="8147304" y="3895344"/>
            <a:ext cx="3520440" cy="1627632"/>
          </a:xfrm>
          <a:prstGeom prst="roundRect">
            <a:avLst>
              <a:gd name="adj" fmla="val 5056"/>
            </a:avLst>
          </a:prstGeom>
          <a:solidFill>
            <a:srgbClr val="FAF9F5"/>
          </a:solidFill>
          <a:ln w="9525">
            <a:solidFill>
              <a:srgbClr val="DFDBD1"/>
            </a:solidFill>
            <a:prstDash val="solid"/>
          </a:ln>
          <a:effectLst>
            <a:outerShdw sx="100000" sy="100000" kx="0" ky="0" algn="bl" rotWithShape="0" blurRad="152400" dist="25400" dir="5400000">
              <a:srgbClr val="8C857A">
                <a:alpha val="16000"/>
              </a:srgbClr>
            </a:outerShdw>
          </a:effectLst>
        </p:spPr>
      </p:sp>
      <p:sp>
        <p:nvSpPr>
          <p:cNvPr id="20" name="Text 18"/>
          <p:cNvSpPr/>
          <p:nvPr/>
        </p:nvSpPr>
        <p:spPr>
          <a:xfrm>
            <a:off x="8385048" y="4023360"/>
            <a:ext cx="3017520" cy="274320"/>
          </a:xfrm>
          <a:prstGeom prst="rect">
            <a:avLst/>
          </a:prstGeom>
          <a:noFill/>
          <a:ln/>
        </p:spPr>
        <p:txBody>
          <a:bodyPr wrap="square" lIns="0" tIns="0" rIns="0" bIns="0" rtlCol="0" anchor="ctr"/>
          <a:lstStyle/>
          <a:p>
            <a:pPr indent="0" marL="0">
              <a:buNone/>
            </a:pPr>
            <a:r>
              <a:rPr lang="en-US" sz="1200" b="1" dirty="0">
                <a:solidFill>
                  <a:srgbClr val="D97757"/>
                </a:solidFill>
                <a:latin typeface="Calibri" pitchFamily="34" charset="0"/>
                <a:ea typeface="Calibri" pitchFamily="34" charset="-122"/>
                <a:cs typeface="Calibri" pitchFamily="34" charset="-120"/>
              </a:rPr>
              <a:t>Deferred close</a:t>
            </a:r>
            <a:endParaRPr lang="en-US" sz="1200" dirty="0"/>
          </a:p>
        </p:txBody>
      </p:sp>
      <p:sp>
        <p:nvSpPr>
          <p:cNvPr id="21" name="Text 19"/>
          <p:cNvSpPr/>
          <p:nvPr/>
        </p:nvSpPr>
        <p:spPr>
          <a:xfrm>
            <a:off x="8385048" y="4315968"/>
            <a:ext cx="3063240" cy="1097280"/>
          </a:xfrm>
          <a:prstGeom prst="rect">
            <a:avLst/>
          </a:prstGeom>
          <a:noFill/>
          <a:ln/>
        </p:spPr>
        <p:txBody>
          <a:bodyPr wrap="square" lIns="0" tIns="0" rIns="0" bIns="0" rtlCol="0" anchor="ctr"/>
          <a:lstStyle/>
          <a:p>
            <a:pPr indent="0" marL="0">
              <a:lnSpc>
                <a:spcPct val="116000"/>
              </a:lnSpc>
              <a:buNone/>
            </a:pPr>
            <a:r>
              <a:rPr lang="en-US" sz="1000" dirty="0">
                <a:solidFill>
                  <a:srgbClr val="191919"/>
                </a:solidFill>
                <a:latin typeface="Calibri" pitchFamily="34" charset="0"/>
                <a:ea typeface="Calibri" pitchFamily="34" charset="-122"/>
                <a:cs typeface="Calibri" pitchFamily="34" charset="-120"/>
              </a:rPr>
              <a:t>The closing keyword let GitHub close the ticket at merge, defeating the QA sign-off setting on exactly the pull requests this pipeline authors.</a:t>
            </a:r>
            <a:endParaRPr lang="en-US" sz="1000" dirty="0"/>
          </a:p>
        </p:txBody>
      </p:sp>
      <p:sp>
        <p:nvSpPr>
          <p:cNvPr id="22" name="Text 20"/>
          <p:cNvSpPr/>
          <p:nvPr/>
        </p:nvSpPr>
        <p:spPr>
          <a:xfrm>
            <a:off x="685800" y="5870448"/>
            <a:ext cx="10881360" cy="365760"/>
          </a:xfrm>
          <a:prstGeom prst="rect">
            <a:avLst/>
          </a:prstGeom>
          <a:noFill/>
          <a:ln/>
        </p:spPr>
        <p:txBody>
          <a:bodyPr wrap="square" lIns="0" tIns="0" rIns="0" bIns="0" rtlCol="0" anchor="ctr"/>
          <a:lstStyle/>
          <a:p>
            <a:pPr indent="0" marL="0">
              <a:buNone/>
            </a:pPr>
            <a:r>
              <a:rPr lang="en-US" sz="1700" b="1" dirty="0">
                <a:solidFill>
                  <a:srgbClr val="CC785C"/>
                </a:solidFill>
                <a:latin typeface="Cambria" pitchFamily="34" charset="0"/>
                <a:ea typeface="Cambria" pitchFamily="34" charset="-122"/>
                <a:cs typeface="Cambria" pitchFamily="34" charset="-120"/>
              </a:rPr>
              <a:t>All six were fixed, and the run above is the same pipeline afterwards.</a:t>
            </a:r>
            <a:endParaRPr lang="en-US" sz="17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0EEE6"/>
        </a:solidFill>
      </p:bgPr>
    </p:bg>
    <p:spTree>
      <p:nvGrpSpPr>
        <p:cNvPr id="1" name=""/>
        <p:cNvGrpSpPr/>
        <p:nvPr/>
      </p:nvGrpSpPr>
      <p:grpSpPr>
        <a:xfrm>
          <a:off x="0" y="0"/>
          <a:ext cx="0" cy="0"/>
          <a:chOff x="0" y="0"/>
          <a:chExt cx="0" cy="0"/>
        </a:xfrm>
      </p:grpSpPr>
      <p:sp>
        <p:nvSpPr>
          <p:cNvPr id="2" name="Text 0"/>
          <p:cNvSpPr/>
          <p:nvPr/>
        </p:nvSpPr>
        <p:spPr>
          <a:xfrm>
            <a:off x="685800" y="457200"/>
            <a:ext cx="10881360" cy="1170432"/>
          </a:xfrm>
          <a:prstGeom prst="rect">
            <a:avLst/>
          </a:prstGeom>
          <a:noFill/>
          <a:ln/>
        </p:spPr>
        <p:txBody>
          <a:bodyPr wrap="square" lIns="0" tIns="0" rIns="0" bIns="0" rtlCol="0" anchor="ctr"/>
          <a:lstStyle/>
          <a:p>
            <a:pPr indent="0" marL="0">
              <a:buNone/>
            </a:pPr>
            <a:r>
              <a:rPr lang="en-US" sz="3100" b="1" dirty="0">
                <a:solidFill>
                  <a:srgbClr val="191919"/>
                </a:solidFill>
                <a:latin typeface="Cambria" pitchFamily="34" charset="0"/>
                <a:ea typeface="Cambria" pitchFamily="34" charset="-122"/>
                <a:cs typeface="Cambria" pitchFamily="34" charset="-120"/>
              </a:rPr>
              <a:t>In autonomous mode, your reviewers become the bottleneck.</a:t>
            </a:r>
            <a:endParaRPr lang="en-US" sz="3100" dirty="0"/>
          </a:p>
        </p:txBody>
      </p:sp>
      <p:sp>
        <p:nvSpPr>
          <p:cNvPr id="3" name="Text 1"/>
          <p:cNvSpPr/>
          <p:nvPr/>
        </p:nvSpPr>
        <p:spPr>
          <a:xfrm>
            <a:off x="685800" y="1682496"/>
            <a:ext cx="10881360" cy="292608"/>
          </a:xfrm>
          <a:prstGeom prst="rect">
            <a:avLst/>
          </a:prstGeom>
          <a:noFill/>
          <a:ln/>
        </p:spPr>
        <p:txBody>
          <a:bodyPr wrap="square" lIns="0" tIns="0" rIns="0" bIns="0" rtlCol="0" anchor="ctr"/>
          <a:lstStyle/>
          <a:p>
            <a:pPr indent="0" marL="0">
              <a:buNone/>
            </a:pPr>
            <a:r>
              <a:rPr lang="en-US" sz="1450" dirty="0">
                <a:solidFill>
                  <a:srgbClr val="73716C"/>
                </a:solidFill>
                <a:latin typeface="Calibri" pitchFamily="34" charset="0"/>
                <a:ea typeface="Calibri" pitchFamily="34" charset="-122"/>
                <a:cs typeface="Calibri" pitchFamily="34" charset="-120"/>
              </a:rPr>
              <a:t>They are the only humans left in the loop — so Locus protects their time.</a:t>
            </a:r>
            <a:endParaRPr lang="en-US" sz="1450" dirty="0"/>
          </a:p>
        </p:txBody>
      </p:sp>
      <p:sp>
        <p:nvSpPr>
          <p:cNvPr id="4" name="Shape 2"/>
          <p:cNvSpPr/>
          <p:nvPr/>
        </p:nvSpPr>
        <p:spPr>
          <a:xfrm>
            <a:off x="685800" y="2121408"/>
            <a:ext cx="5321808" cy="2468880"/>
          </a:xfrm>
          <a:prstGeom prst="roundRect">
            <a:avLst>
              <a:gd name="adj" fmla="val 3333"/>
            </a:avLst>
          </a:prstGeom>
          <a:solidFill>
            <a:srgbClr val="FAF9F5"/>
          </a:solidFill>
          <a:ln w="9525">
            <a:solidFill>
              <a:srgbClr val="DFDBD1"/>
            </a:solidFill>
            <a:prstDash val="solid"/>
          </a:ln>
          <a:effectLst>
            <a:outerShdw sx="100000" sy="100000" kx="0" ky="0" algn="bl" rotWithShape="0" blurRad="152400" dist="25400" dir="5400000">
              <a:srgbClr val="8C857A">
                <a:alpha val="16000"/>
              </a:srgbClr>
            </a:outerShdw>
          </a:effectLst>
        </p:spPr>
      </p:sp>
      <p:sp>
        <p:nvSpPr>
          <p:cNvPr id="5" name="Text 3"/>
          <p:cNvSpPr/>
          <p:nvPr/>
        </p:nvSpPr>
        <p:spPr>
          <a:xfrm>
            <a:off x="987552" y="2359152"/>
            <a:ext cx="4754880" cy="256032"/>
          </a:xfrm>
          <a:prstGeom prst="rect">
            <a:avLst/>
          </a:prstGeom>
          <a:noFill/>
          <a:ln/>
        </p:spPr>
        <p:txBody>
          <a:bodyPr wrap="square" lIns="0" tIns="0" rIns="0" bIns="0" rtlCol="0" anchor="ctr"/>
          <a:lstStyle/>
          <a:p>
            <a:pPr indent="0" marL="0">
              <a:buNone/>
            </a:pPr>
            <a:r>
              <a:rPr lang="en-US" sz="1100" dirty="0">
                <a:solidFill>
                  <a:srgbClr val="73716C"/>
                </a:solidFill>
                <a:latin typeface="Calibri" pitchFamily="34" charset="0"/>
                <a:ea typeface="Calibri" pitchFamily="34" charset="-122"/>
                <a:cs typeface="Calibri" pitchFamily="34" charset="-120"/>
              </a:rPr>
              <a:t>14:10 — someone messages you</a:t>
            </a:r>
            <a:endParaRPr lang="en-US" sz="1100" dirty="0"/>
          </a:p>
        </p:txBody>
      </p:sp>
      <p:sp>
        <p:nvSpPr>
          <p:cNvPr id="6" name="Text 4"/>
          <p:cNvSpPr/>
          <p:nvPr/>
        </p:nvSpPr>
        <p:spPr>
          <a:xfrm>
            <a:off x="987552" y="2651760"/>
            <a:ext cx="4754880" cy="292608"/>
          </a:xfrm>
          <a:prstGeom prst="rect">
            <a:avLst/>
          </a:prstGeom>
          <a:noFill/>
          <a:ln/>
        </p:spPr>
        <p:txBody>
          <a:bodyPr wrap="square" lIns="0" tIns="0" rIns="0" bIns="0" rtlCol="0" anchor="ctr"/>
          <a:lstStyle/>
          <a:p>
            <a:pPr indent="0" marL="0">
              <a:buNone/>
            </a:pPr>
            <a:r>
              <a:rPr lang="en-US" sz="1450" b="1" dirty="0">
                <a:solidFill>
                  <a:srgbClr val="191919"/>
                </a:solidFill>
                <a:latin typeface="Calibri" pitchFamily="34" charset="0"/>
                <a:ea typeface="Calibri" pitchFamily="34" charset="-122"/>
                <a:cs typeface="Calibri" pitchFamily="34" charset="-120"/>
              </a:rPr>
              <a:t>You are in a meeting until 15:30.</a:t>
            </a:r>
            <a:endParaRPr lang="en-US" sz="1450" dirty="0"/>
          </a:p>
        </p:txBody>
      </p:sp>
      <p:sp>
        <p:nvSpPr>
          <p:cNvPr id="7" name="Shape 5"/>
          <p:cNvSpPr/>
          <p:nvPr/>
        </p:nvSpPr>
        <p:spPr>
          <a:xfrm>
            <a:off x="987552" y="3127248"/>
            <a:ext cx="4709160" cy="914400"/>
          </a:xfrm>
          <a:prstGeom prst="roundRect">
            <a:avLst>
              <a:gd name="adj" fmla="val 8000"/>
            </a:avLst>
          </a:prstGeom>
          <a:solidFill>
            <a:srgbClr val="EBDBBC"/>
          </a:solidFill>
          <a:ln/>
        </p:spPr>
      </p:sp>
      <p:sp>
        <p:nvSpPr>
          <p:cNvPr id="8" name="Text 6"/>
          <p:cNvSpPr/>
          <p:nvPr/>
        </p:nvSpPr>
        <p:spPr>
          <a:xfrm>
            <a:off x="1234440" y="3127248"/>
            <a:ext cx="4206240" cy="914400"/>
          </a:xfrm>
          <a:prstGeom prst="rect">
            <a:avLst/>
          </a:prstGeom>
          <a:noFill/>
          <a:ln/>
        </p:spPr>
        <p:txBody>
          <a:bodyPr wrap="square" lIns="0" tIns="0" rIns="0" bIns="0" rtlCol="0" anchor="ctr"/>
          <a:lstStyle/>
          <a:p>
            <a:pPr indent="0" marL="0">
              <a:buNone/>
            </a:pPr>
            <a:r>
              <a:rPr lang="en-US" sz="1450" i="1" dirty="0">
                <a:solidFill>
                  <a:srgbClr val="191919"/>
                </a:solidFill>
                <a:latin typeface="Calibri" pitchFamily="34" charset="0"/>
                <a:ea typeface="Calibri" pitchFamily="34" charset="-122"/>
                <a:cs typeface="Calibri" pitchFamily="34" charset="-120"/>
              </a:rPr>
              <a:t>“Nakul is booked until 15:30 IST.”</a:t>
            </a:r>
            <a:endParaRPr lang="en-US" sz="1450" dirty="0"/>
          </a:p>
        </p:txBody>
      </p:sp>
      <p:sp>
        <p:nvSpPr>
          <p:cNvPr id="9" name="Text 7"/>
          <p:cNvSpPr/>
          <p:nvPr/>
        </p:nvSpPr>
        <p:spPr>
          <a:xfrm>
            <a:off x="987552" y="4114800"/>
            <a:ext cx="4709160" cy="411480"/>
          </a:xfrm>
          <a:prstGeom prst="rect">
            <a:avLst/>
          </a:prstGeom>
          <a:noFill/>
          <a:ln/>
        </p:spPr>
        <p:txBody>
          <a:bodyPr wrap="square" lIns="0" tIns="0" rIns="0" bIns="0" rtlCol="0" anchor="ctr"/>
          <a:lstStyle/>
          <a:p>
            <a:pPr indent="0" marL="0">
              <a:lnSpc>
                <a:spcPct val="120000"/>
              </a:lnSpc>
              <a:buNone/>
            </a:pPr>
            <a:r>
              <a:rPr lang="en-US" sz="1050" dirty="0">
                <a:solidFill>
                  <a:srgbClr val="73716C"/>
                </a:solidFill>
                <a:latin typeface="Calibri" pitchFamily="34" charset="0"/>
                <a:ea typeface="Calibri" pitchFamily="34" charset="-122"/>
                <a:cs typeface="Calibri" pitchFamily="34" charset="-120"/>
              </a:rPr>
              <a:t>Status and end time only. There is no field on the type that could carry the meeting's subject.</a:t>
            </a:r>
            <a:endParaRPr lang="en-US" sz="1050" dirty="0"/>
          </a:p>
        </p:txBody>
      </p:sp>
      <p:sp>
        <p:nvSpPr>
          <p:cNvPr id="10" name="Shape 8"/>
          <p:cNvSpPr/>
          <p:nvPr/>
        </p:nvSpPr>
        <p:spPr>
          <a:xfrm>
            <a:off x="6199632" y="2121408"/>
            <a:ext cx="5321808" cy="2468880"/>
          </a:xfrm>
          <a:prstGeom prst="roundRect">
            <a:avLst>
              <a:gd name="adj" fmla="val 3333"/>
            </a:avLst>
          </a:prstGeom>
          <a:solidFill>
            <a:srgbClr val="FAF9F5"/>
          </a:solidFill>
          <a:ln w="9525">
            <a:solidFill>
              <a:srgbClr val="DFDBD1"/>
            </a:solidFill>
            <a:prstDash val="solid"/>
          </a:ln>
          <a:effectLst>
            <a:outerShdw sx="100000" sy="100000" kx="0" ky="0" algn="bl" rotWithShape="0" blurRad="152400" dist="25400" dir="5400000">
              <a:srgbClr val="8C857A">
                <a:alpha val="16000"/>
              </a:srgbClr>
            </a:outerShdw>
          </a:effectLst>
        </p:spPr>
      </p:sp>
      <p:sp>
        <p:nvSpPr>
          <p:cNvPr id="11" name="Text 9"/>
          <p:cNvSpPr/>
          <p:nvPr/>
        </p:nvSpPr>
        <p:spPr>
          <a:xfrm>
            <a:off x="6501384" y="2359152"/>
            <a:ext cx="4754880" cy="237744"/>
          </a:xfrm>
          <a:prstGeom prst="rect">
            <a:avLst/>
          </a:prstGeom>
          <a:noFill/>
          <a:ln/>
        </p:spPr>
        <p:txBody>
          <a:bodyPr wrap="square" lIns="0" tIns="0" rIns="0" bIns="0" rtlCol="0" anchor="ctr"/>
          <a:lstStyle/>
          <a:p>
            <a:pPr indent="0" marL="0">
              <a:buNone/>
            </a:pPr>
            <a:r>
              <a:rPr lang="en-US" sz="1050" b="1" spc="240" kern="0" dirty="0">
                <a:solidFill>
                  <a:srgbClr val="D97757"/>
                </a:solidFill>
                <a:latin typeface="Calibri" pitchFamily="34" charset="0"/>
                <a:ea typeface="Calibri" pitchFamily="34" charset="-122"/>
                <a:cs typeface="Calibri" pitchFamily="34" charset="-120"/>
              </a:rPr>
              <a:t>IF IT ACTUALLY MATTERS</a:t>
            </a:r>
            <a:endParaRPr lang="en-US" sz="1050" dirty="0"/>
          </a:p>
        </p:txBody>
      </p:sp>
      <p:sp>
        <p:nvSpPr>
          <p:cNvPr id="12" name="Text 10"/>
          <p:cNvSpPr/>
          <p:nvPr/>
        </p:nvSpPr>
        <p:spPr>
          <a:xfrm>
            <a:off x="6501384" y="2688336"/>
            <a:ext cx="4754880" cy="256032"/>
          </a:xfrm>
          <a:prstGeom prst="rect">
            <a:avLst/>
          </a:prstGeom>
          <a:noFill/>
          <a:ln/>
        </p:spPr>
        <p:txBody>
          <a:bodyPr wrap="square" lIns="0" tIns="0" rIns="0" bIns="0" rtlCol="0" anchor="ctr"/>
          <a:lstStyle/>
          <a:p>
            <a:pPr indent="0" marL="0">
              <a:buNone/>
            </a:pPr>
            <a:r>
              <a:rPr lang="en-US" sz="1150" dirty="0">
                <a:solidFill>
                  <a:srgbClr val="191919"/>
                </a:solidFill>
                <a:latin typeface="Calibri" pitchFamily="34" charset="0"/>
                <a:ea typeface="Calibri" pitchFamily="34" charset="-122"/>
                <a:cs typeface="Calibri" pitchFamily="34" charset="-120"/>
              </a:rPr>
              <a:t>Importance is decided before any model is asked:</a:t>
            </a:r>
            <a:endParaRPr lang="en-US" sz="1150" dirty="0"/>
          </a:p>
        </p:txBody>
      </p:sp>
      <p:sp>
        <p:nvSpPr>
          <p:cNvPr id="13" name="Text 11"/>
          <p:cNvSpPr/>
          <p:nvPr/>
        </p:nvSpPr>
        <p:spPr>
          <a:xfrm>
            <a:off x="6537960" y="3017520"/>
            <a:ext cx="4663440" cy="1051560"/>
          </a:xfrm>
          <a:prstGeom prst="rect">
            <a:avLst/>
          </a:prstGeom>
          <a:noFill/>
          <a:ln/>
        </p:spPr>
        <p:txBody>
          <a:bodyPr wrap="square" lIns="0" tIns="0" rIns="0" bIns="0" rtlCol="0" anchor="ctr"/>
          <a:lstStyle/>
          <a:p>
            <a:pPr marL="342900" indent="-342900">
              <a:spcAft>
                <a:spcPts val="500"/>
              </a:spcAft>
              <a:buSzPct val="100000"/>
              <a:buChar char="●"/>
            </a:pPr>
            <a:r>
              <a:rPr lang="en-US" sz="1150" dirty="0">
                <a:solidFill>
                  <a:srgbClr val="73716C"/>
                </a:solidFill>
                <a:latin typeface="Calibri" pitchFamily="34" charset="0"/>
                <a:ea typeface="Calibri" pitchFamily="34" charset="-122"/>
                <a:cs typeface="Calibri" pitchFamily="34" charset="-120"/>
              </a:rPr>
              <a:t>the sender is a reviewer mid-round</a:t>
            </a:r>
            <a:endParaRPr lang="en-US" sz="1150" dirty="0"/>
          </a:p>
          <a:p>
            <a:pPr marL="342900" indent="-342900">
              <a:spcAft>
                <a:spcPts val="500"/>
              </a:spcAft>
              <a:buSzPct val="100000"/>
              <a:buChar char="●"/>
            </a:pPr>
            <a:r>
              <a:rPr lang="en-US" sz="1150" dirty="0">
                <a:solidFill>
                  <a:srgbClr val="73716C"/>
                </a:solidFill>
                <a:latin typeface="Calibri" pitchFamily="34" charset="0"/>
                <a:ea typeface="Calibri" pitchFamily="34" charset="-122"/>
                <a:cs typeface="Calibri" pitchFamily="34" charset="-120"/>
              </a:rPr>
              <a:t>the message names a ticket already blocked on you</a:t>
            </a:r>
            <a:endParaRPr lang="en-US" sz="1150" dirty="0"/>
          </a:p>
          <a:p>
            <a:pPr marL="342900" indent="-342900">
              <a:spcAft>
                <a:spcPts val="500"/>
              </a:spcAft>
              <a:buSzPct val="100000"/>
              <a:buChar char="●"/>
            </a:pPr>
            <a:r>
              <a:rPr lang="en-US" sz="1150" dirty="0">
                <a:solidFill>
                  <a:srgbClr val="73716C"/>
                </a:solidFill>
                <a:latin typeface="Calibri" pitchFamily="34" charset="0"/>
                <a:ea typeface="Calibri" pitchFamily="34" charset="-122"/>
                <a:cs typeface="Calibri" pitchFamily="34" charset="-120"/>
              </a:rPr>
              <a:t>otherwise — a classifier with no tools bound</a:t>
            </a:r>
            <a:endParaRPr lang="en-US" sz="1150" dirty="0"/>
          </a:p>
        </p:txBody>
      </p:sp>
      <p:sp>
        <p:nvSpPr>
          <p:cNvPr id="14" name="Text 12"/>
          <p:cNvSpPr/>
          <p:nvPr/>
        </p:nvSpPr>
        <p:spPr>
          <a:xfrm>
            <a:off x="6501384" y="4114800"/>
            <a:ext cx="4754880" cy="438912"/>
          </a:xfrm>
          <a:prstGeom prst="rect">
            <a:avLst/>
          </a:prstGeom>
          <a:noFill/>
          <a:ln/>
        </p:spPr>
        <p:txBody>
          <a:bodyPr wrap="square" lIns="0" tIns="0" rIns="0" bIns="0" rtlCol="0" anchor="ctr"/>
          <a:lstStyle/>
          <a:p>
            <a:pPr indent="0" marL="0">
              <a:lnSpc>
                <a:spcPct val="120000"/>
              </a:lnSpc>
              <a:buNone/>
            </a:pPr>
            <a:r>
              <a:rPr lang="en-US" sz="1150" b="1" dirty="0">
                <a:solidFill>
                  <a:srgbClr val="191919"/>
                </a:solidFill>
                <a:latin typeface="Calibri" pitchFamily="34" charset="0"/>
                <a:ea typeface="Calibri" pitchFamily="34" charset="-122"/>
                <a:cs typeface="Calibri" pitchFamily="34" charset="-120"/>
              </a:rPr>
              <a:t>Then it proposes times instead of deflecting, and the reschedule waits in the UI.</a:t>
            </a:r>
            <a:endParaRPr lang="en-US" sz="1150" dirty="0"/>
          </a:p>
        </p:txBody>
      </p:sp>
      <p:sp>
        <p:nvSpPr>
          <p:cNvPr id="15" name="Shape 13"/>
          <p:cNvSpPr/>
          <p:nvPr/>
        </p:nvSpPr>
        <p:spPr>
          <a:xfrm>
            <a:off x="685800" y="4892040"/>
            <a:ext cx="3493008" cy="1005840"/>
          </a:xfrm>
          <a:prstGeom prst="roundRect">
            <a:avLst>
              <a:gd name="adj" fmla="val 8182"/>
            </a:avLst>
          </a:prstGeom>
          <a:solidFill>
            <a:srgbClr val="FAF9F5"/>
          </a:solidFill>
          <a:ln w="9525">
            <a:solidFill>
              <a:srgbClr val="DFDBD1"/>
            </a:solidFill>
            <a:prstDash val="solid"/>
          </a:ln>
        </p:spPr>
      </p:sp>
      <p:sp>
        <p:nvSpPr>
          <p:cNvPr id="16" name="Text 14"/>
          <p:cNvSpPr/>
          <p:nvPr/>
        </p:nvSpPr>
        <p:spPr>
          <a:xfrm>
            <a:off x="914400" y="5029200"/>
            <a:ext cx="3063240" cy="274320"/>
          </a:xfrm>
          <a:prstGeom prst="rect">
            <a:avLst/>
          </a:prstGeom>
          <a:noFill/>
          <a:ln/>
        </p:spPr>
        <p:txBody>
          <a:bodyPr wrap="square" lIns="0" tIns="0" rIns="0" bIns="0" rtlCol="0" anchor="ctr"/>
          <a:lstStyle/>
          <a:p>
            <a:pPr indent="0" marL="0">
              <a:buNone/>
            </a:pPr>
            <a:r>
              <a:rPr lang="en-US" sz="1150" b="1" dirty="0">
                <a:solidFill>
                  <a:srgbClr val="D97757"/>
                </a:solidFill>
                <a:latin typeface="Calibri" pitchFamily="34" charset="0"/>
                <a:ea typeface="Calibri" pitchFamily="34" charset="-122"/>
                <a:cs typeface="Calibri" pitchFamily="34" charset="-120"/>
              </a:rPr>
              <a:t>Off by default</a:t>
            </a:r>
            <a:endParaRPr lang="en-US" sz="1150" dirty="0"/>
          </a:p>
        </p:txBody>
      </p:sp>
      <p:sp>
        <p:nvSpPr>
          <p:cNvPr id="17" name="Text 15"/>
          <p:cNvSpPr/>
          <p:nvPr/>
        </p:nvSpPr>
        <p:spPr>
          <a:xfrm>
            <a:off x="914400" y="5303520"/>
            <a:ext cx="3063240" cy="384048"/>
          </a:xfrm>
          <a:prstGeom prst="rect">
            <a:avLst/>
          </a:prstGeom>
          <a:noFill/>
          <a:ln/>
        </p:spPr>
        <p:txBody>
          <a:bodyPr wrap="square" lIns="0" tIns="0" rIns="0" bIns="0" rtlCol="0" anchor="ctr"/>
          <a:lstStyle/>
          <a:p>
            <a:pPr indent="0" marL="0">
              <a:lnSpc>
                <a:spcPct val="115000"/>
              </a:lnSpc>
              <a:buNone/>
            </a:pPr>
            <a:r>
              <a:rPr lang="en-US" sz="1050" dirty="0">
                <a:solidFill>
                  <a:srgbClr val="73716C"/>
                </a:solidFill>
                <a:latin typeface="Calibri" pitchFamily="34" charset="0"/>
                <a:ea typeface="Calibri" pitchFamily="34" charset="-122"/>
                <a:cs typeface="Calibri" pitchFamily="34" charset="-120"/>
              </a:rPr>
              <a:t>it posts to real people</a:t>
            </a:r>
            <a:endParaRPr lang="en-US" sz="1050" dirty="0"/>
          </a:p>
        </p:txBody>
      </p:sp>
      <p:sp>
        <p:nvSpPr>
          <p:cNvPr id="18" name="Shape 16"/>
          <p:cNvSpPr/>
          <p:nvPr/>
        </p:nvSpPr>
        <p:spPr>
          <a:xfrm>
            <a:off x="4407408" y="4892040"/>
            <a:ext cx="3493008" cy="1005840"/>
          </a:xfrm>
          <a:prstGeom prst="roundRect">
            <a:avLst>
              <a:gd name="adj" fmla="val 8182"/>
            </a:avLst>
          </a:prstGeom>
          <a:solidFill>
            <a:srgbClr val="FAF9F5"/>
          </a:solidFill>
          <a:ln w="9525">
            <a:solidFill>
              <a:srgbClr val="DFDBD1"/>
            </a:solidFill>
            <a:prstDash val="solid"/>
          </a:ln>
        </p:spPr>
      </p:sp>
      <p:sp>
        <p:nvSpPr>
          <p:cNvPr id="19" name="Text 17"/>
          <p:cNvSpPr/>
          <p:nvPr/>
        </p:nvSpPr>
        <p:spPr>
          <a:xfrm>
            <a:off x="4636008" y="5029200"/>
            <a:ext cx="3063240" cy="274320"/>
          </a:xfrm>
          <a:prstGeom prst="rect">
            <a:avLst/>
          </a:prstGeom>
          <a:noFill/>
          <a:ln/>
        </p:spPr>
        <p:txBody>
          <a:bodyPr wrap="square" lIns="0" tIns="0" rIns="0" bIns="0" rtlCol="0" anchor="ctr"/>
          <a:lstStyle/>
          <a:p>
            <a:pPr indent="0" marL="0">
              <a:buNone/>
            </a:pPr>
            <a:r>
              <a:rPr lang="en-US" sz="1150" b="1" dirty="0">
                <a:solidFill>
                  <a:srgbClr val="D97757"/>
                </a:solidFill>
                <a:latin typeface="Calibri" pitchFamily="34" charset="0"/>
                <a:ea typeface="Calibri" pitchFamily="34" charset="-122"/>
                <a:cs typeface="Calibri" pitchFamily="34" charset="-120"/>
              </a:rPr>
              <a:t>1 reply per thread, per day</a:t>
            </a:r>
            <a:endParaRPr lang="en-US" sz="1150" dirty="0"/>
          </a:p>
        </p:txBody>
      </p:sp>
      <p:sp>
        <p:nvSpPr>
          <p:cNvPr id="20" name="Text 18"/>
          <p:cNvSpPr/>
          <p:nvPr/>
        </p:nvSpPr>
        <p:spPr>
          <a:xfrm>
            <a:off x="4636008" y="5303520"/>
            <a:ext cx="3063240" cy="384048"/>
          </a:xfrm>
          <a:prstGeom prst="rect">
            <a:avLst/>
          </a:prstGeom>
          <a:noFill/>
          <a:ln/>
        </p:spPr>
        <p:txBody>
          <a:bodyPr wrap="square" lIns="0" tIns="0" rIns="0" bIns="0" rtlCol="0" anchor="ctr"/>
          <a:lstStyle/>
          <a:p>
            <a:pPr indent="0" marL="0">
              <a:lnSpc>
                <a:spcPct val="115000"/>
              </a:lnSpc>
              <a:buNone/>
            </a:pPr>
            <a:r>
              <a:rPr lang="en-US" sz="1050" dirty="0">
                <a:solidFill>
                  <a:srgbClr val="73716C"/>
                </a:solidFill>
                <a:latin typeface="Calibri" pitchFamily="34" charset="0"/>
                <a:ea typeface="Calibri" pitchFamily="34" charset="-122"/>
                <a:cs typeface="Calibri" pitchFamily="34" charset="-120"/>
              </a:rPr>
              <a:t>a repeating bot gets muted</a:t>
            </a:r>
            <a:endParaRPr lang="en-US" sz="1050" dirty="0"/>
          </a:p>
        </p:txBody>
      </p:sp>
      <p:sp>
        <p:nvSpPr>
          <p:cNvPr id="21" name="Shape 19"/>
          <p:cNvSpPr/>
          <p:nvPr/>
        </p:nvSpPr>
        <p:spPr>
          <a:xfrm>
            <a:off x="8129016" y="4892040"/>
            <a:ext cx="3493008" cy="1005840"/>
          </a:xfrm>
          <a:prstGeom prst="roundRect">
            <a:avLst>
              <a:gd name="adj" fmla="val 8182"/>
            </a:avLst>
          </a:prstGeom>
          <a:solidFill>
            <a:srgbClr val="FAF9F5"/>
          </a:solidFill>
          <a:ln w="9525">
            <a:solidFill>
              <a:srgbClr val="DFDBD1"/>
            </a:solidFill>
            <a:prstDash val="solid"/>
          </a:ln>
        </p:spPr>
      </p:sp>
      <p:sp>
        <p:nvSpPr>
          <p:cNvPr id="22" name="Text 20"/>
          <p:cNvSpPr/>
          <p:nvPr/>
        </p:nvSpPr>
        <p:spPr>
          <a:xfrm>
            <a:off x="8357616" y="5029200"/>
            <a:ext cx="3063240" cy="274320"/>
          </a:xfrm>
          <a:prstGeom prst="rect">
            <a:avLst/>
          </a:prstGeom>
          <a:noFill/>
          <a:ln/>
        </p:spPr>
        <p:txBody>
          <a:bodyPr wrap="square" lIns="0" tIns="0" rIns="0" bIns="0" rtlCol="0" anchor="ctr"/>
          <a:lstStyle/>
          <a:p>
            <a:pPr indent="0" marL="0">
              <a:buNone/>
            </a:pPr>
            <a:r>
              <a:rPr lang="en-US" sz="1150" b="1" dirty="0">
                <a:solidFill>
                  <a:srgbClr val="D97757"/>
                </a:solidFill>
                <a:latin typeface="Calibri" pitchFamily="34" charset="0"/>
                <a:ea typeface="Calibri" pitchFamily="34" charset="-122"/>
                <a:cs typeface="Calibri" pitchFamily="34" charset="-120"/>
              </a:rPr>
              <a:t>An unreadable calendar reads “free”</a:t>
            </a:r>
            <a:endParaRPr lang="en-US" sz="1150" dirty="0"/>
          </a:p>
        </p:txBody>
      </p:sp>
      <p:sp>
        <p:nvSpPr>
          <p:cNvPr id="23" name="Text 21"/>
          <p:cNvSpPr/>
          <p:nvPr/>
        </p:nvSpPr>
        <p:spPr>
          <a:xfrm>
            <a:off x="8357616" y="5303520"/>
            <a:ext cx="3063240" cy="384048"/>
          </a:xfrm>
          <a:prstGeom prst="rect">
            <a:avLst/>
          </a:prstGeom>
          <a:noFill/>
          <a:ln/>
        </p:spPr>
        <p:txBody>
          <a:bodyPr wrap="square" lIns="0" tIns="0" rIns="0" bIns="0" rtlCol="0" anchor="ctr"/>
          <a:lstStyle/>
          <a:p>
            <a:pPr indent="0" marL="0">
              <a:lnSpc>
                <a:spcPct val="115000"/>
              </a:lnSpc>
              <a:buNone/>
            </a:pPr>
            <a:r>
              <a:rPr lang="en-US" sz="1050" dirty="0">
                <a:solidFill>
                  <a:srgbClr val="73716C"/>
                </a:solidFill>
                <a:latin typeface="Calibri" pitchFamily="34" charset="0"/>
                <a:ea typeface="Calibri" pitchFamily="34" charset="-122"/>
                <a:cs typeface="Calibri" pitchFamily="34" charset="-120"/>
              </a:rPr>
              <a:t>never “busy” — that makes you unreachable</a:t>
            </a:r>
            <a:endParaRPr lang="en-US" sz="10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0EEE6"/>
        </a:solidFill>
      </p:bgPr>
    </p:bg>
    <p:spTree>
      <p:nvGrpSpPr>
        <p:cNvPr id="1" name=""/>
        <p:cNvGrpSpPr/>
        <p:nvPr/>
      </p:nvGrpSpPr>
      <p:grpSpPr>
        <a:xfrm>
          <a:off x="0" y="0"/>
          <a:ext cx="0" cy="0"/>
          <a:chOff x="0" y="0"/>
          <a:chExt cx="0" cy="0"/>
        </a:xfrm>
      </p:grpSpPr>
      <p:sp>
        <p:nvSpPr>
          <p:cNvPr id="2" name="Text 0"/>
          <p:cNvSpPr/>
          <p:nvPr/>
        </p:nvSpPr>
        <p:spPr>
          <a:xfrm>
            <a:off x="685800" y="457200"/>
            <a:ext cx="10881360" cy="1170432"/>
          </a:xfrm>
          <a:prstGeom prst="rect">
            <a:avLst/>
          </a:prstGeom>
          <a:noFill/>
          <a:ln/>
        </p:spPr>
        <p:txBody>
          <a:bodyPr wrap="square" lIns="0" tIns="0" rIns="0" bIns="0" rtlCol="0" anchor="ctr"/>
          <a:lstStyle/>
          <a:p>
            <a:pPr indent="0" marL="0">
              <a:buNone/>
            </a:pPr>
            <a:r>
              <a:rPr lang="en-US" sz="3100" b="1" dirty="0">
                <a:solidFill>
                  <a:srgbClr val="191919"/>
                </a:solidFill>
                <a:latin typeface="Cambria" pitchFamily="34" charset="0"/>
                <a:ea typeface="Cambria" pitchFamily="34" charset="-122"/>
                <a:cs typeface="Cambria" pitchFamily="34" charset="-120"/>
              </a:rPr>
              <a:t>Everyone automates writing the diff. Nobody automates the work around it.</a:t>
            </a:r>
            <a:endParaRPr lang="en-US" sz="3100" dirty="0"/>
          </a:p>
        </p:txBody>
      </p:sp>
      <p:sp>
        <p:nvSpPr>
          <p:cNvPr id="3" name="Text 1"/>
          <p:cNvSpPr/>
          <p:nvPr/>
        </p:nvSpPr>
        <p:spPr>
          <a:xfrm>
            <a:off x="685800" y="1682496"/>
            <a:ext cx="10881360" cy="292608"/>
          </a:xfrm>
          <a:prstGeom prst="rect">
            <a:avLst/>
          </a:prstGeom>
          <a:noFill/>
          <a:ln/>
        </p:spPr>
        <p:txBody>
          <a:bodyPr wrap="square" lIns="0" tIns="0" rIns="0" bIns="0" rtlCol="0" anchor="ctr"/>
          <a:lstStyle/>
          <a:p>
            <a:pPr indent="0" marL="0">
              <a:buNone/>
            </a:pPr>
            <a:r>
              <a:rPr lang="en-US" sz="1450" dirty="0">
                <a:solidFill>
                  <a:srgbClr val="73716C"/>
                </a:solidFill>
                <a:latin typeface="Calibri" pitchFamily="34" charset="0"/>
                <a:ea typeface="Calibri" pitchFamily="34" charset="-122"/>
                <a:cs typeface="Calibri" pitchFamily="34" charset="-120"/>
              </a:rPr>
              <a:t>Which is what makes the author swappable in the first place.</a:t>
            </a:r>
            <a:endParaRPr lang="en-US" sz="1450" dirty="0"/>
          </a:p>
        </p:txBody>
      </p:sp>
      <p:sp>
        <p:nvSpPr>
          <p:cNvPr id="4" name="Text 2"/>
          <p:cNvSpPr/>
          <p:nvPr/>
        </p:nvSpPr>
        <p:spPr>
          <a:xfrm>
            <a:off x="5532120" y="1810512"/>
            <a:ext cx="1481328" cy="566928"/>
          </a:xfrm>
          <a:prstGeom prst="rect">
            <a:avLst/>
          </a:prstGeom>
          <a:noFill/>
          <a:ln/>
        </p:spPr>
        <p:txBody>
          <a:bodyPr wrap="square" lIns="0" tIns="0" rIns="0" bIns="0" rtlCol="0" anchor="b"/>
          <a:lstStyle/>
          <a:p>
            <a:pPr algn="ctr" indent="0" marL="0">
              <a:lnSpc>
                <a:spcPct val="105000"/>
              </a:lnSpc>
              <a:buNone/>
            </a:pPr>
            <a:r>
              <a:rPr lang="en-US" sz="1050" b="1" dirty="0">
                <a:solidFill>
                  <a:srgbClr val="D97757"/>
                </a:solidFill>
                <a:latin typeface="Calibri" pitchFamily="34" charset="0"/>
                <a:ea typeface="Calibri" pitchFamily="34" charset="-122"/>
                <a:cs typeface="Calibri" pitchFamily="34" charset="-120"/>
              </a:rPr>
              <a:t>Locus</a:t>
            </a:r>
            <a:endParaRPr lang="en-US" sz="1050" dirty="0"/>
          </a:p>
        </p:txBody>
      </p:sp>
      <p:sp>
        <p:nvSpPr>
          <p:cNvPr id="5" name="Text 3"/>
          <p:cNvSpPr/>
          <p:nvPr/>
        </p:nvSpPr>
        <p:spPr>
          <a:xfrm>
            <a:off x="7013448" y="1810512"/>
            <a:ext cx="1481328" cy="566928"/>
          </a:xfrm>
          <a:prstGeom prst="rect">
            <a:avLst/>
          </a:prstGeom>
          <a:noFill/>
          <a:ln/>
        </p:spPr>
        <p:txBody>
          <a:bodyPr wrap="square" lIns="0" tIns="0" rIns="0" bIns="0" rtlCol="0" anchor="b"/>
          <a:lstStyle/>
          <a:p>
            <a:pPr algn="ctr" indent="0" marL="0">
              <a:lnSpc>
                <a:spcPct val="105000"/>
              </a:lnSpc>
              <a:buNone/>
            </a:pPr>
            <a:r>
              <a:rPr lang="en-US" sz="1050" dirty="0">
                <a:solidFill>
                  <a:srgbClr val="73716C"/>
                </a:solidFill>
                <a:latin typeface="Calibri" pitchFamily="34" charset="0"/>
                <a:ea typeface="Calibri" pitchFamily="34" charset="-122"/>
                <a:cs typeface="Calibri" pitchFamily="34" charset="-120"/>
              </a:rPr>
              <a:t>AI coding</a:t>
            </a:r>
            <a:endParaRPr lang="en-US" sz="1050" dirty="0"/>
          </a:p>
          <a:p>
            <a:pPr algn="ctr" indent="0" marL="0">
              <a:lnSpc>
                <a:spcPct val="105000"/>
              </a:lnSpc>
              <a:buNone/>
            </a:pPr>
            <a:r>
              <a:rPr lang="en-US" sz="1050" dirty="0">
                <a:solidFill>
                  <a:srgbClr val="73716C"/>
                </a:solidFill>
                <a:latin typeface="Calibri" pitchFamily="34" charset="0"/>
                <a:ea typeface="Calibri" pitchFamily="34" charset="-122"/>
                <a:cs typeface="Calibri" pitchFamily="34" charset="-120"/>
              </a:rPr>
              <a:t>assistants</a:t>
            </a:r>
            <a:endParaRPr lang="en-US" sz="1050" dirty="0"/>
          </a:p>
        </p:txBody>
      </p:sp>
      <p:sp>
        <p:nvSpPr>
          <p:cNvPr id="6" name="Text 4"/>
          <p:cNvSpPr/>
          <p:nvPr/>
        </p:nvSpPr>
        <p:spPr>
          <a:xfrm>
            <a:off x="8494776" y="1810512"/>
            <a:ext cx="1481328" cy="566928"/>
          </a:xfrm>
          <a:prstGeom prst="rect">
            <a:avLst/>
          </a:prstGeom>
          <a:noFill/>
          <a:ln/>
        </p:spPr>
        <p:txBody>
          <a:bodyPr wrap="square" lIns="0" tIns="0" rIns="0" bIns="0" rtlCol="0" anchor="b"/>
          <a:lstStyle/>
          <a:p>
            <a:pPr algn="ctr" indent="0" marL="0">
              <a:lnSpc>
                <a:spcPct val="105000"/>
              </a:lnSpc>
              <a:buNone/>
            </a:pPr>
            <a:r>
              <a:rPr lang="en-US" sz="1050" dirty="0">
                <a:solidFill>
                  <a:srgbClr val="73716C"/>
                </a:solidFill>
                <a:latin typeface="Calibri" pitchFamily="34" charset="0"/>
                <a:ea typeface="Calibri" pitchFamily="34" charset="-122"/>
                <a:cs typeface="Calibri" pitchFamily="34" charset="-120"/>
              </a:rPr>
              <a:t>CI review</a:t>
            </a:r>
            <a:endParaRPr lang="en-US" sz="1050" dirty="0"/>
          </a:p>
          <a:p>
            <a:pPr algn="ctr" indent="0" marL="0">
              <a:lnSpc>
                <a:spcPct val="105000"/>
              </a:lnSpc>
              <a:buNone/>
            </a:pPr>
            <a:r>
              <a:rPr lang="en-US" sz="1050" dirty="0">
                <a:solidFill>
                  <a:srgbClr val="73716C"/>
                </a:solidFill>
                <a:latin typeface="Calibri" pitchFamily="34" charset="0"/>
                <a:ea typeface="Calibri" pitchFamily="34" charset="-122"/>
                <a:cs typeface="Calibri" pitchFamily="34" charset="-120"/>
              </a:rPr>
              <a:t>bots</a:t>
            </a:r>
            <a:endParaRPr lang="en-US" sz="1050" dirty="0"/>
          </a:p>
        </p:txBody>
      </p:sp>
      <p:sp>
        <p:nvSpPr>
          <p:cNvPr id="7" name="Text 5"/>
          <p:cNvSpPr/>
          <p:nvPr/>
        </p:nvSpPr>
        <p:spPr>
          <a:xfrm>
            <a:off x="9976104" y="1810512"/>
            <a:ext cx="1481328" cy="566928"/>
          </a:xfrm>
          <a:prstGeom prst="rect">
            <a:avLst/>
          </a:prstGeom>
          <a:noFill/>
          <a:ln/>
        </p:spPr>
        <p:txBody>
          <a:bodyPr wrap="square" lIns="0" tIns="0" rIns="0" bIns="0" rtlCol="0" anchor="b"/>
          <a:lstStyle/>
          <a:p>
            <a:pPr algn="ctr" indent="0" marL="0">
              <a:lnSpc>
                <a:spcPct val="105000"/>
              </a:lnSpc>
              <a:buNone/>
            </a:pPr>
            <a:r>
              <a:rPr lang="en-US" sz="1050" dirty="0">
                <a:solidFill>
                  <a:srgbClr val="73716C"/>
                </a:solidFill>
                <a:latin typeface="Calibri" pitchFamily="34" charset="0"/>
                <a:ea typeface="Calibri" pitchFamily="34" charset="-122"/>
                <a:cs typeface="Calibri" pitchFamily="34" charset="-120"/>
              </a:rPr>
              <a:t>PM board</a:t>
            </a:r>
            <a:endParaRPr lang="en-US" sz="1050" dirty="0"/>
          </a:p>
          <a:p>
            <a:pPr algn="ctr" indent="0" marL="0">
              <a:lnSpc>
                <a:spcPct val="105000"/>
              </a:lnSpc>
              <a:buNone/>
            </a:pPr>
            <a:r>
              <a:rPr lang="en-US" sz="1050" dirty="0">
                <a:solidFill>
                  <a:srgbClr val="73716C"/>
                </a:solidFill>
                <a:latin typeface="Calibri" pitchFamily="34" charset="0"/>
                <a:ea typeface="Calibri" pitchFamily="34" charset="-122"/>
                <a:cs typeface="Calibri" pitchFamily="34" charset="-120"/>
              </a:rPr>
              <a:t>automation</a:t>
            </a:r>
            <a:endParaRPr lang="en-US" sz="1050" dirty="0"/>
          </a:p>
        </p:txBody>
      </p:sp>
      <p:sp>
        <p:nvSpPr>
          <p:cNvPr id="8" name="Shape 6"/>
          <p:cNvSpPr/>
          <p:nvPr/>
        </p:nvSpPr>
        <p:spPr>
          <a:xfrm>
            <a:off x="685800" y="2496312"/>
            <a:ext cx="10835640" cy="438912"/>
          </a:xfrm>
          <a:prstGeom prst="rect">
            <a:avLst/>
          </a:prstGeom>
          <a:solidFill>
            <a:srgbClr val="FAF9F5"/>
          </a:solidFill>
          <a:ln w="12700">
            <a:solidFill>
              <a:srgbClr val="FAF9F5"/>
            </a:solidFill>
            <a:prstDash val="solid"/>
          </a:ln>
        </p:spPr>
      </p:sp>
      <p:sp>
        <p:nvSpPr>
          <p:cNvPr id="9" name="Text 7"/>
          <p:cNvSpPr/>
          <p:nvPr/>
        </p:nvSpPr>
        <p:spPr>
          <a:xfrm>
            <a:off x="868680" y="2542032"/>
            <a:ext cx="4572000" cy="347472"/>
          </a:xfrm>
          <a:prstGeom prst="rect">
            <a:avLst/>
          </a:prstGeom>
          <a:noFill/>
          <a:ln/>
        </p:spPr>
        <p:txBody>
          <a:bodyPr wrap="square" lIns="0" tIns="0" rIns="0" bIns="0" rtlCol="0" anchor="ctr"/>
          <a:lstStyle/>
          <a:p>
            <a:pPr indent="0" marL="0">
              <a:buNone/>
            </a:pPr>
            <a:r>
              <a:rPr lang="en-US" sz="1200" dirty="0">
                <a:solidFill>
                  <a:srgbClr val="191919"/>
                </a:solidFill>
                <a:latin typeface="Calibri" pitchFamily="34" charset="0"/>
                <a:ea typeface="Calibri" pitchFamily="34" charset="-122"/>
                <a:cs typeface="Calibri" pitchFamily="34" charset="-120"/>
              </a:rPr>
              <a:t>Writes the code</a:t>
            </a:r>
            <a:endParaRPr lang="en-US" sz="1200" dirty="0"/>
          </a:p>
        </p:txBody>
      </p:sp>
      <p:sp>
        <p:nvSpPr>
          <p:cNvPr id="10" name="Text 8"/>
          <p:cNvSpPr/>
          <p:nvPr/>
        </p:nvSpPr>
        <p:spPr>
          <a:xfrm>
            <a:off x="5532120" y="2542032"/>
            <a:ext cx="1481328" cy="347472"/>
          </a:xfrm>
          <a:prstGeom prst="rect">
            <a:avLst/>
          </a:prstGeom>
          <a:noFill/>
          <a:ln/>
        </p:spPr>
        <p:txBody>
          <a:bodyPr wrap="square" lIns="0" tIns="0" rIns="0" bIns="0" rtlCol="0" anchor="ctr"/>
          <a:lstStyle/>
          <a:p>
            <a:pPr algn="ctr" indent="0" marL="0">
              <a:buNone/>
            </a:pPr>
            <a:r>
              <a:rPr lang="en-US" sz="1500" dirty="0">
                <a:solidFill>
                  <a:srgbClr val="D97757"/>
                </a:solidFill>
                <a:latin typeface="Calibri" pitchFamily="34" charset="0"/>
                <a:ea typeface="Calibri" pitchFamily="34" charset="-122"/>
                <a:cs typeface="Calibri" pitchFamily="34" charset="-120"/>
              </a:rPr>
              <a:t>●</a:t>
            </a:r>
            <a:endParaRPr lang="en-US" sz="1500" dirty="0"/>
          </a:p>
        </p:txBody>
      </p:sp>
      <p:sp>
        <p:nvSpPr>
          <p:cNvPr id="11" name="Text 9"/>
          <p:cNvSpPr/>
          <p:nvPr/>
        </p:nvSpPr>
        <p:spPr>
          <a:xfrm>
            <a:off x="7013448" y="2542032"/>
            <a:ext cx="1481328" cy="347472"/>
          </a:xfrm>
          <a:prstGeom prst="rect">
            <a:avLst/>
          </a:prstGeom>
          <a:noFill/>
          <a:ln/>
        </p:spPr>
        <p:txBody>
          <a:bodyPr wrap="square" lIns="0" tIns="0" rIns="0" bIns="0" rtlCol="0" anchor="ctr"/>
          <a:lstStyle/>
          <a:p>
            <a:pPr algn="ctr" indent="0" marL="0">
              <a:buNone/>
            </a:pPr>
            <a:r>
              <a:rPr lang="en-US" sz="1500" dirty="0">
                <a:solidFill>
                  <a:srgbClr val="D97757"/>
                </a:solidFill>
                <a:latin typeface="Calibri" pitchFamily="34" charset="0"/>
                <a:ea typeface="Calibri" pitchFamily="34" charset="-122"/>
                <a:cs typeface="Calibri" pitchFamily="34" charset="-120"/>
              </a:rPr>
              <a:t>●</a:t>
            </a:r>
            <a:endParaRPr lang="en-US" sz="1500" dirty="0"/>
          </a:p>
        </p:txBody>
      </p:sp>
      <p:sp>
        <p:nvSpPr>
          <p:cNvPr id="12" name="Text 10"/>
          <p:cNvSpPr/>
          <p:nvPr/>
        </p:nvSpPr>
        <p:spPr>
          <a:xfrm>
            <a:off x="8494776" y="2542032"/>
            <a:ext cx="1481328" cy="347472"/>
          </a:xfrm>
          <a:prstGeom prst="rect">
            <a:avLst/>
          </a:prstGeom>
          <a:noFill/>
          <a:ln/>
        </p:spPr>
        <p:txBody>
          <a:bodyPr wrap="square" lIns="0" tIns="0" rIns="0" bIns="0" rtlCol="0" anchor="ctr"/>
          <a:lstStyle/>
          <a:p>
            <a:pPr algn="ctr" indent="0" marL="0">
              <a:buNone/>
            </a:pPr>
            <a:r>
              <a:rPr lang="en-US" sz="1500" dirty="0">
                <a:solidFill>
                  <a:srgbClr val="AFA89C"/>
                </a:solidFill>
                <a:latin typeface="Calibri" pitchFamily="34" charset="0"/>
                <a:ea typeface="Calibri" pitchFamily="34" charset="-122"/>
                <a:cs typeface="Calibri" pitchFamily="34" charset="-120"/>
              </a:rPr>
              <a:t>○</a:t>
            </a:r>
            <a:endParaRPr lang="en-US" sz="1500" dirty="0"/>
          </a:p>
        </p:txBody>
      </p:sp>
      <p:sp>
        <p:nvSpPr>
          <p:cNvPr id="13" name="Text 11"/>
          <p:cNvSpPr/>
          <p:nvPr/>
        </p:nvSpPr>
        <p:spPr>
          <a:xfrm>
            <a:off x="9976104" y="2542032"/>
            <a:ext cx="1481328" cy="347472"/>
          </a:xfrm>
          <a:prstGeom prst="rect">
            <a:avLst/>
          </a:prstGeom>
          <a:noFill/>
          <a:ln/>
        </p:spPr>
        <p:txBody>
          <a:bodyPr wrap="square" lIns="0" tIns="0" rIns="0" bIns="0" rtlCol="0" anchor="ctr"/>
          <a:lstStyle/>
          <a:p>
            <a:pPr algn="ctr" indent="0" marL="0">
              <a:buNone/>
            </a:pPr>
            <a:r>
              <a:rPr lang="en-US" sz="1500" dirty="0">
                <a:solidFill>
                  <a:srgbClr val="AFA89C"/>
                </a:solidFill>
                <a:latin typeface="Calibri" pitchFamily="34" charset="0"/>
                <a:ea typeface="Calibri" pitchFamily="34" charset="-122"/>
                <a:cs typeface="Calibri" pitchFamily="34" charset="-120"/>
              </a:rPr>
              <a:t>○</a:t>
            </a:r>
            <a:endParaRPr lang="en-US" sz="1500" dirty="0"/>
          </a:p>
        </p:txBody>
      </p:sp>
      <p:sp>
        <p:nvSpPr>
          <p:cNvPr id="14" name="Text 12"/>
          <p:cNvSpPr/>
          <p:nvPr/>
        </p:nvSpPr>
        <p:spPr>
          <a:xfrm>
            <a:off x="868680" y="2999232"/>
            <a:ext cx="4572000" cy="347472"/>
          </a:xfrm>
          <a:prstGeom prst="rect">
            <a:avLst/>
          </a:prstGeom>
          <a:noFill/>
          <a:ln/>
        </p:spPr>
        <p:txBody>
          <a:bodyPr wrap="square" lIns="0" tIns="0" rIns="0" bIns="0" rtlCol="0" anchor="ctr"/>
          <a:lstStyle/>
          <a:p>
            <a:pPr indent="0" marL="0">
              <a:buNone/>
            </a:pPr>
            <a:r>
              <a:rPr lang="en-US" sz="1200" dirty="0">
                <a:solidFill>
                  <a:srgbClr val="191919"/>
                </a:solidFill>
                <a:latin typeface="Calibri" pitchFamily="34" charset="0"/>
                <a:ea typeface="Calibri" pitchFamily="34" charset="-122"/>
                <a:cs typeface="Calibri" pitchFamily="34" charset="-120"/>
              </a:rPr>
              <a:t>Gathers Slack + Jira context first</a:t>
            </a:r>
            <a:endParaRPr lang="en-US" sz="1200" dirty="0"/>
          </a:p>
        </p:txBody>
      </p:sp>
      <p:sp>
        <p:nvSpPr>
          <p:cNvPr id="15" name="Text 13"/>
          <p:cNvSpPr/>
          <p:nvPr/>
        </p:nvSpPr>
        <p:spPr>
          <a:xfrm>
            <a:off x="5532120" y="2999232"/>
            <a:ext cx="1481328" cy="347472"/>
          </a:xfrm>
          <a:prstGeom prst="rect">
            <a:avLst/>
          </a:prstGeom>
          <a:noFill/>
          <a:ln/>
        </p:spPr>
        <p:txBody>
          <a:bodyPr wrap="square" lIns="0" tIns="0" rIns="0" bIns="0" rtlCol="0" anchor="ctr"/>
          <a:lstStyle/>
          <a:p>
            <a:pPr algn="ctr" indent="0" marL="0">
              <a:buNone/>
            </a:pPr>
            <a:r>
              <a:rPr lang="en-US" sz="1500" dirty="0">
                <a:solidFill>
                  <a:srgbClr val="D97757"/>
                </a:solidFill>
                <a:latin typeface="Calibri" pitchFamily="34" charset="0"/>
                <a:ea typeface="Calibri" pitchFamily="34" charset="-122"/>
                <a:cs typeface="Calibri" pitchFamily="34" charset="-120"/>
              </a:rPr>
              <a:t>●</a:t>
            </a:r>
            <a:endParaRPr lang="en-US" sz="1500" dirty="0"/>
          </a:p>
        </p:txBody>
      </p:sp>
      <p:sp>
        <p:nvSpPr>
          <p:cNvPr id="16" name="Text 14"/>
          <p:cNvSpPr/>
          <p:nvPr/>
        </p:nvSpPr>
        <p:spPr>
          <a:xfrm>
            <a:off x="7013448" y="2999232"/>
            <a:ext cx="1481328" cy="347472"/>
          </a:xfrm>
          <a:prstGeom prst="rect">
            <a:avLst/>
          </a:prstGeom>
          <a:noFill/>
          <a:ln/>
        </p:spPr>
        <p:txBody>
          <a:bodyPr wrap="square" lIns="0" tIns="0" rIns="0" bIns="0" rtlCol="0" anchor="ctr"/>
          <a:lstStyle/>
          <a:p>
            <a:pPr algn="ctr" indent="0" marL="0">
              <a:buNone/>
            </a:pPr>
            <a:r>
              <a:rPr lang="en-US" sz="1500" dirty="0">
                <a:solidFill>
                  <a:srgbClr val="D4A27F"/>
                </a:solidFill>
                <a:latin typeface="Calibri" pitchFamily="34" charset="0"/>
                <a:ea typeface="Calibri" pitchFamily="34" charset="-122"/>
                <a:cs typeface="Calibri" pitchFamily="34" charset="-120"/>
              </a:rPr>
              <a:t>◐</a:t>
            </a:r>
            <a:endParaRPr lang="en-US" sz="1500" dirty="0"/>
          </a:p>
        </p:txBody>
      </p:sp>
      <p:sp>
        <p:nvSpPr>
          <p:cNvPr id="17" name="Text 15"/>
          <p:cNvSpPr/>
          <p:nvPr/>
        </p:nvSpPr>
        <p:spPr>
          <a:xfrm>
            <a:off x="8494776" y="2999232"/>
            <a:ext cx="1481328" cy="347472"/>
          </a:xfrm>
          <a:prstGeom prst="rect">
            <a:avLst/>
          </a:prstGeom>
          <a:noFill/>
          <a:ln/>
        </p:spPr>
        <p:txBody>
          <a:bodyPr wrap="square" lIns="0" tIns="0" rIns="0" bIns="0" rtlCol="0" anchor="ctr"/>
          <a:lstStyle/>
          <a:p>
            <a:pPr algn="ctr" indent="0" marL="0">
              <a:buNone/>
            </a:pPr>
            <a:r>
              <a:rPr lang="en-US" sz="1500" dirty="0">
                <a:solidFill>
                  <a:srgbClr val="AFA89C"/>
                </a:solidFill>
                <a:latin typeface="Calibri" pitchFamily="34" charset="0"/>
                <a:ea typeface="Calibri" pitchFamily="34" charset="-122"/>
                <a:cs typeface="Calibri" pitchFamily="34" charset="-120"/>
              </a:rPr>
              <a:t>○</a:t>
            </a:r>
            <a:endParaRPr lang="en-US" sz="1500" dirty="0"/>
          </a:p>
        </p:txBody>
      </p:sp>
      <p:sp>
        <p:nvSpPr>
          <p:cNvPr id="18" name="Text 16"/>
          <p:cNvSpPr/>
          <p:nvPr/>
        </p:nvSpPr>
        <p:spPr>
          <a:xfrm>
            <a:off x="9976104" y="2999232"/>
            <a:ext cx="1481328" cy="347472"/>
          </a:xfrm>
          <a:prstGeom prst="rect">
            <a:avLst/>
          </a:prstGeom>
          <a:noFill/>
          <a:ln/>
        </p:spPr>
        <p:txBody>
          <a:bodyPr wrap="square" lIns="0" tIns="0" rIns="0" bIns="0" rtlCol="0" anchor="ctr"/>
          <a:lstStyle/>
          <a:p>
            <a:pPr algn="ctr" indent="0" marL="0">
              <a:buNone/>
            </a:pPr>
            <a:r>
              <a:rPr lang="en-US" sz="1500" dirty="0">
                <a:solidFill>
                  <a:srgbClr val="AFA89C"/>
                </a:solidFill>
                <a:latin typeface="Calibri" pitchFamily="34" charset="0"/>
                <a:ea typeface="Calibri" pitchFamily="34" charset="-122"/>
                <a:cs typeface="Calibri" pitchFamily="34" charset="-120"/>
              </a:rPr>
              <a:t>○</a:t>
            </a:r>
            <a:endParaRPr lang="en-US" sz="1500" dirty="0"/>
          </a:p>
        </p:txBody>
      </p:sp>
      <p:sp>
        <p:nvSpPr>
          <p:cNvPr id="19" name="Shape 17"/>
          <p:cNvSpPr/>
          <p:nvPr/>
        </p:nvSpPr>
        <p:spPr>
          <a:xfrm>
            <a:off x="685800" y="3410712"/>
            <a:ext cx="10835640" cy="438912"/>
          </a:xfrm>
          <a:prstGeom prst="rect">
            <a:avLst/>
          </a:prstGeom>
          <a:solidFill>
            <a:srgbClr val="FAF9F5"/>
          </a:solidFill>
          <a:ln w="12700">
            <a:solidFill>
              <a:srgbClr val="FAF9F5"/>
            </a:solidFill>
            <a:prstDash val="solid"/>
          </a:ln>
        </p:spPr>
      </p:sp>
      <p:sp>
        <p:nvSpPr>
          <p:cNvPr id="20" name="Text 18"/>
          <p:cNvSpPr/>
          <p:nvPr/>
        </p:nvSpPr>
        <p:spPr>
          <a:xfrm>
            <a:off x="868680" y="3456432"/>
            <a:ext cx="4572000" cy="347472"/>
          </a:xfrm>
          <a:prstGeom prst="rect">
            <a:avLst/>
          </a:prstGeom>
          <a:noFill/>
          <a:ln/>
        </p:spPr>
        <p:txBody>
          <a:bodyPr wrap="square" lIns="0" tIns="0" rIns="0" bIns="0" rtlCol="0" anchor="ctr"/>
          <a:lstStyle/>
          <a:p>
            <a:pPr indent="0" marL="0">
              <a:buNone/>
            </a:pPr>
            <a:r>
              <a:rPr lang="en-US" sz="1200" dirty="0">
                <a:solidFill>
                  <a:srgbClr val="191919"/>
                </a:solidFill>
                <a:latin typeface="Calibri" pitchFamily="34" charset="0"/>
                <a:ea typeface="Calibri" pitchFamily="34" charset="-122"/>
                <a:cs typeface="Calibri" pitchFamily="34" charset="-120"/>
              </a:rPr>
              <a:t>Reviews against the requirement</a:t>
            </a:r>
            <a:endParaRPr lang="en-US" sz="1200" dirty="0"/>
          </a:p>
        </p:txBody>
      </p:sp>
      <p:sp>
        <p:nvSpPr>
          <p:cNvPr id="21" name="Text 19"/>
          <p:cNvSpPr/>
          <p:nvPr/>
        </p:nvSpPr>
        <p:spPr>
          <a:xfrm>
            <a:off x="5532120" y="3456432"/>
            <a:ext cx="1481328" cy="347472"/>
          </a:xfrm>
          <a:prstGeom prst="rect">
            <a:avLst/>
          </a:prstGeom>
          <a:noFill/>
          <a:ln/>
        </p:spPr>
        <p:txBody>
          <a:bodyPr wrap="square" lIns="0" tIns="0" rIns="0" bIns="0" rtlCol="0" anchor="ctr"/>
          <a:lstStyle/>
          <a:p>
            <a:pPr algn="ctr" indent="0" marL="0">
              <a:buNone/>
            </a:pPr>
            <a:r>
              <a:rPr lang="en-US" sz="1500" dirty="0">
                <a:solidFill>
                  <a:srgbClr val="D97757"/>
                </a:solidFill>
                <a:latin typeface="Calibri" pitchFamily="34" charset="0"/>
                <a:ea typeface="Calibri" pitchFamily="34" charset="-122"/>
                <a:cs typeface="Calibri" pitchFamily="34" charset="-120"/>
              </a:rPr>
              <a:t>●</a:t>
            </a:r>
            <a:endParaRPr lang="en-US" sz="1500" dirty="0"/>
          </a:p>
        </p:txBody>
      </p:sp>
      <p:sp>
        <p:nvSpPr>
          <p:cNvPr id="22" name="Text 20"/>
          <p:cNvSpPr/>
          <p:nvPr/>
        </p:nvSpPr>
        <p:spPr>
          <a:xfrm>
            <a:off x="7013448" y="3456432"/>
            <a:ext cx="1481328" cy="347472"/>
          </a:xfrm>
          <a:prstGeom prst="rect">
            <a:avLst/>
          </a:prstGeom>
          <a:noFill/>
          <a:ln/>
        </p:spPr>
        <p:txBody>
          <a:bodyPr wrap="square" lIns="0" tIns="0" rIns="0" bIns="0" rtlCol="0" anchor="ctr"/>
          <a:lstStyle/>
          <a:p>
            <a:pPr algn="ctr" indent="0" marL="0">
              <a:buNone/>
            </a:pPr>
            <a:r>
              <a:rPr lang="en-US" sz="1500" dirty="0">
                <a:solidFill>
                  <a:srgbClr val="AFA89C"/>
                </a:solidFill>
                <a:latin typeface="Calibri" pitchFamily="34" charset="0"/>
                <a:ea typeface="Calibri" pitchFamily="34" charset="-122"/>
                <a:cs typeface="Calibri" pitchFamily="34" charset="-120"/>
              </a:rPr>
              <a:t>○</a:t>
            </a:r>
            <a:endParaRPr lang="en-US" sz="1500" dirty="0"/>
          </a:p>
        </p:txBody>
      </p:sp>
      <p:sp>
        <p:nvSpPr>
          <p:cNvPr id="23" name="Text 21"/>
          <p:cNvSpPr/>
          <p:nvPr/>
        </p:nvSpPr>
        <p:spPr>
          <a:xfrm>
            <a:off x="8494776" y="3456432"/>
            <a:ext cx="1481328" cy="347472"/>
          </a:xfrm>
          <a:prstGeom prst="rect">
            <a:avLst/>
          </a:prstGeom>
          <a:noFill/>
          <a:ln/>
        </p:spPr>
        <p:txBody>
          <a:bodyPr wrap="square" lIns="0" tIns="0" rIns="0" bIns="0" rtlCol="0" anchor="ctr"/>
          <a:lstStyle/>
          <a:p>
            <a:pPr algn="ctr" indent="0" marL="0">
              <a:buNone/>
            </a:pPr>
            <a:r>
              <a:rPr lang="en-US" sz="1500" dirty="0">
                <a:solidFill>
                  <a:srgbClr val="D4A27F"/>
                </a:solidFill>
                <a:latin typeface="Calibri" pitchFamily="34" charset="0"/>
                <a:ea typeface="Calibri" pitchFamily="34" charset="-122"/>
                <a:cs typeface="Calibri" pitchFamily="34" charset="-120"/>
              </a:rPr>
              <a:t>◐</a:t>
            </a:r>
            <a:endParaRPr lang="en-US" sz="1500" dirty="0"/>
          </a:p>
        </p:txBody>
      </p:sp>
      <p:sp>
        <p:nvSpPr>
          <p:cNvPr id="24" name="Text 22"/>
          <p:cNvSpPr/>
          <p:nvPr/>
        </p:nvSpPr>
        <p:spPr>
          <a:xfrm>
            <a:off x="9976104" y="3456432"/>
            <a:ext cx="1481328" cy="347472"/>
          </a:xfrm>
          <a:prstGeom prst="rect">
            <a:avLst/>
          </a:prstGeom>
          <a:noFill/>
          <a:ln/>
        </p:spPr>
        <p:txBody>
          <a:bodyPr wrap="square" lIns="0" tIns="0" rIns="0" bIns="0" rtlCol="0" anchor="ctr"/>
          <a:lstStyle/>
          <a:p>
            <a:pPr algn="ctr" indent="0" marL="0">
              <a:buNone/>
            </a:pPr>
            <a:r>
              <a:rPr lang="en-US" sz="1500" dirty="0">
                <a:solidFill>
                  <a:srgbClr val="AFA89C"/>
                </a:solidFill>
                <a:latin typeface="Calibri" pitchFamily="34" charset="0"/>
                <a:ea typeface="Calibri" pitchFamily="34" charset="-122"/>
                <a:cs typeface="Calibri" pitchFamily="34" charset="-120"/>
              </a:rPr>
              <a:t>○</a:t>
            </a:r>
            <a:endParaRPr lang="en-US" sz="1500" dirty="0"/>
          </a:p>
        </p:txBody>
      </p:sp>
      <p:sp>
        <p:nvSpPr>
          <p:cNvPr id="25" name="Text 23"/>
          <p:cNvSpPr/>
          <p:nvPr/>
        </p:nvSpPr>
        <p:spPr>
          <a:xfrm>
            <a:off x="868680" y="3913632"/>
            <a:ext cx="4572000" cy="347472"/>
          </a:xfrm>
          <a:prstGeom prst="rect">
            <a:avLst/>
          </a:prstGeom>
          <a:noFill/>
          <a:ln/>
        </p:spPr>
        <p:txBody>
          <a:bodyPr wrap="square" lIns="0" tIns="0" rIns="0" bIns="0" rtlCol="0" anchor="ctr"/>
          <a:lstStyle/>
          <a:p>
            <a:pPr indent="0" marL="0">
              <a:buNone/>
            </a:pPr>
            <a:r>
              <a:rPr lang="en-US" sz="1200" dirty="0">
                <a:solidFill>
                  <a:srgbClr val="191919"/>
                </a:solidFill>
                <a:latin typeface="Calibri" pitchFamily="34" charset="0"/>
                <a:ea typeface="Calibri" pitchFamily="34" charset="-122"/>
                <a:cs typeface="Calibri" pitchFamily="34" charset="-120"/>
              </a:rPr>
              <a:t>Tracks the review round trip</a:t>
            </a:r>
            <a:endParaRPr lang="en-US" sz="1200" dirty="0"/>
          </a:p>
        </p:txBody>
      </p:sp>
      <p:sp>
        <p:nvSpPr>
          <p:cNvPr id="26" name="Text 24"/>
          <p:cNvSpPr/>
          <p:nvPr/>
        </p:nvSpPr>
        <p:spPr>
          <a:xfrm>
            <a:off x="5532120" y="3913632"/>
            <a:ext cx="1481328" cy="347472"/>
          </a:xfrm>
          <a:prstGeom prst="rect">
            <a:avLst/>
          </a:prstGeom>
          <a:noFill/>
          <a:ln/>
        </p:spPr>
        <p:txBody>
          <a:bodyPr wrap="square" lIns="0" tIns="0" rIns="0" bIns="0" rtlCol="0" anchor="ctr"/>
          <a:lstStyle/>
          <a:p>
            <a:pPr algn="ctr" indent="0" marL="0">
              <a:buNone/>
            </a:pPr>
            <a:r>
              <a:rPr lang="en-US" sz="1500" dirty="0">
                <a:solidFill>
                  <a:srgbClr val="D97757"/>
                </a:solidFill>
                <a:latin typeface="Calibri" pitchFamily="34" charset="0"/>
                <a:ea typeface="Calibri" pitchFamily="34" charset="-122"/>
                <a:cs typeface="Calibri" pitchFamily="34" charset="-120"/>
              </a:rPr>
              <a:t>●</a:t>
            </a:r>
            <a:endParaRPr lang="en-US" sz="1500" dirty="0"/>
          </a:p>
        </p:txBody>
      </p:sp>
      <p:sp>
        <p:nvSpPr>
          <p:cNvPr id="27" name="Text 25"/>
          <p:cNvSpPr/>
          <p:nvPr/>
        </p:nvSpPr>
        <p:spPr>
          <a:xfrm>
            <a:off x="7013448" y="3913632"/>
            <a:ext cx="1481328" cy="347472"/>
          </a:xfrm>
          <a:prstGeom prst="rect">
            <a:avLst/>
          </a:prstGeom>
          <a:noFill/>
          <a:ln/>
        </p:spPr>
        <p:txBody>
          <a:bodyPr wrap="square" lIns="0" tIns="0" rIns="0" bIns="0" rtlCol="0" anchor="ctr"/>
          <a:lstStyle/>
          <a:p>
            <a:pPr algn="ctr" indent="0" marL="0">
              <a:buNone/>
            </a:pPr>
            <a:r>
              <a:rPr lang="en-US" sz="1500" dirty="0">
                <a:solidFill>
                  <a:srgbClr val="AFA89C"/>
                </a:solidFill>
                <a:latin typeface="Calibri" pitchFamily="34" charset="0"/>
                <a:ea typeface="Calibri" pitchFamily="34" charset="-122"/>
                <a:cs typeface="Calibri" pitchFamily="34" charset="-120"/>
              </a:rPr>
              <a:t>○</a:t>
            </a:r>
            <a:endParaRPr lang="en-US" sz="1500" dirty="0"/>
          </a:p>
        </p:txBody>
      </p:sp>
      <p:sp>
        <p:nvSpPr>
          <p:cNvPr id="28" name="Text 26"/>
          <p:cNvSpPr/>
          <p:nvPr/>
        </p:nvSpPr>
        <p:spPr>
          <a:xfrm>
            <a:off x="8494776" y="3913632"/>
            <a:ext cx="1481328" cy="347472"/>
          </a:xfrm>
          <a:prstGeom prst="rect">
            <a:avLst/>
          </a:prstGeom>
          <a:noFill/>
          <a:ln/>
        </p:spPr>
        <p:txBody>
          <a:bodyPr wrap="square" lIns="0" tIns="0" rIns="0" bIns="0" rtlCol="0" anchor="ctr"/>
          <a:lstStyle/>
          <a:p>
            <a:pPr algn="ctr" indent="0" marL="0">
              <a:buNone/>
            </a:pPr>
            <a:r>
              <a:rPr lang="en-US" sz="1500" dirty="0">
                <a:solidFill>
                  <a:srgbClr val="AFA89C"/>
                </a:solidFill>
                <a:latin typeface="Calibri" pitchFamily="34" charset="0"/>
                <a:ea typeface="Calibri" pitchFamily="34" charset="-122"/>
                <a:cs typeface="Calibri" pitchFamily="34" charset="-120"/>
              </a:rPr>
              <a:t>○</a:t>
            </a:r>
            <a:endParaRPr lang="en-US" sz="1500" dirty="0"/>
          </a:p>
        </p:txBody>
      </p:sp>
      <p:sp>
        <p:nvSpPr>
          <p:cNvPr id="29" name="Text 27"/>
          <p:cNvSpPr/>
          <p:nvPr/>
        </p:nvSpPr>
        <p:spPr>
          <a:xfrm>
            <a:off x="9976104" y="3913632"/>
            <a:ext cx="1481328" cy="347472"/>
          </a:xfrm>
          <a:prstGeom prst="rect">
            <a:avLst/>
          </a:prstGeom>
          <a:noFill/>
          <a:ln/>
        </p:spPr>
        <p:txBody>
          <a:bodyPr wrap="square" lIns="0" tIns="0" rIns="0" bIns="0" rtlCol="0" anchor="ctr"/>
          <a:lstStyle/>
          <a:p>
            <a:pPr algn="ctr" indent="0" marL="0">
              <a:buNone/>
            </a:pPr>
            <a:r>
              <a:rPr lang="en-US" sz="1500" dirty="0">
                <a:solidFill>
                  <a:srgbClr val="AFA89C"/>
                </a:solidFill>
                <a:latin typeface="Calibri" pitchFamily="34" charset="0"/>
                <a:ea typeface="Calibri" pitchFamily="34" charset="-122"/>
                <a:cs typeface="Calibri" pitchFamily="34" charset="-120"/>
              </a:rPr>
              <a:t>○</a:t>
            </a:r>
            <a:endParaRPr lang="en-US" sz="1500" dirty="0"/>
          </a:p>
        </p:txBody>
      </p:sp>
      <p:sp>
        <p:nvSpPr>
          <p:cNvPr id="30" name="Shape 28"/>
          <p:cNvSpPr/>
          <p:nvPr/>
        </p:nvSpPr>
        <p:spPr>
          <a:xfrm>
            <a:off x="685800" y="4325112"/>
            <a:ext cx="10835640" cy="438912"/>
          </a:xfrm>
          <a:prstGeom prst="rect">
            <a:avLst/>
          </a:prstGeom>
          <a:solidFill>
            <a:srgbClr val="FAF9F5"/>
          </a:solidFill>
          <a:ln w="12700">
            <a:solidFill>
              <a:srgbClr val="FAF9F5"/>
            </a:solidFill>
            <a:prstDash val="solid"/>
          </a:ln>
        </p:spPr>
      </p:sp>
      <p:sp>
        <p:nvSpPr>
          <p:cNvPr id="31" name="Text 29"/>
          <p:cNvSpPr/>
          <p:nvPr/>
        </p:nvSpPr>
        <p:spPr>
          <a:xfrm>
            <a:off x="868680" y="4370832"/>
            <a:ext cx="4572000" cy="347472"/>
          </a:xfrm>
          <a:prstGeom prst="rect">
            <a:avLst/>
          </a:prstGeom>
          <a:noFill/>
          <a:ln/>
        </p:spPr>
        <p:txBody>
          <a:bodyPr wrap="square" lIns="0" tIns="0" rIns="0" bIns="0" rtlCol="0" anchor="ctr"/>
          <a:lstStyle/>
          <a:p>
            <a:pPr indent="0" marL="0">
              <a:buNone/>
            </a:pPr>
            <a:r>
              <a:rPr lang="en-US" sz="1200" dirty="0">
                <a:solidFill>
                  <a:srgbClr val="191919"/>
                </a:solidFill>
                <a:latin typeface="Calibri" pitchFamily="34" charset="0"/>
                <a:ea typeface="Calibri" pitchFamily="34" charset="-122"/>
                <a:cs typeface="Calibri" pitchFamily="34" charset="-120"/>
              </a:rPr>
              <a:t>Routes to QA and reads the verdict</a:t>
            </a:r>
            <a:endParaRPr lang="en-US" sz="1200" dirty="0"/>
          </a:p>
        </p:txBody>
      </p:sp>
      <p:sp>
        <p:nvSpPr>
          <p:cNvPr id="32" name="Text 30"/>
          <p:cNvSpPr/>
          <p:nvPr/>
        </p:nvSpPr>
        <p:spPr>
          <a:xfrm>
            <a:off x="5532120" y="4370832"/>
            <a:ext cx="1481328" cy="347472"/>
          </a:xfrm>
          <a:prstGeom prst="rect">
            <a:avLst/>
          </a:prstGeom>
          <a:noFill/>
          <a:ln/>
        </p:spPr>
        <p:txBody>
          <a:bodyPr wrap="square" lIns="0" tIns="0" rIns="0" bIns="0" rtlCol="0" anchor="ctr"/>
          <a:lstStyle/>
          <a:p>
            <a:pPr algn="ctr" indent="0" marL="0">
              <a:buNone/>
            </a:pPr>
            <a:r>
              <a:rPr lang="en-US" sz="1500" dirty="0">
                <a:solidFill>
                  <a:srgbClr val="D97757"/>
                </a:solidFill>
                <a:latin typeface="Calibri" pitchFamily="34" charset="0"/>
                <a:ea typeface="Calibri" pitchFamily="34" charset="-122"/>
                <a:cs typeface="Calibri" pitchFamily="34" charset="-120"/>
              </a:rPr>
              <a:t>●</a:t>
            </a:r>
            <a:endParaRPr lang="en-US" sz="1500" dirty="0"/>
          </a:p>
        </p:txBody>
      </p:sp>
      <p:sp>
        <p:nvSpPr>
          <p:cNvPr id="33" name="Text 31"/>
          <p:cNvSpPr/>
          <p:nvPr/>
        </p:nvSpPr>
        <p:spPr>
          <a:xfrm>
            <a:off x="7013448" y="4370832"/>
            <a:ext cx="1481328" cy="347472"/>
          </a:xfrm>
          <a:prstGeom prst="rect">
            <a:avLst/>
          </a:prstGeom>
          <a:noFill/>
          <a:ln/>
        </p:spPr>
        <p:txBody>
          <a:bodyPr wrap="square" lIns="0" tIns="0" rIns="0" bIns="0" rtlCol="0" anchor="ctr"/>
          <a:lstStyle/>
          <a:p>
            <a:pPr algn="ctr" indent="0" marL="0">
              <a:buNone/>
            </a:pPr>
            <a:r>
              <a:rPr lang="en-US" sz="1500" dirty="0">
                <a:solidFill>
                  <a:srgbClr val="AFA89C"/>
                </a:solidFill>
                <a:latin typeface="Calibri" pitchFamily="34" charset="0"/>
                <a:ea typeface="Calibri" pitchFamily="34" charset="-122"/>
                <a:cs typeface="Calibri" pitchFamily="34" charset="-120"/>
              </a:rPr>
              <a:t>○</a:t>
            </a:r>
            <a:endParaRPr lang="en-US" sz="1500" dirty="0"/>
          </a:p>
        </p:txBody>
      </p:sp>
      <p:sp>
        <p:nvSpPr>
          <p:cNvPr id="34" name="Text 32"/>
          <p:cNvSpPr/>
          <p:nvPr/>
        </p:nvSpPr>
        <p:spPr>
          <a:xfrm>
            <a:off x="8494776" y="4370832"/>
            <a:ext cx="1481328" cy="347472"/>
          </a:xfrm>
          <a:prstGeom prst="rect">
            <a:avLst/>
          </a:prstGeom>
          <a:noFill/>
          <a:ln/>
        </p:spPr>
        <p:txBody>
          <a:bodyPr wrap="square" lIns="0" tIns="0" rIns="0" bIns="0" rtlCol="0" anchor="ctr"/>
          <a:lstStyle/>
          <a:p>
            <a:pPr algn="ctr" indent="0" marL="0">
              <a:buNone/>
            </a:pPr>
            <a:r>
              <a:rPr lang="en-US" sz="1500" dirty="0">
                <a:solidFill>
                  <a:srgbClr val="AFA89C"/>
                </a:solidFill>
                <a:latin typeface="Calibri" pitchFamily="34" charset="0"/>
                <a:ea typeface="Calibri" pitchFamily="34" charset="-122"/>
                <a:cs typeface="Calibri" pitchFamily="34" charset="-120"/>
              </a:rPr>
              <a:t>○</a:t>
            </a:r>
            <a:endParaRPr lang="en-US" sz="1500" dirty="0"/>
          </a:p>
        </p:txBody>
      </p:sp>
      <p:sp>
        <p:nvSpPr>
          <p:cNvPr id="35" name="Text 33"/>
          <p:cNvSpPr/>
          <p:nvPr/>
        </p:nvSpPr>
        <p:spPr>
          <a:xfrm>
            <a:off x="9976104" y="4370832"/>
            <a:ext cx="1481328" cy="347472"/>
          </a:xfrm>
          <a:prstGeom prst="rect">
            <a:avLst/>
          </a:prstGeom>
          <a:noFill/>
          <a:ln/>
        </p:spPr>
        <p:txBody>
          <a:bodyPr wrap="square" lIns="0" tIns="0" rIns="0" bIns="0" rtlCol="0" anchor="ctr"/>
          <a:lstStyle/>
          <a:p>
            <a:pPr algn="ctr" indent="0" marL="0">
              <a:buNone/>
            </a:pPr>
            <a:r>
              <a:rPr lang="en-US" sz="1500" dirty="0">
                <a:solidFill>
                  <a:srgbClr val="AFA89C"/>
                </a:solidFill>
                <a:latin typeface="Calibri" pitchFamily="34" charset="0"/>
                <a:ea typeface="Calibri" pitchFamily="34" charset="-122"/>
                <a:cs typeface="Calibri" pitchFamily="34" charset="-120"/>
              </a:rPr>
              <a:t>○</a:t>
            </a:r>
            <a:endParaRPr lang="en-US" sz="1500" dirty="0"/>
          </a:p>
        </p:txBody>
      </p:sp>
      <p:sp>
        <p:nvSpPr>
          <p:cNvPr id="36" name="Text 34"/>
          <p:cNvSpPr/>
          <p:nvPr/>
        </p:nvSpPr>
        <p:spPr>
          <a:xfrm>
            <a:off x="868680" y="4828032"/>
            <a:ext cx="4572000" cy="347472"/>
          </a:xfrm>
          <a:prstGeom prst="rect">
            <a:avLst/>
          </a:prstGeom>
          <a:noFill/>
          <a:ln/>
        </p:spPr>
        <p:txBody>
          <a:bodyPr wrap="square" lIns="0" tIns="0" rIns="0" bIns="0" rtlCol="0" anchor="ctr"/>
          <a:lstStyle/>
          <a:p>
            <a:pPr indent="0" marL="0">
              <a:buNone/>
            </a:pPr>
            <a:r>
              <a:rPr lang="en-US" sz="1200" dirty="0">
                <a:solidFill>
                  <a:srgbClr val="191919"/>
                </a:solidFill>
                <a:latin typeface="Calibri" pitchFamily="34" charset="0"/>
                <a:ea typeface="Calibri" pitchFamily="34" charset="-122"/>
                <a:cs typeface="Calibri" pitchFamily="34" charset="-120"/>
              </a:rPr>
              <a:t>Moves the card through all 8 stages</a:t>
            </a:r>
            <a:endParaRPr lang="en-US" sz="1200" dirty="0"/>
          </a:p>
        </p:txBody>
      </p:sp>
      <p:sp>
        <p:nvSpPr>
          <p:cNvPr id="37" name="Text 35"/>
          <p:cNvSpPr/>
          <p:nvPr/>
        </p:nvSpPr>
        <p:spPr>
          <a:xfrm>
            <a:off x="5532120" y="4828032"/>
            <a:ext cx="1481328" cy="347472"/>
          </a:xfrm>
          <a:prstGeom prst="rect">
            <a:avLst/>
          </a:prstGeom>
          <a:noFill/>
          <a:ln/>
        </p:spPr>
        <p:txBody>
          <a:bodyPr wrap="square" lIns="0" tIns="0" rIns="0" bIns="0" rtlCol="0" anchor="ctr"/>
          <a:lstStyle/>
          <a:p>
            <a:pPr algn="ctr" indent="0" marL="0">
              <a:buNone/>
            </a:pPr>
            <a:r>
              <a:rPr lang="en-US" sz="1500" dirty="0">
                <a:solidFill>
                  <a:srgbClr val="D97757"/>
                </a:solidFill>
                <a:latin typeface="Calibri" pitchFamily="34" charset="0"/>
                <a:ea typeface="Calibri" pitchFamily="34" charset="-122"/>
                <a:cs typeface="Calibri" pitchFamily="34" charset="-120"/>
              </a:rPr>
              <a:t>●</a:t>
            </a:r>
            <a:endParaRPr lang="en-US" sz="1500" dirty="0"/>
          </a:p>
        </p:txBody>
      </p:sp>
      <p:sp>
        <p:nvSpPr>
          <p:cNvPr id="38" name="Text 36"/>
          <p:cNvSpPr/>
          <p:nvPr/>
        </p:nvSpPr>
        <p:spPr>
          <a:xfrm>
            <a:off x="7013448" y="4828032"/>
            <a:ext cx="1481328" cy="347472"/>
          </a:xfrm>
          <a:prstGeom prst="rect">
            <a:avLst/>
          </a:prstGeom>
          <a:noFill/>
          <a:ln/>
        </p:spPr>
        <p:txBody>
          <a:bodyPr wrap="square" lIns="0" tIns="0" rIns="0" bIns="0" rtlCol="0" anchor="ctr"/>
          <a:lstStyle/>
          <a:p>
            <a:pPr algn="ctr" indent="0" marL="0">
              <a:buNone/>
            </a:pPr>
            <a:r>
              <a:rPr lang="en-US" sz="1500" dirty="0">
                <a:solidFill>
                  <a:srgbClr val="AFA89C"/>
                </a:solidFill>
                <a:latin typeface="Calibri" pitchFamily="34" charset="0"/>
                <a:ea typeface="Calibri" pitchFamily="34" charset="-122"/>
                <a:cs typeface="Calibri" pitchFamily="34" charset="-120"/>
              </a:rPr>
              <a:t>○</a:t>
            </a:r>
            <a:endParaRPr lang="en-US" sz="1500" dirty="0"/>
          </a:p>
        </p:txBody>
      </p:sp>
      <p:sp>
        <p:nvSpPr>
          <p:cNvPr id="39" name="Text 37"/>
          <p:cNvSpPr/>
          <p:nvPr/>
        </p:nvSpPr>
        <p:spPr>
          <a:xfrm>
            <a:off x="8494776" y="4828032"/>
            <a:ext cx="1481328" cy="347472"/>
          </a:xfrm>
          <a:prstGeom prst="rect">
            <a:avLst/>
          </a:prstGeom>
          <a:noFill/>
          <a:ln/>
        </p:spPr>
        <p:txBody>
          <a:bodyPr wrap="square" lIns="0" tIns="0" rIns="0" bIns="0" rtlCol="0" anchor="ctr"/>
          <a:lstStyle/>
          <a:p>
            <a:pPr algn="ctr" indent="0" marL="0">
              <a:buNone/>
            </a:pPr>
            <a:r>
              <a:rPr lang="en-US" sz="1500" dirty="0">
                <a:solidFill>
                  <a:srgbClr val="AFA89C"/>
                </a:solidFill>
                <a:latin typeface="Calibri" pitchFamily="34" charset="0"/>
                <a:ea typeface="Calibri" pitchFamily="34" charset="-122"/>
                <a:cs typeface="Calibri" pitchFamily="34" charset="-120"/>
              </a:rPr>
              <a:t>○</a:t>
            </a:r>
            <a:endParaRPr lang="en-US" sz="1500" dirty="0"/>
          </a:p>
        </p:txBody>
      </p:sp>
      <p:sp>
        <p:nvSpPr>
          <p:cNvPr id="40" name="Text 38"/>
          <p:cNvSpPr/>
          <p:nvPr/>
        </p:nvSpPr>
        <p:spPr>
          <a:xfrm>
            <a:off x="9976104" y="4828032"/>
            <a:ext cx="1481328" cy="347472"/>
          </a:xfrm>
          <a:prstGeom prst="rect">
            <a:avLst/>
          </a:prstGeom>
          <a:noFill/>
          <a:ln/>
        </p:spPr>
        <p:txBody>
          <a:bodyPr wrap="square" lIns="0" tIns="0" rIns="0" bIns="0" rtlCol="0" anchor="ctr"/>
          <a:lstStyle/>
          <a:p>
            <a:pPr algn="ctr" indent="0" marL="0">
              <a:buNone/>
            </a:pPr>
            <a:r>
              <a:rPr lang="en-US" sz="1500" dirty="0">
                <a:solidFill>
                  <a:srgbClr val="D4A27F"/>
                </a:solidFill>
                <a:latin typeface="Calibri" pitchFamily="34" charset="0"/>
                <a:ea typeface="Calibri" pitchFamily="34" charset="-122"/>
                <a:cs typeface="Calibri" pitchFamily="34" charset="-120"/>
              </a:rPr>
              <a:t>◐</a:t>
            </a:r>
            <a:endParaRPr lang="en-US" sz="1500" dirty="0"/>
          </a:p>
        </p:txBody>
      </p:sp>
      <p:sp>
        <p:nvSpPr>
          <p:cNvPr id="41" name="Shape 39"/>
          <p:cNvSpPr/>
          <p:nvPr/>
        </p:nvSpPr>
        <p:spPr>
          <a:xfrm>
            <a:off x="685800" y="5239512"/>
            <a:ext cx="10835640" cy="438912"/>
          </a:xfrm>
          <a:prstGeom prst="rect">
            <a:avLst/>
          </a:prstGeom>
          <a:solidFill>
            <a:srgbClr val="FAF9F5"/>
          </a:solidFill>
          <a:ln w="12700">
            <a:solidFill>
              <a:srgbClr val="FAF9F5"/>
            </a:solidFill>
            <a:prstDash val="solid"/>
          </a:ln>
        </p:spPr>
      </p:sp>
      <p:sp>
        <p:nvSpPr>
          <p:cNvPr id="42" name="Text 40"/>
          <p:cNvSpPr/>
          <p:nvPr/>
        </p:nvSpPr>
        <p:spPr>
          <a:xfrm>
            <a:off x="868680" y="5285232"/>
            <a:ext cx="4572000" cy="347472"/>
          </a:xfrm>
          <a:prstGeom prst="rect">
            <a:avLst/>
          </a:prstGeom>
          <a:noFill/>
          <a:ln/>
        </p:spPr>
        <p:txBody>
          <a:bodyPr wrap="square" lIns="0" tIns="0" rIns="0" bIns="0" rtlCol="0" anchor="ctr"/>
          <a:lstStyle/>
          <a:p>
            <a:pPr indent="0" marL="0">
              <a:buNone/>
            </a:pPr>
            <a:r>
              <a:rPr lang="en-US" sz="1200" dirty="0">
                <a:solidFill>
                  <a:srgbClr val="191919"/>
                </a:solidFill>
                <a:latin typeface="Calibri" pitchFamily="34" charset="0"/>
                <a:ea typeface="Calibri" pitchFamily="34" charset="-122"/>
                <a:cs typeface="Calibri" pitchFamily="34" charset="-120"/>
              </a:rPr>
              <a:t>Analyses your code locally</a:t>
            </a:r>
            <a:endParaRPr lang="en-US" sz="1200" dirty="0"/>
          </a:p>
        </p:txBody>
      </p:sp>
      <p:sp>
        <p:nvSpPr>
          <p:cNvPr id="43" name="Text 41"/>
          <p:cNvSpPr/>
          <p:nvPr/>
        </p:nvSpPr>
        <p:spPr>
          <a:xfrm>
            <a:off x="5532120" y="5285232"/>
            <a:ext cx="1481328" cy="347472"/>
          </a:xfrm>
          <a:prstGeom prst="rect">
            <a:avLst/>
          </a:prstGeom>
          <a:noFill/>
          <a:ln/>
        </p:spPr>
        <p:txBody>
          <a:bodyPr wrap="square" lIns="0" tIns="0" rIns="0" bIns="0" rtlCol="0" anchor="ctr"/>
          <a:lstStyle/>
          <a:p>
            <a:pPr algn="ctr" indent="0" marL="0">
              <a:buNone/>
            </a:pPr>
            <a:r>
              <a:rPr lang="en-US" sz="1500" dirty="0">
                <a:solidFill>
                  <a:srgbClr val="D97757"/>
                </a:solidFill>
                <a:latin typeface="Calibri" pitchFamily="34" charset="0"/>
                <a:ea typeface="Calibri" pitchFamily="34" charset="-122"/>
                <a:cs typeface="Calibri" pitchFamily="34" charset="-120"/>
              </a:rPr>
              <a:t>●</a:t>
            </a:r>
            <a:endParaRPr lang="en-US" sz="1500" dirty="0"/>
          </a:p>
        </p:txBody>
      </p:sp>
      <p:sp>
        <p:nvSpPr>
          <p:cNvPr id="44" name="Text 42"/>
          <p:cNvSpPr/>
          <p:nvPr/>
        </p:nvSpPr>
        <p:spPr>
          <a:xfrm>
            <a:off x="7013448" y="5285232"/>
            <a:ext cx="1481328" cy="347472"/>
          </a:xfrm>
          <a:prstGeom prst="rect">
            <a:avLst/>
          </a:prstGeom>
          <a:noFill/>
          <a:ln/>
        </p:spPr>
        <p:txBody>
          <a:bodyPr wrap="square" lIns="0" tIns="0" rIns="0" bIns="0" rtlCol="0" anchor="ctr"/>
          <a:lstStyle/>
          <a:p>
            <a:pPr algn="ctr" indent="0" marL="0">
              <a:buNone/>
            </a:pPr>
            <a:r>
              <a:rPr lang="en-US" sz="1500" dirty="0">
                <a:solidFill>
                  <a:srgbClr val="AFA89C"/>
                </a:solidFill>
                <a:latin typeface="Calibri" pitchFamily="34" charset="0"/>
                <a:ea typeface="Calibri" pitchFamily="34" charset="-122"/>
                <a:cs typeface="Calibri" pitchFamily="34" charset="-120"/>
              </a:rPr>
              <a:t>○</a:t>
            </a:r>
            <a:endParaRPr lang="en-US" sz="1500" dirty="0"/>
          </a:p>
        </p:txBody>
      </p:sp>
      <p:sp>
        <p:nvSpPr>
          <p:cNvPr id="45" name="Text 43"/>
          <p:cNvSpPr/>
          <p:nvPr/>
        </p:nvSpPr>
        <p:spPr>
          <a:xfrm>
            <a:off x="8494776" y="5285232"/>
            <a:ext cx="1481328" cy="347472"/>
          </a:xfrm>
          <a:prstGeom prst="rect">
            <a:avLst/>
          </a:prstGeom>
          <a:noFill/>
          <a:ln/>
        </p:spPr>
        <p:txBody>
          <a:bodyPr wrap="square" lIns="0" tIns="0" rIns="0" bIns="0" rtlCol="0" anchor="ctr"/>
          <a:lstStyle/>
          <a:p>
            <a:pPr algn="ctr" indent="0" marL="0">
              <a:buNone/>
            </a:pPr>
            <a:r>
              <a:rPr lang="en-US" sz="1500" dirty="0">
                <a:solidFill>
                  <a:srgbClr val="AFA89C"/>
                </a:solidFill>
                <a:latin typeface="Calibri" pitchFamily="34" charset="0"/>
                <a:ea typeface="Calibri" pitchFamily="34" charset="-122"/>
                <a:cs typeface="Calibri" pitchFamily="34" charset="-120"/>
              </a:rPr>
              <a:t>○</a:t>
            </a:r>
            <a:endParaRPr lang="en-US" sz="1500" dirty="0"/>
          </a:p>
        </p:txBody>
      </p:sp>
      <p:sp>
        <p:nvSpPr>
          <p:cNvPr id="46" name="Text 44"/>
          <p:cNvSpPr/>
          <p:nvPr/>
        </p:nvSpPr>
        <p:spPr>
          <a:xfrm>
            <a:off x="9976104" y="5285232"/>
            <a:ext cx="1481328" cy="347472"/>
          </a:xfrm>
          <a:prstGeom prst="rect">
            <a:avLst/>
          </a:prstGeom>
          <a:noFill/>
          <a:ln/>
        </p:spPr>
        <p:txBody>
          <a:bodyPr wrap="square" lIns="0" tIns="0" rIns="0" bIns="0" rtlCol="0" anchor="ctr"/>
          <a:lstStyle/>
          <a:p>
            <a:pPr algn="ctr" indent="0" marL="0">
              <a:buNone/>
            </a:pPr>
            <a:r>
              <a:rPr lang="en-US" sz="1500" dirty="0">
                <a:solidFill>
                  <a:srgbClr val="AFA89C"/>
                </a:solidFill>
                <a:latin typeface="Calibri" pitchFamily="34" charset="0"/>
                <a:ea typeface="Calibri" pitchFamily="34" charset="-122"/>
                <a:cs typeface="Calibri" pitchFamily="34" charset="-120"/>
              </a:rPr>
              <a:t>○</a:t>
            </a:r>
            <a:endParaRPr lang="en-US" sz="1500" dirty="0"/>
          </a:p>
        </p:txBody>
      </p:sp>
      <p:sp>
        <p:nvSpPr>
          <p:cNvPr id="47" name="Text 45"/>
          <p:cNvSpPr/>
          <p:nvPr/>
        </p:nvSpPr>
        <p:spPr>
          <a:xfrm>
            <a:off x="5532120" y="5907024"/>
            <a:ext cx="5925312" cy="274320"/>
          </a:xfrm>
          <a:prstGeom prst="rect">
            <a:avLst/>
          </a:prstGeom>
          <a:noFill/>
          <a:ln/>
        </p:spPr>
        <p:txBody>
          <a:bodyPr wrap="square" lIns="0" tIns="0" rIns="0" bIns="0" rtlCol="0" anchor="ctr"/>
          <a:lstStyle/>
          <a:p>
            <a:pPr algn="ctr" indent="0" marL="0">
              <a:buNone/>
            </a:pPr>
            <a:r>
              <a:rPr lang="en-US" sz="1000" dirty="0">
                <a:solidFill>
                  <a:srgbClr val="73716C"/>
                </a:solidFill>
                <a:latin typeface="Calibri" pitchFamily="34" charset="0"/>
                <a:ea typeface="Calibri" pitchFamily="34" charset="-122"/>
                <a:cs typeface="Calibri" pitchFamily="34" charset="-120"/>
              </a:rPr>
              <a:t>●  full     ◐  partial     ○  none</a:t>
            </a:r>
            <a:endParaRPr lang="en-US" sz="1000" dirty="0"/>
          </a:p>
        </p:txBody>
      </p:sp>
      <p:sp>
        <p:nvSpPr>
          <p:cNvPr id="48" name="Text 46"/>
          <p:cNvSpPr/>
          <p:nvPr/>
        </p:nvSpPr>
        <p:spPr>
          <a:xfrm>
            <a:off x="685800" y="5852160"/>
            <a:ext cx="5120640" cy="365760"/>
          </a:xfrm>
          <a:prstGeom prst="rect">
            <a:avLst/>
          </a:prstGeom>
          <a:noFill/>
          <a:ln/>
        </p:spPr>
        <p:txBody>
          <a:bodyPr wrap="square" lIns="0" tIns="0" rIns="0" bIns="0" rtlCol="0" anchor="ctr"/>
          <a:lstStyle/>
          <a:p>
            <a:pPr indent="0" marL="0">
              <a:buNone/>
            </a:pPr>
            <a:r>
              <a:rPr lang="en-US" sz="1700" b="1" dirty="0">
                <a:solidFill>
                  <a:srgbClr val="CC785C"/>
                </a:solidFill>
                <a:latin typeface="Cambria" pitchFamily="34" charset="0"/>
                <a:ea typeface="Cambria" pitchFamily="34" charset="-122"/>
                <a:cs typeface="Cambria" pitchFamily="34" charset="-120"/>
              </a:rPr>
              <a:t>Build the 80%. The author becomes a plug.</a:t>
            </a:r>
            <a:endParaRPr lang="en-US" sz="17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1F1E1D"/>
        </a:solidFill>
      </p:bgPr>
    </p:bg>
    <p:spTree>
      <p:nvGrpSpPr>
        <p:cNvPr id="1" name=""/>
        <p:cNvGrpSpPr/>
        <p:nvPr/>
      </p:nvGrpSpPr>
      <p:grpSpPr>
        <a:xfrm>
          <a:off x="0" y="0"/>
          <a:ext cx="0" cy="0"/>
          <a:chOff x="0" y="0"/>
          <a:chExt cx="0" cy="0"/>
        </a:xfrm>
      </p:grpSpPr>
      <p:sp>
        <p:nvSpPr>
          <p:cNvPr id="2" name="Text 0"/>
          <p:cNvSpPr/>
          <p:nvPr/>
        </p:nvSpPr>
        <p:spPr>
          <a:xfrm>
            <a:off x="685800" y="1417320"/>
            <a:ext cx="5486400" cy="237744"/>
          </a:xfrm>
          <a:prstGeom prst="rect">
            <a:avLst/>
          </a:prstGeom>
          <a:noFill/>
          <a:ln/>
        </p:spPr>
        <p:txBody>
          <a:bodyPr wrap="square" lIns="0" tIns="0" rIns="0" bIns="0" rtlCol="0" anchor="ctr"/>
          <a:lstStyle/>
          <a:p>
            <a:pPr indent="0" marL="0">
              <a:buNone/>
            </a:pPr>
            <a:r>
              <a:rPr lang="en-US" sz="1050" b="1" spc="240" kern="0" dirty="0">
                <a:solidFill>
                  <a:srgbClr val="D4A27F"/>
                </a:solidFill>
                <a:latin typeface="Calibri" pitchFamily="34" charset="0"/>
                <a:ea typeface="Calibri" pitchFamily="34" charset="-122"/>
                <a:cs typeface="Calibri" pitchFamily="34" charset="-120"/>
              </a:rPr>
              <a:t>WHAT WE BUILT</a:t>
            </a:r>
            <a:endParaRPr lang="en-US" sz="1050" dirty="0"/>
          </a:p>
        </p:txBody>
      </p:sp>
      <p:sp>
        <p:nvSpPr>
          <p:cNvPr id="3" name="Text 1"/>
          <p:cNvSpPr/>
          <p:nvPr/>
        </p:nvSpPr>
        <p:spPr>
          <a:xfrm>
            <a:off x="640080" y="1737360"/>
            <a:ext cx="7315200" cy="1554480"/>
          </a:xfrm>
          <a:prstGeom prst="rect">
            <a:avLst/>
          </a:prstGeom>
          <a:noFill/>
          <a:ln/>
        </p:spPr>
        <p:txBody>
          <a:bodyPr wrap="square" lIns="0" tIns="0" rIns="0" bIns="0" rtlCol="0" anchor="ctr"/>
          <a:lstStyle/>
          <a:p>
            <a:pPr indent="0" marL="0">
              <a:lnSpc>
                <a:spcPct val="115000"/>
              </a:lnSpc>
              <a:buNone/>
            </a:pPr>
            <a:r>
              <a:rPr lang="en-US" sz="3400" b="1" dirty="0">
                <a:solidFill>
                  <a:srgbClr val="F5F3EE"/>
                </a:solidFill>
                <a:latin typeface="Cambria" pitchFamily="34" charset="0"/>
                <a:ea typeface="Cambria" pitchFamily="34" charset="-122"/>
                <a:cs typeface="Cambria" pitchFamily="34" charset="-120"/>
              </a:rPr>
              <a:t>A ticket goes in.</a:t>
            </a:r>
            <a:endParaRPr lang="en-US" sz="3400" dirty="0"/>
          </a:p>
          <a:p>
            <a:pPr indent="0" marL="0">
              <a:lnSpc>
                <a:spcPct val="115000"/>
              </a:lnSpc>
              <a:buNone/>
            </a:pPr>
            <a:r>
              <a:rPr lang="en-US" sz="3400" b="1" dirty="0">
                <a:solidFill>
                  <a:srgbClr val="F5F3EE"/>
                </a:solidFill>
                <a:latin typeface="Cambria" pitchFamily="34" charset="0"/>
                <a:ea typeface="Cambria" pitchFamily="34" charset="-122"/>
                <a:cs typeface="Cambria" pitchFamily="34" charset="-120"/>
              </a:rPr>
              <a:t>A signed-off change comes out.</a:t>
            </a:r>
            <a:endParaRPr lang="en-US" sz="3400" dirty="0"/>
          </a:p>
        </p:txBody>
      </p:sp>
      <p:sp>
        <p:nvSpPr>
          <p:cNvPr id="4" name="Text 2"/>
          <p:cNvSpPr/>
          <p:nvPr/>
        </p:nvSpPr>
        <p:spPr>
          <a:xfrm>
            <a:off x="685800" y="3611880"/>
            <a:ext cx="6675120" cy="1097280"/>
          </a:xfrm>
          <a:prstGeom prst="rect">
            <a:avLst/>
          </a:prstGeom>
          <a:noFill/>
          <a:ln/>
        </p:spPr>
        <p:txBody>
          <a:bodyPr wrap="square" lIns="0" tIns="0" rIns="0" bIns="0" rtlCol="0" anchor="ctr"/>
          <a:lstStyle/>
          <a:p>
            <a:pPr indent="0" marL="0">
              <a:lnSpc>
                <a:spcPct val="130000"/>
              </a:lnSpc>
              <a:buNone/>
            </a:pPr>
            <a:r>
              <a:rPr lang="en-US" sz="1500" dirty="0">
                <a:solidFill>
                  <a:srgbClr val="A8A49C"/>
                </a:solidFill>
                <a:latin typeface="Calibri" pitchFamily="34" charset="0"/>
                <a:ea typeface="Calibri" pitchFamily="34" charset="-122"/>
                <a:cs typeface="Calibri" pitchFamily="34" charset="-120"/>
              </a:rPr>
              <a:t>You choose, per ticket, whether you write the code or Locus does. The review, the testing sign-off and the record are the same either way — and every model that reads your code runs on your own hardware.</a:t>
            </a:r>
            <a:endParaRPr lang="en-US" sz="1500" dirty="0"/>
          </a:p>
        </p:txBody>
      </p:sp>
      <p:sp>
        <p:nvSpPr>
          <p:cNvPr id="5" name="Text 3"/>
          <p:cNvSpPr/>
          <p:nvPr/>
        </p:nvSpPr>
        <p:spPr>
          <a:xfrm>
            <a:off x="713232" y="4846320"/>
            <a:ext cx="1554480" cy="777240"/>
          </a:xfrm>
          <a:prstGeom prst="rect">
            <a:avLst/>
          </a:prstGeom>
          <a:noFill/>
          <a:ln/>
        </p:spPr>
        <p:txBody>
          <a:bodyPr wrap="square" lIns="0" tIns="0" rIns="0" bIns="0" rtlCol="0" anchor="ctr"/>
          <a:lstStyle/>
          <a:p>
            <a:pPr indent="0" marL="0">
              <a:buNone/>
            </a:pPr>
            <a:r>
              <a:rPr lang="en-US" sz="3000" b="1" dirty="0">
                <a:solidFill>
                  <a:srgbClr val="D97757"/>
                </a:solidFill>
                <a:latin typeface="Cambria" pitchFamily="34" charset="0"/>
                <a:ea typeface="Cambria" pitchFamily="34" charset="-122"/>
                <a:cs typeface="Cambria" pitchFamily="34" charset="-120"/>
              </a:rPr>
              <a:t>859</a:t>
            </a:r>
            <a:endParaRPr lang="en-US" sz="3000" dirty="0"/>
          </a:p>
        </p:txBody>
      </p:sp>
      <p:sp>
        <p:nvSpPr>
          <p:cNvPr id="6" name="Text 4"/>
          <p:cNvSpPr/>
          <p:nvPr/>
        </p:nvSpPr>
        <p:spPr>
          <a:xfrm>
            <a:off x="713232" y="5596128"/>
            <a:ext cx="1554480" cy="420624"/>
          </a:xfrm>
          <a:prstGeom prst="rect">
            <a:avLst/>
          </a:prstGeom>
          <a:noFill/>
          <a:ln/>
        </p:spPr>
        <p:txBody>
          <a:bodyPr wrap="square" lIns="0" tIns="0" rIns="0" bIns="0" rtlCol="0" anchor="ctr"/>
          <a:lstStyle/>
          <a:p>
            <a:pPr indent="0" marL="0">
              <a:lnSpc>
                <a:spcPct val="115000"/>
              </a:lnSpc>
              <a:buNone/>
            </a:pPr>
            <a:r>
              <a:rPr lang="en-US" sz="1150" dirty="0">
                <a:solidFill>
                  <a:srgbClr val="A8A49C"/>
                </a:solidFill>
                <a:latin typeface="Calibri" pitchFamily="34" charset="0"/>
                <a:ea typeface="Calibri" pitchFamily="34" charset="-122"/>
                <a:cs typeface="Calibri" pitchFamily="34" charset="-120"/>
              </a:rPr>
              <a:t>tests passing</a:t>
            </a:r>
            <a:endParaRPr lang="en-US" sz="1150" dirty="0"/>
          </a:p>
        </p:txBody>
      </p:sp>
      <p:sp>
        <p:nvSpPr>
          <p:cNvPr id="7" name="Text 5"/>
          <p:cNvSpPr/>
          <p:nvPr/>
        </p:nvSpPr>
        <p:spPr>
          <a:xfrm>
            <a:off x="2404872" y="4846320"/>
            <a:ext cx="1554480" cy="777240"/>
          </a:xfrm>
          <a:prstGeom prst="rect">
            <a:avLst/>
          </a:prstGeom>
          <a:noFill/>
          <a:ln/>
        </p:spPr>
        <p:txBody>
          <a:bodyPr wrap="square" lIns="0" tIns="0" rIns="0" bIns="0" rtlCol="0" anchor="ctr"/>
          <a:lstStyle/>
          <a:p>
            <a:pPr indent="0" marL="0">
              <a:buNone/>
            </a:pPr>
            <a:r>
              <a:rPr lang="en-US" sz="3000" b="1" dirty="0">
                <a:solidFill>
                  <a:srgbClr val="D97757"/>
                </a:solidFill>
                <a:latin typeface="Cambria" pitchFamily="34" charset="0"/>
                <a:ea typeface="Cambria" pitchFamily="34" charset="-122"/>
                <a:cs typeface="Cambria" pitchFamily="34" charset="-120"/>
              </a:rPr>
              <a:t>9</a:t>
            </a:r>
            <a:endParaRPr lang="en-US" sz="3000" dirty="0"/>
          </a:p>
        </p:txBody>
      </p:sp>
      <p:sp>
        <p:nvSpPr>
          <p:cNvPr id="8" name="Text 6"/>
          <p:cNvSpPr/>
          <p:nvPr/>
        </p:nvSpPr>
        <p:spPr>
          <a:xfrm>
            <a:off x="2404872" y="5596128"/>
            <a:ext cx="1554480" cy="420624"/>
          </a:xfrm>
          <a:prstGeom prst="rect">
            <a:avLst/>
          </a:prstGeom>
          <a:noFill/>
          <a:ln/>
        </p:spPr>
        <p:txBody>
          <a:bodyPr wrap="square" lIns="0" tIns="0" rIns="0" bIns="0" rtlCol="0" anchor="ctr"/>
          <a:lstStyle/>
          <a:p>
            <a:pPr indent="0" marL="0">
              <a:lnSpc>
                <a:spcPct val="115000"/>
              </a:lnSpc>
              <a:buNone/>
            </a:pPr>
            <a:r>
              <a:rPr lang="en-US" sz="1150" dirty="0">
                <a:solidFill>
                  <a:srgbClr val="A8A49C"/>
                </a:solidFill>
                <a:latin typeface="Calibri" pitchFamily="34" charset="0"/>
                <a:ea typeface="Calibri" pitchFamily="34" charset="-122"/>
                <a:cs typeface="Calibri" pitchFamily="34" charset="-120"/>
              </a:rPr>
              <a:t>steps automated</a:t>
            </a:r>
            <a:endParaRPr lang="en-US" sz="1150" dirty="0"/>
          </a:p>
        </p:txBody>
      </p:sp>
      <p:sp>
        <p:nvSpPr>
          <p:cNvPr id="9" name="Text 7"/>
          <p:cNvSpPr/>
          <p:nvPr/>
        </p:nvSpPr>
        <p:spPr>
          <a:xfrm>
            <a:off x="4096512" y="4846320"/>
            <a:ext cx="1554480" cy="777240"/>
          </a:xfrm>
          <a:prstGeom prst="rect">
            <a:avLst/>
          </a:prstGeom>
          <a:noFill/>
          <a:ln/>
        </p:spPr>
        <p:txBody>
          <a:bodyPr wrap="square" lIns="0" tIns="0" rIns="0" bIns="0" rtlCol="0" anchor="ctr"/>
          <a:lstStyle/>
          <a:p>
            <a:pPr indent="0" marL="0">
              <a:buNone/>
            </a:pPr>
            <a:r>
              <a:rPr lang="en-US" sz="3000" b="1" dirty="0">
                <a:solidFill>
                  <a:srgbClr val="D97757"/>
                </a:solidFill>
                <a:latin typeface="Cambria" pitchFamily="34" charset="0"/>
                <a:ea typeface="Cambria" pitchFamily="34" charset="-122"/>
                <a:cs typeface="Cambria" pitchFamily="34" charset="-120"/>
              </a:rPr>
              <a:t>12</a:t>
            </a:r>
            <a:endParaRPr lang="en-US" sz="3000" dirty="0"/>
          </a:p>
        </p:txBody>
      </p:sp>
      <p:sp>
        <p:nvSpPr>
          <p:cNvPr id="10" name="Text 8"/>
          <p:cNvSpPr/>
          <p:nvPr/>
        </p:nvSpPr>
        <p:spPr>
          <a:xfrm>
            <a:off x="4096512" y="5596128"/>
            <a:ext cx="1554480" cy="420624"/>
          </a:xfrm>
          <a:prstGeom prst="rect">
            <a:avLst/>
          </a:prstGeom>
          <a:noFill/>
          <a:ln/>
        </p:spPr>
        <p:txBody>
          <a:bodyPr wrap="square" lIns="0" tIns="0" rIns="0" bIns="0" rtlCol="0" anchor="ctr"/>
          <a:lstStyle/>
          <a:p>
            <a:pPr indent="0" marL="0">
              <a:lnSpc>
                <a:spcPct val="115000"/>
              </a:lnSpc>
              <a:buNone/>
            </a:pPr>
            <a:r>
              <a:rPr lang="en-US" sz="1150" dirty="0">
                <a:solidFill>
                  <a:srgbClr val="A8A49C"/>
                </a:solidFill>
                <a:latin typeface="Calibri" pitchFamily="34" charset="0"/>
                <a:ea typeface="Calibri" pitchFamily="34" charset="-122"/>
                <a:cs typeface="Calibri" pitchFamily="34" charset="-120"/>
              </a:rPr>
              <a:t>min saved per</a:t>
            </a:r>
            <a:endParaRPr lang="en-US" sz="1150" dirty="0"/>
          </a:p>
          <a:p>
            <a:pPr indent="0" marL="0">
              <a:lnSpc>
                <a:spcPct val="115000"/>
              </a:lnSpc>
              <a:buNone/>
            </a:pPr>
            <a:r>
              <a:rPr lang="en-US" sz="1150" dirty="0">
                <a:solidFill>
                  <a:srgbClr val="A8A49C"/>
                </a:solidFill>
                <a:latin typeface="Calibri" pitchFamily="34" charset="0"/>
                <a:ea typeface="Calibri" pitchFamily="34" charset="-122"/>
                <a:cs typeface="Calibri" pitchFamily="34" charset="-120"/>
              </a:rPr>
              <a:t>review round*</a:t>
            </a:r>
            <a:endParaRPr lang="en-US" sz="1150" dirty="0"/>
          </a:p>
        </p:txBody>
      </p:sp>
      <p:sp>
        <p:nvSpPr>
          <p:cNvPr id="11" name="Text 9"/>
          <p:cNvSpPr/>
          <p:nvPr/>
        </p:nvSpPr>
        <p:spPr>
          <a:xfrm>
            <a:off x="5788152" y="4846320"/>
            <a:ext cx="1554480" cy="777240"/>
          </a:xfrm>
          <a:prstGeom prst="rect">
            <a:avLst/>
          </a:prstGeom>
          <a:noFill/>
          <a:ln/>
        </p:spPr>
        <p:txBody>
          <a:bodyPr wrap="square" lIns="0" tIns="0" rIns="0" bIns="0" rtlCol="0" anchor="ctr"/>
          <a:lstStyle/>
          <a:p>
            <a:pPr indent="0" marL="0">
              <a:buNone/>
            </a:pPr>
            <a:r>
              <a:rPr lang="en-US" sz="3000" b="1" dirty="0">
                <a:solidFill>
                  <a:srgbClr val="D97757"/>
                </a:solidFill>
                <a:latin typeface="Cambria" pitchFamily="34" charset="0"/>
                <a:ea typeface="Cambria" pitchFamily="34" charset="-122"/>
                <a:cs typeface="Cambria" pitchFamily="34" charset="-120"/>
              </a:rPr>
              <a:t>0</a:t>
            </a:r>
            <a:endParaRPr lang="en-US" sz="3000" dirty="0"/>
          </a:p>
        </p:txBody>
      </p:sp>
      <p:sp>
        <p:nvSpPr>
          <p:cNvPr id="12" name="Text 10"/>
          <p:cNvSpPr/>
          <p:nvPr/>
        </p:nvSpPr>
        <p:spPr>
          <a:xfrm>
            <a:off x="5788152" y="5596128"/>
            <a:ext cx="1554480" cy="420624"/>
          </a:xfrm>
          <a:prstGeom prst="rect">
            <a:avLst/>
          </a:prstGeom>
          <a:noFill/>
          <a:ln/>
        </p:spPr>
        <p:txBody>
          <a:bodyPr wrap="square" lIns="0" tIns="0" rIns="0" bIns="0" rtlCol="0" anchor="ctr"/>
          <a:lstStyle/>
          <a:p>
            <a:pPr indent="0" marL="0">
              <a:lnSpc>
                <a:spcPct val="115000"/>
              </a:lnSpc>
              <a:buNone/>
            </a:pPr>
            <a:r>
              <a:rPr lang="en-US" sz="1150" dirty="0">
                <a:solidFill>
                  <a:srgbClr val="A8A49C"/>
                </a:solidFill>
                <a:latin typeface="Calibri" pitchFamily="34" charset="0"/>
                <a:ea typeface="Calibri" pitchFamily="34" charset="-122"/>
                <a:cs typeface="Calibri" pitchFamily="34" charset="-120"/>
              </a:rPr>
              <a:t>cloud calls to</a:t>
            </a:r>
            <a:endParaRPr lang="en-US" sz="1150" dirty="0"/>
          </a:p>
          <a:p>
            <a:pPr indent="0" marL="0">
              <a:lnSpc>
                <a:spcPct val="115000"/>
              </a:lnSpc>
              <a:buNone/>
            </a:pPr>
            <a:r>
              <a:rPr lang="en-US" sz="1150" dirty="0">
                <a:solidFill>
                  <a:srgbClr val="A8A49C"/>
                </a:solidFill>
                <a:latin typeface="Calibri" pitchFamily="34" charset="0"/>
                <a:ea typeface="Calibri" pitchFamily="34" charset="-122"/>
                <a:cs typeface="Calibri" pitchFamily="34" charset="-120"/>
              </a:rPr>
              <a:t>review your code</a:t>
            </a:r>
            <a:endParaRPr lang="en-US" sz="1150" dirty="0"/>
          </a:p>
        </p:txBody>
      </p:sp>
      <p:sp>
        <p:nvSpPr>
          <p:cNvPr id="13" name="Text 11"/>
          <p:cNvSpPr/>
          <p:nvPr/>
        </p:nvSpPr>
        <p:spPr>
          <a:xfrm>
            <a:off x="713232" y="6144768"/>
            <a:ext cx="6858000" cy="256032"/>
          </a:xfrm>
          <a:prstGeom prst="rect">
            <a:avLst/>
          </a:prstGeom>
          <a:noFill/>
          <a:ln/>
        </p:spPr>
        <p:txBody>
          <a:bodyPr wrap="square" lIns="0" tIns="0" rIns="0" bIns="0" rtlCol="0" anchor="ctr"/>
          <a:lstStyle/>
          <a:p>
            <a:pPr indent="0" marL="0">
              <a:buNone/>
            </a:pPr>
            <a:r>
              <a:rPr lang="en-US" sz="900" i="1" dirty="0">
                <a:solidFill>
                  <a:srgbClr val="73716C"/>
                </a:solidFill>
                <a:latin typeface="Calibri" pitchFamily="34" charset="0"/>
                <a:ea typeface="Calibri" pitchFamily="34" charset="-122"/>
                <a:cs typeface="Calibri" pitchFamily="34" charset="-120"/>
              </a:rPr>
              <a:t>* modelled from the coordination steps removed, not measured in production</a:t>
            </a:r>
            <a:endParaRPr lang="en-US" sz="900" dirty="0"/>
          </a:p>
        </p:txBody>
      </p:sp>
      <p:sp>
        <p:nvSpPr>
          <p:cNvPr id="14" name="Shape 12"/>
          <p:cNvSpPr/>
          <p:nvPr/>
        </p:nvSpPr>
        <p:spPr>
          <a:xfrm>
            <a:off x="8092440" y="1783080"/>
            <a:ext cx="3410712" cy="3840480"/>
          </a:xfrm>
          <a:prstGeom prst="roundRect">
            <a:avLst>
              <a:gd name="adj" fmla="val 2413"/>
            </a:avLst>
          </a:prstGeom>
          <a:solidFill>
            <a:srgbClr val="2A2826"/>
          </a:solidFill>
          <a:ln w="12700">
            <a:solidFill>
              <a:srgbClr val="D97757"/>
            </a:solidFill>
            <a:prstDash val="solid"/>
          </a:ln>
        </p:spPr>
      </p:sp>
      <p:sp>
        <p:nvSpPr>
          <p:cNvPr id="15" name="Text 13"/>
          <p:cNvSpPr/>
          <p:nvPr/>
        </p:nvSpPr>
        <p:spPr>
          <a:xfrm>
            <a:off x="8412480" y="2084832"/>
            <a:ext cx="2834640" cy="237744"/>
          </a:xfrm>
          <a:prstGeom prst="rect">
            <a:avLst/>
          </a:prstGeom>
          <a:noFill/>
          <a:ln/>
        </p:spPr>
        <p:txBody>
          <a:bodyPr wrap="square" lIns="0" tIns="0" rIns="0" bIns="0" rtlCol="0" anchor="ctr"/>
          <a:lstStyle/>
          <a:p>
            <a:pPr indent="0" marL="0">
              <a:buNone/>
            </a:pPr>
            <a:r>
              <a:rPr lang="en-US" sz="1050" b="1" spc="240" kern="0" dirty="0">
                <a:solidFill>
                  <a:srgbClr val="D97757"/>
                </a:solidFill>
                <a:latin typeface="Calibri" pitchFamily="34" charset="0"/>
                <a:ea typeface="Calibri" pitchFamily="34" charset="-122"/>
                <a:cs typeface="Calibri" pitchFamily="34" charset="-120"/>
              </a:rPr>
              <a:t>NEXT</a:t>
            </a:r>
            <a:endParaRPr lang="en-US" sz="1050" dirty="0"/>
          </a:p>
        </p:txBody>
      </p:sp>
      <p:sp>
        <p:nvSpPr>
          <p:cNvPr id="16" name="Text 14"/>
          <p:cNvSpPr/>
          <p:nvPr/>
        </p:nvSpPr>
        <p:spPr>
          <a:xfrm>
            <a:off x="8430768" y="2487168"/>
            <a:ext cx="2788920" cy="2834640"/>
          </a:xfrm>
          <a:prstGeom prst="rect">
            <a:avLst/>
          </a:prstGeom>
          <a:noFill/>
          <a:ln/>
        </p:spPr>
        <p:txBody>
          <a:bodyPr wrap="square" lIns="0" tIns="0" rIns="0" bIns="0" rtlCol="0" anchor="ctr"/>
          <a:lstStyle/>
          <a:p>
            <a:pPr marL="342900" indent="-342900">
              <a:lnSpc>
                <a:spcPct val="120000"/>
              </a:lnSpc>
              <a:spcAft>
                <a:spcPts val="1000"/>
              </a:spcAft>
              <a:buSzPct val="100000"/>
              <a:buChar char="●"/>
            </a:pPr>
            <a:r>
              <a:rPr lang="en-US" sz="1150" dirty="0">
                <a:solidFill>
                  <a:srgbClr val="A8A49C"/>
                </a:solidFill>
                <a:latin typeface="Calibri" pitchFamily="34" charset="0"/>
                <a:ea typeface="Calibri" pitchFamily="34" charset="-122"/>
                <a:cs typeface="Calibri" pitchFamily="34" charset="-120"/>
              </a:rPr>
              <a:t>Multi-tenant: answer availability for a whole team, not one account</a:t>
            </a:r>
            <a:endParaRPr lang="en-US" sz="1150" dirty="0"/>
          </a:p>
          <a:p>
            <a:pPr marL="342900" indent="-342900">
              <a:lnSpc>
                <a:spcPct val="120000"/>
              </a:lnSpc>
              <a:spcAft>
                <a:spcPts val="1000"/>
              </a:spcAft>
              <a:buSzPct val="100000"/>
              <a:buChar char="●"/>
            </a:pPr>
            <a:r>
              <a:rPr lang="en-US" sz="1150" dirty="0">
                <a:solidFill>
                  <a:srgbClr val="A8A49C"/>
                </a:solidFill>
                <a:latin typeface="Calibri" pitchFamily="34" charset="0"/>
                <a:ea typeface="Calibri" pitchFamily="34" charset="-122"/>
                <a:cs typeface="Calibri" pitchFamily="34" charset="-120"/>
              </a:rPr>
              <a:t>Pluggable authoring drivers behind the same contract</a:t>
            </a:r>
            <a:endParaRPr lang="en-US" sz="1150" dirty="0"/>
          </a:p>
          <a:p>
            <a:pPr marL="342900" indent="-342900">
              <a:lnSpc>
                <a:spcPct val="120000"/>
              </a:lnSpc>
              <a:spcAft>
                <a:spcPts val="1000"/>
              </a:spcAft>
              <a:buSzPct val="100000"/>
              <a:buChar char="●"/>
            </a:pPr>
            <a:r>
              <a:rPr lang="en-US" sz="1150" dirty="0">
                <a:solidFill>
                  <a:srgbClr val="A8A49C"/>
                </a:solidFill>
                <a:latin typeface="Calibri" pitchFamily="34" charset="0"/>
                <a:ea typeface="Calibri" pitchFamily="34" charset="-122"/>
                <a:cs typeface="Calibri" pitchFamily="34" charset="-120"/>
              </a:rPr>
              <a:t>Measure the round-trip saving against real teams</a:t>
            </a:r>
            <a:endParaRPr lang="en-US" sz="1150" dirty="0"/>
          </a:p>
          <a:p>
            <a:pPr marL="342900" indent="-342900">
              <a:lnSpc>
                <a:spcPct val="120000"/>
              </a:lnSpc>
              <a:spcAft>
                <a:spcPts val="1000"/>
              </a:spcAft>
              <a:buSzPct val="100000"/>
              <a:buChar char="●"/>
            </a:pPr>
            <a:r>
              <a:rPr lang="en-US" sz="1150" dirty="0">
                <a:solidFill>
                  <a:srgbClr val="A8A49C"/>
                </a:solidFill>
                <a:latin typeface="Calibri" pitchFamily="34" charset="0"/>
                <a:ea typeface="Calibri" pitchFamily="34" charset="-122"/>
                <a:cs typeface="Calibri" pitchFamily="34" charset="-120"/>
              </a:rPr>
              <a:t>Row locking, so the loops run multi-instance</a:t>
            </a:r>
            <a:endParaRPr lang="en-US" sz="11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15</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vector>
  </TitlesOfParts>
  <Company>Locus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Locus — two modes, one pipeline</dc:title>
  <dc:subject>PptxGenJS Presentation</dc:subject>
  <dc:creator>Nakul</dc:creator>
  <cp:lastModifiedBy>Nakul</cp:lastModifiedBy>
  <cp:revision>1</cp:revision>
  <dcterms:created xsi:type="dcterms:W3CDTF">2026-08-27T18:44:07Z</dcterms:created>
  <dcterms:modified xsi:type="dcterms:W3CDTF">2026-08-27T18:44:07Z</dcterms:modified>
</cp:coreProperties>
</file>