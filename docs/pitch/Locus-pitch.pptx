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Nakul. This is Locus - an AI teammate that takes a ticket all the way from the moment it's assigned to you, to the moment your testing team signs it off. It runs in two modes, and the whole design bet is that whether a human or an agent writes the code, everything behind it is the same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A task's information is scattered across four tools and joined only inside somebody's head. The requirement was argued out in Slack, the criteria are in Jira, the code is in GitHub - and the senior dev approving it has none of that in front of them. And the half after the merge is entirely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Locus automates all of it. Ten steps. It gathers the context, scans the diff for vulnerabilities, reviews the code against the requirement it just gathered, posts findings, tracks the review round trip that GitHub doesn't record anywhere, merges when the gate passes, briefs the testers, reads their reply, moves the board card, and keeps one written record per work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are the two modes. Assisted: you write the code, Locus does the other ten steps around you. Autonomous: you hand Locus the ticket, it reads the requirement, writes the change and opens the pull request - and then the exact same ten steps run behind it. Your senior dev still reviews it. Your tester still signs it off. The author is the only thing that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Crucially, you choose the mode per ticket, not per account. As one global switch, the riskiest ticket in your backlog sets policy for every ticket - so teams leave it off forever. The mode resolves work item, then repo, then your account default. Most specific wins. A version bump goes to the agent; a change touching authentication stays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Autonomous is only a promise the system can keep because of four rails. It's bounded - three attempts, then it hands back loudly. If you push a commit yourself, autonomous mode ends for that ticket immediately, because an agent overwriting your work is the worst thing it could do quietly. It opens pull requests and has no merge capability at all. And there's a cap on how many agent-written PRs can be open, because the real risk isn't 'no human' - the approver is a real person - it's rubber-stamping.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piece. In autonomous mode the reviewer and the tester are the only humans left, which makes their calendars the constraint. So a time agent answers on your behalf when you're booked - and if the message actually matters, a reviewer mid-round or a ticket already blocked on you, it proposes times instead of just deflecting. It says status and end time only, never what the meeting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straight with you about where this stands: the pipeline is built and running - 651 passing tests, 49 service modules, 21 migrations, eight integrations, and inference entirely local so no diff or Slack thread ever leaves the machine. The two-mode layer on top is designed and specced against that running architecture, and is what I'd build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what's running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A40"/>
        </a:solidFill>
      </p:bgPr>
    </p:bg>
    <p:spTree>
      <p:nvGrpSpPr>
        <p:cNvPr id="1" name=""/>
        <p:cNvGrpSpPr/>
        <p:nvPr/>
      </p:nvGrpSpPr>
      <p:grpSpPr>
        <a:xfrm>
          <a:off x="0" y="0"/>
          <a:ext cx="0" cy="0"/>
          <a:chOff x="0" y="0"/>
          <a:chExt cx="0" cy="0"/>
        </a:xfrm>
      </p:grpSpPr>
      <p:sp>
        <p:nvSpPr>
          <p:cNvPr id="2" name="Text 0"/>
          <p:cNvSpPr/>
          <p:nvPr/>
        </p:nvSpPr>
        <p:spPr>
          <a:xfrm>
            <a:off x="731520" y="1234440"/>
            <a:ext cx="5943600" cy="274320"/>
          </a:xfrm>
          <a:prstGeom prst="rect">
            <a:avLst/>
          </a:prstGeom>
          <a:noFill/>
          <a:ln/>
        </p:spPr>
        <p:txBody>
          <a:bodyPr wrap="square" lIns="0" tIns="0" rIns="0" bIns="0" rtlCol="0" anchor="ctr"/>
          <a:lstStyle/>
          <a:p>
            <a:pPr indent="0" marL="0">
              <a:buNone/>
            </a:pPr>
            <a:r>
              <a:rPr lang="en-US" sz="1100" b="1" spc="250" kern="0" dirty="0">
                <a:solidFill>
                  <a:srgbClr val="6FCBD1"/>
                </a:solidFill>
                <a:latin typeface="Calibri" pitchFamily="34" charset="0"/>
                <a:ea typeface="Calibri" pitchFamily="34" charset="-122"/>
                <a:cs typeface="Calibri" pitchFamily="34" charset="-120"/>
              </a:rPr>
              <a:t>RAZORPAY AI BUILDER INTERNSHIP 2026</a:t>
            </a:r>
            <a:endParaRPr lang="en-US" sz="1100" dirty="0"/>
          </a:p>
        </p:txBody>
      </p:sp>
      <p:sp>
        <p:nvSpPr>
          <p:cNvPr id="3" name="Text 1"/>
          <p:cNvSpPr/>
          <p:nvPr/>
        </p:nvSpPr>
        <p:spPr>
          <a:xfrm>
            <a:off x="685800" y="1600200"/>
            <a:ext cx="5943600" cy="1188720"/>
          </a:xfrm>
          <a:prstGeom prst="rect">
            <a:avLst/>
          </a:prstGeom>
          <a:noFill/>
          <a:ln/>
        </p:spPr>
        <p:txBody>
          <a:bodyPr wrap="square" lIns="0" tIns="0" rIns="0" bIns="0" rtlCol="0" anchor="ctr"/>
          <a:lstStyle/>
          <a:p>
            <a:pPr indent="0" marL="0">
              <a:buNone/>
            </a:pPr>
            <a:r>
              <a:rPr lang="en-US" sz="6800" b="1" dirty="0">
                <a:solidFill>
                  <a:srgbClr val="FFFFFF"/>
                </a:solidFill>
                <a:latin typeface="Cambria" pitchFamily="34" charset="0"/>
                <a:ea typeface="Cambria" pitchFamily="34" charset="-122"/>
                <a:cs typeface="Cambria" pitchFamily="34" charset="-120"/>
              </a:rPr>
              <a:t>Locus</a:t>
            </a:r>
            <a:endParaRPr lang="en-US" sz="6800" dirty="0"/>
          </a:p>
        </p:txBody>
      </p:sp>
      <p:sp>
        <p:nvSpPr>
          <p:cNvPr id="4" name="Text 2"/>
          <p:cNvSpPr/>
          <p:nvPr/>
        </p:nvSpPr>
        <p:spPr>
          <a:xfrm>
            <a:off x="731520" y="2880360"/>
            <a:ext cx="5760720" cy="822960"/>
          </a:xfrm>
          <a:prstGeom prst="rect">
            <a:avLst/>
          </a:prstGeom>
          <a:noFill/>
          <a:ln/>
        </p:spPr>
        <p:txBody>
          <a:bodyPr wrap="square" lIns="0" tIns="0" rIns="0" bIns="0" rtlCol="0" anchor="ctr"/>
          <a:lstStyle/>
          <a:p>
            <a:pPr indent="0" marL="0">
              <a:lnSpc>
                <a:spcPct val="120000"/>
              </a:lnSpc>
              <a:buNone/>
            </a:pPr>
            <a:r>
              <a:rPr lang="en-US" sz="2000" dirty="0">
                <a:solidFill>
                  <a:srgbClr val="6FCBD1"/>
                </a:solidFill>
                <a:latin typeface="Calibri" pitchFamily="34" charset="0"/>
                <a:ea typeface="Calibri" pitchFamily="34" charset="-122"/>
                <a:cs typeface="Calibri" pitchFamily="34" charset="-120"/>
              </a:rPr>
              <a:t>An AI teammate that takes a ticket from assignment to QA sign-off.</a:t>
            </a:r>
            <a:endParaRPr lang="en-US" sz="2000" dirty="0"/>
          </a:p>
        </p:txBody>
      </p:sp>
      <p:sp>
        <p:nvSpPr>
          <p:cNvPr id="5" name="Text 3"/>
          <p:cNvSpPr/>
          <p:nvPr/>
        </p:nvSpPr>
        <p:spPr>
          <a:xfrm>
            <a:off x="731520" y="3977640"/>
            <a:ext cx="5760720" cy="365760"/>
          </a:xfrm>
          <a:prstGeom prst="rect">
            <a:avLst/>
          </a:prstGeom>
          <a:noFill/>
          <a:ln/>
        </p:spPr>
        <p:txBody>
          <a:bodyPr wrap="square" lIns="0" tIns="0" rIns="0" bIns="0" rtlCol="0" anchor="ctr"/>
          <a:lstStyle/>
          <a:p>
            <a:pPr indent="0" marL="0">
              <a:buNone/>
            </a:pPr>
            <a:r>
              <a:rPr lang="en-US" sz="1500" i="1" dirty="0">
                <a:solidFill>
                  <a:srgbClr val="9FBCC0"/>
                </a:solidFill>
                <a:latin typeface="Calibri" pitchFamily="34" charset="0"/>
                <a:ea typeface="Calibri" pitchFamily="34" charset="-122"/>
                <a:cs typeface="Calibri" pitchFamily="34" charset="-120"/>
              </a:rPr>
              <a:t>Two modes. One pipeline. Runs entirely on local models.</a:t>
            </a:r>
            <a:endParaRPr lang="en-US" sz="1500" dirty="0"/>
          </a:p>
        </p:txBody>
      </p:sp>
      <p:sp>
        <p:nvSpPr>
          <p:cNvPr id="6" name="Text 4"/>
          <p:cNvSpPr/>
          <p:nvPr/>
        </p:nvSpPr>
        <p:spPr>
          <a:xfrm>
            <a:off x="7223760" y="1783080"/>
            <a:ext cx="1371600" cy="1371600"/>
          </a:xfrm>
          <a:prstGeom prst="ellipse">
            <a:avLst/>
          </a:prstGeom>
          <a:solidFill>
            <a:srgbClr val="0D666D"/>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YOU</a:t>
            </a:r>
            <a:endParaRPr lang="en-US" sz="1500" dirty="0"/>
          </a:p>
        </p:txBody>
      </p:sp>
      <p:sp>
        <p:nvSpPr>
          <p:cNvPr id="7" name="Text 5"/>
          <p:cNvSpPr/>
          <p:nvPr/>
        </p:nvSpPr>
        <p:spPr>
          <a:xfrm>
            <a:off x="7223760" y="3703320"/>
            <a:ext cx="1371600" cy="1371600"/>
          </a:xfrm>
          <a:prstGeom prst="ellipse">
            <a:avLst/>
          </a:prstGeom>
          <a:solidFill>
            <a:srgbClr val="E8944F"/>
          </a:solidFill>
          <a:ln/>
        </p:spPr>
        <p:txBody>
          <a:bodyPr wrap="square" lIns="0" tIns="0" rIns="0" bIns="0" rtlCol="0" anchor="ctr"/>
          <a:lstStyle/>
          <a:p>
            <a:pPr algn="ctr" indent="0" marL="0">
              <a:buNone/>
            </a:pPr>
            <a:r>
              <a:rPr lang="en-US" sz="1300" b="1" dirty="0">
                <a:solidFill>
                  <a:srgbClr val="10181C"/>
                </a:solidFill>
                <a:latin typeface="Calibri" pitchFamily="34" charset="0"/>
                <a:ea typeface="Calibri" pitchFamily="34" charset="-122"/>
                <a:cs typeface="Calibri" pitchFamily="34" charset="-120"/>
              </a:rPr>
              <a:t>AGENT</a:t>
            </a:r>
            <a:endParaRPr lang="en-US" sz="1300" dirty="0"/>
          </a:p>
        </p:txBody>
      </p:sp>
      <p:sp>
        <p:nvSpPr>
          <p:cNvPr id="8" name="Shape 6"/>
          <p:cNvSpPr/>
          <p:nvPr/>
        </p:nvSpPr>
        <p:spPr>
          <a:xfrm>
            <a:off x="8641080" y="2468880"/>
            <a:ext cx="1051560" cy="868680"/>
          </a:xfrm>
          <a:prstGeom prst="line">
            <a:avLst/>
          </a:prstGeom>
          <a:noFill/>
          <a:ln w="19050">
            <a:solidFill>
              <a:srgbClr val="6FCBD1"/>
            </a:solidFill>
            <a:prstDash val="solid"/>
          </a:ln>
        </p:spPr>
      </p:sp>
      <p:sp>
        <p:nvSpPr>
          <p:cNvPr id="9" name="Shape 7"/>
          <p:cNvSpPr/>
          <p:nvPr/>
        </p:nvSpPr>
        <p:spPr>
          <a:xfrm flipV="1">
            <a:off x="8641080" y="3383280"/>
            <a:ext cx="1051560" cy="1005840"/>
          </a:xfrm>
          <a:prstGeom prst="line">
            <a:avLst/>
          </a:prstGeom>
          <a:noFill/>
          <a:ln w="19050">
            <a:solidFill>
              <a:srgbClr val="F6C89A"/>
            </a:solidFill>
            <a:prstDash val="solid"/>
          </a:ln>
        </p:spPr>
      </p:sp>
      <p:sp>
        <p:nvSpPr>
          <p:cNvPr id="10" name="Text 8"/>
          <p:cNvSpPr/>
          <p:nvPr/>
        </p:nvSpPr>
        <p:spPr>
          <a:xfrm>
            <a:off x="9692640" y="2423160"/>
            <a:ext cx="1920240" cy="1920240"/>
          </a:xfrm>
          <a:prstGeom prst="roundRect">
            <a:avLst>
              <a:gd name="adj" fmla="val 4762"/>
            </a:avLst>
          </a:prstGeom>
          <a:solidFill>
            <a:srgbClr val="11484F"/>
          </a:solidFill>
          <a:ln w="15875">
            <a:solidFill>
              <a:srgbClr val="6FCBD1"/>
            </a:solidFill>
          </a:ln>
        </p:spPr>
        <p:txBody>
          <a:bodyPr wrap="square" lIns="0" tIns="0" rIns="0" bIns="0" rtlCol="0" anchor="ctr"/>
          <a:lstStyle/>
          <a:p>
            <a:pPr algn="ctr" indent="0" marL="0">
              <a:buNone/>
            </a:pPr>
            <a:r>
              <a:rPr lang="en-US" sz="1500" b="1" spc="150" kern="0" dirty="0">
                <a:solidFill>
                  <a:srgbClr val="FFFFFF"/>
                </a:solidFill>
                <a:latin typeface="Calibri" pitchFamily="34" charset="0"/>
                <a:ea typeface="Calibri" pitchFamily="34" charset="-122"/>
                <a:cs typeface="Calibri" pitchFamily="34" charset="-120"/>
              </a:rPr>
              <a:t>ONE</a:t>
            </a:r>
            <a:endParaRPr lang="en-US" sz="1500" dirty="0"/>
          </a:p>
          <a:p>
            <a:pPr algn="ctr" indent="0" marL="0">
              <a:buNone/>
            </a:pPr>
            <a:r>
              <a:rPr lang="en-US" sz="1500" b="1" spc="150" kern="0" dirty="0">
                <a:solidFill>
                  <a:srgbClr val="FFFFFF"/>
                </a:solidFill>
                <a:latin typeface="Calibri" pitchFamily="34" charset="0"/>
                <a:ea typeface="Calibri" pitchFamily="34" charset="-122"/>
                <a:cs typeface="Calibri" pitchFamily="34" charset="-120"/>
              </a:rPr>
              <a:t>PIPELINE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p:bgPr>
    </p:bg>
    <p:spTree>
      <p:nvGrpSpPr>
        <p:cNvPr id="1" name=""/>
        <p:cNvGrpSpPr/>
        <p:nvPr/>
      </p:nvGrpSpPr>
      <p:grpSpPr>
        <a:xfrm>
          <a:off x="0" y="0"/>
          <a:ext cx="0" cy="0"/>
          <a:chOff x="0" y="0"/>
          <a:chExt cx="0" cy="0"/>
        </a:xfrm>
      </p:grpSpPr>
      <p:sp>
        <p:nvSpPr>
          <p:cNvPr id="2" name="Text 0"/>
          <p:cNvSpPr/>
          <p:nvPr/>
        </p:nvSpPr>
        <p:spPr>
          <a:xfrm>
            <a:off x="640080" y="502920"/>
            <a:ext cx="10881360" cy="914400"/>
          </a:xfrm>
          <a:prstGeom prst="rect">
            <a:avLst/>
          </a:prstGeom>
          <a:noFill/>
          <a:ln/>
        </p:spPr>
        <p:txBody>
          <a:bodyPr wrap="square" lIns="0" tIns="0" rIns="0" bIns="0" rtlCol="0" anchor="ctr"/>
          <a:lstStyle/>
          <a:p>
            <a:pPr algn="l" indent="0" marL="0">
              <a:buNone/>
            </a:pPr>
            <a:r>
              <a:rPr lang="en-US" sz="3400" b="1" dirty="0">
                <a:solidFill>
                  <a:srgbClr val="10181C"/>
                </a:solidFill>
                <a:latin typeface="Cambria" pitchFamily="34" charset="0"/>
                <a:ea typeface="Cambria" pitchFamily="34" charset="-122"/>
                <a:cs typeface="Cambria" pitchFamily="34" charset="-120"/>
              </a:rPr>
              <a:t>The context lives in four tools. Nobody joins them.</a:t>
            </a:r>
            <a:endParaRPr lang="en-US" sz="3400" dirty="0"/>
          </a:p>
        </p:txBody>
      </p:sp>
      <p:sp>
        <p:nvSpPr>
          <p:cNvPr id="3" name="Text 1"/>
          <p:cNvSpPr/>
          <p:nvPr/>
        </p:nvSpPr>
        <p:spPr>
          <a:xfrm>
            <a:off x="685800" y="2011680"/>
            <a:ext cx="548640" cy="548640"/>
          </a:xfrm>
          <a:prstGeom prst="ellipse">
            <a:avLst/>
          </a:prstGeom>
          <a:solidFill>
            <a:srgbClr val="0D666D"/>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a:t>
            </a:r>
            <a:endParaRPr lang="en-US" sz="1700" dirty="0"/>
          </a:p>
        </p:txBody>
      </p:sp>
      <p:sp>
        <p:nvSpPr>
          <p:cNvPr id="4" name="Text 2"/>
          <p:cNvSpPr/>
          <p:nvPr/>
        </p:nvSpPr>
        <p:spPr>
          <a:xfrm>
            <a:off x="1371600" y="1993392"/>
            <a:ext cx="4480560" cy="274320"/>
          </a:xfrm>
          <a:prstGeom prst="rect">
            <a:avLst/>
          </a:prstGeom>
          <a:noFill/>
          <a:ln/>
        </p:spPr>
        <p:txBody>
          <a:bodyPr wrap="square" lIns="0" tIns="0" rIns="0" bIns="0" rtlCol="0" anchor="ctr"/>
          <a:lstStyle/>
          <a:p>
            <a:pPr indent="0" marL="0">
              <a:buNone/>
            </a:pPr>
            <a:r>
              <a:rPr lang="en-US" sz="1500" b="1" dirty="0">
                <a:solidFill>
                  <a:srgbClr val="10181C"/>
                </a:solidFill>
                <a:latin typeface="Calibri" pitchFamily="34" charset="0"/>
                <a:ea typeface="Calibri" pitchFamily="34" charset="-122"/>
                <a:cs typeface="Calibri" pitchFamily="34" charset="-120"/>
              </a:rPr>
              <a:t>Slack</a:t>
            </a:r>
            <a:endParaRPr lang="en-US" sz="1500" dirty="0"/>
          </a:p>
        </p:txBody>
      </p:sp>
      <p:sp>
        <p:nvSpPr>
          <p:cNvPr id="5" name="Text 3"/>
          <p:cNvSpPr/>
          <p:nvPr/>
        </p:nvSpPr>
        <p:spPr>
          <a:xfrm>
            <a:off x="1371600" y="2258568"/>
            <a:ext cx="4480560" cy="292608"/>
          </a:xfrm>
          <a:prstGeom prst="rect">
            <a:avLst/>
          </a:prstGeom>
          <a:noFill/>
          <a:ln/>
        </p:spPr>
        <p:txBody>
          <a:bodyPr wrap="square" lIns="0" tIns="0" rIns="0" bIns="0" rtlCol="0" anchor="ctr"/>
          <a:lstStyle/>
          <a:p>
            <a:pPr indent="0" marL="0">
              <a:buNone/>
            </a:pPr>
            <a:r>
              <a:rPr lang="en-US" sz="1250" dirty="0">
                <a:solidFill>
                  <a:srgbClr val="5C6E78"/>
                </a:solidFill>
                <a:latin typeface="Calibri" pitchFamily="34" charset="0"/>
                <a:ea typeface="Calibri" pitchFamily="34" charset="-122"/>
                <a:cs typeface="Calibri" pitchFamily="34" charset="-120"/>
              </a:rPr>
              <a:t>where the requirement was actually argued out</a:t>
            </a:r>
            <a:endParaRPr lang="en-US" sz="1250" dirty="0"/>
          </a:p>
        </p:txBody>
      </p:sp>
      <p:sp>
        <p:nvSpPr>
          <p:cNvPr id="6" name="Text 4"/>
          <p:cNvSpPr/>
          <p:nvPr/>
        </p:nvSpPr>
        <p:spPr>
          <a:xfrm>
            <a:off x="685800" y="2926080"/>
            <a:ext cx="548640" cy="548640"/>
          </a:xfrm>
          <a:prstGeom prst="ellipse">
            <a:avLst/>
          </a:prstGeom>
          <a:solidFill>
            <a:srgbClr val="0D666D"/>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J</a:t>
            </a:r>
            <a:endParaRPr lang="en-US" sz="1700" dirty="0"/>
          </a:p>
        </p:txBody>
      </p:sp>
      <p:sp>
        <p:nvSpPr>
          <p:cNvPr id="7" name="Text 5"/>
          <p:cNvSpPr/>
          <p:nvPr/>
        </p:nvSpPr>
        <p:spPr>
          <a:xfrm>
            <a:off x="1371600" y="2907792"/>
            <a:ext cx="4480560" cy="274320"/>
          </a:xfrm>
          <a:prstGeom prst="rect">
            <a:avLst/>
          </a:prstGeom>
          <a:noFill/>
          <a:ln/>
        </p:spPr>
        <p:txBody>
          <a:bodyPr wrap="square" lIns="0" tIns="0" rIns="0" bIns="0" rtlCol="0" anchor="ctr"/>
          <a:lstStyle/>
          <a:p>
            <a:pPr indent="0" marL="0">
              <a:buNone/>
            </a:pPr>
            <a:r>
              <a:rPr lang="en-US" sz="1500" b="1" dirty="0">
                <a:solidFill>
                  <a:srgbClr val="10181C"/>
                </a:solidFill>
                <a:latin typeface="Calibri" pitchFamily="34" charset="0"/>
                <a:ea typeface="Calibri" pitchFamily="34" charset="-122"/>
                <a:cs typeface="Calibri" pitchFamily="34" charset="-120"/>
              </a:rPr>
              <a:t>Jira</a:t>
            </a:r>
            <a:endParaRPr lang="en-US" sz="1500" dirty="0"/>
          </a:p>
        </p:txBody>
      </p:sp>
      <p:sp>
        <p:nvSpPr>
          <p:cNvPr id="8" name="Text 6"/>
          <p:cNvSpPr/>
          <p:nvPr/>
        </p:nvSpPr>
        <p:spPr>
          <a:xfrm>
            <a:off x="1371600" y="3172968"/>
            <a:ext cx="4480560" cy="292608"/>
          </a:xfrm>
          <a:prstGeom prst="rect">
            <a:avLst/>
          </a:prstGeom>
          <a:noFill/>
          <a:ln/>
        </p:spPr>
        <p:txBody>
          <a:bodyPr wrap="square" lIns="0" tIns="0" rIns="0" bIns="0" rtlCol="0" anchor="ctr"/>
          <a:lstStyle/>
          <a:p>
            <a:pPr indent="0" marL="0">
              <a:buNone/>
            </a:pPr>
            <a:r>
              <a:rPr lang="en-US" sz="1250" dirty="0">
                <a:solidFill>
                  <a:srgbClr val="5C6E78"/>
                </a:solidFill>
                <a:latin typeface="Calibri" pitchFamily="34" charset="0"/>
                <a:ea typeface="Calibri" pitchFamily="34" charset="-122"/>
                <a:cs typeface="Calibri" pitchFamily="34" charset="-120"/>
              </a:rPr>
              <a:t>the ticket and its acceptance criteria</a:t>
            </a:r>
            <a:endParaRPr lang="en-US" sz="1250" dirty="0"/>
          </a:p>
        </p:txBody>
      </p:sp>
      <p:sp>
        <p:nvSpPr>
          <p:cNvPr id="9" name="Text 7"/>
          <p:cNvSpPr/>
          <p:nvPr/>
        </p:nvSpPr>
        <p:spPr>
          <a:xfrm>
            <a:off x="685800" y="3840480"/>
            <a:ext cx="548640" cy="548640"/>
          </a:xfrm>
          <a:prstGeom prst="ellipse">
            <a:avLst/>
          </a:prstGeom>
          <a:solidFill>
            <a:srgbClr val="0D666D"/>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G</a:t>
            </a:r>
            <a:endParaRPr lang="en-US" sz="1700" dirty="0"/>
          </a:p>
        </p:txBody>
      </p:sp>
      <p:sp>
        <p:nvSpPr>
          <p:cNvPr id="10" name="Text 8"/>
          <p:cNvSpPr/>
          <p:nvPr/>
        </p:nvSpPr>
        <p:spPr>
          <a:xfrm>
            <a:off x="1371600" y="3822192"/>
            <a:ext cx="4480560" cy="274320"/>
          </a:xfrm>
          <a:prstGeom prst="rect">
            <a:avLst/>
          </a:prstGeom>
          <a:noFill/>
          <a:ln/>
        </p:spPr>
        <p:txBody>
          <a:bodyPr wrap="square" lIns="0" tIns="0" rIns="0" bIns="0" rtlCol="0" anchor="ctr"/>
          <a:lstStyle/>
          <a:p>
            <a:pPr indent="0" marL="0">
              <a:buNone/>
            </a:pPr>
            <a:r>
              <a:rPr lang="en-US" sz="1500" b="1" dirty="0">
                <a:solidFill>
                  <a:srgbClr val="10181C"/>
                </a:solidFill>
                <a:latin typeface="Calibri" pitchFamily="34" charset="0"/>
                <a:ea typeface="Calibri" pitchFamily="34" charset="-122"/>
                <a:cs typeface="Calibri" pitchFamily="34" charset="-120"/>
              </a:rPr>
              <a:t>GitHub</a:t>
            </a:r>
            <a:endParaRPr lang="en-US" sz="1500" dirty="0"/>
          </a:p>
        </p:txBody>
      </p:sp>
      <p:sp>
        <p:nvSpPr>
          <p:cNvPr id="11" name="Text 9"/>
          <p:cNvSpPr/>
          <p:nvPr/>
        </p:nvSpPr>
        <p:spPr>
          <a:xfrm>
            <a:off x="1371600" y="4087368"/>
            <a:ext cx="4480560" cy="292608"/>
          </a:xfrm>
          <a:prstGeom prst="rect">
            <a:avLst/>
          </a:prstGeom>
          <a:noFill/>
          <a:ln/>
        </p:spPr>
        <p:txBody>
          <a:bodyPr wrap="square" lIns="0" tIns="0" rIns="0" bIns="0" rtlCol="0" anchor="ctr"/>
          <a:lstStyle/>
          <a:p>
            <a:pPr indent="0" marL="0">
              <a:buNone/>
            </a:pPr>
            <a:r>
              <a:rPr lang="en-US" sz="1250" dirty="0">
                <a:solidFill>
                  <a:srgbClr val="5C6E78"/>
                </a:solidFill>
                <a:latin typeface="Calibri" pitchFamily="34" charset="0"/>
                <a:ea typeface="Calibri" pitchFamily="34" charset="-122"/>
                <a:cs typeface="Calibri" pitchFamily="34" charset="-120"/>
              </a:rPr>
              <a:t>the code, the review, the merge</a:t>
            </a:r>
            <a:endParaRPr lang="en-US" sz="1250" dirty="0"/>
          </a:p>
        </p:txBody>
      </p:sp>
      <p:sp>
        <p:nvSpPr>
          <p:cNvPr id="12" name="Text 10"/>
          <p:cNvSpPr/>
          <p:nvPr/>
        </p:nvSpPr>
        <p:spPr>
          <a:xfrm>
            <a:off x="685800" y="4754880"/>
            <a:ext cx="548640" cy="548640"/>
          </a:xfrm>
          <a:prstGeom prst="ellipse">
            <a:avLst/>
          </a:prstGeom>
          <a:solidFill>
            <a:srgbClr val="0D666D"/>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a:t>
            </a:r>
            <a:endParaRPr lang="en-US" sz="1700" dirty="0"/>
          </a:p>
        </p:txBody>
      </p:sp>
      <p:sp>
        <p:nvSpPr>
          <p:cNvPr id="13" name="Text 11"/>
          <p:cNvSpPr/>
          <p:nvPr/>
        </p:nvSpPr>
        <p:spPr>
          <a:xfrm>
            <a:off x="1371600" y="4736592"/>
            <a:ext cx="4480560" cy="274320"/>
          </a:xfrm>
          <a:prstGeom prst="rect">
            <a:avLst/>
          </a:prstGeom>
          <a:noFill/>
          <a:ln/>
        </p:spPr>
        <p:txBody>
          <a:bodyPr wrap="square" lIns="0" tIns="0" rIns="0" bIns="0" rtlCol="0" anchor="ctr"/>
          <a:lstStyle/>
          <a:p>
            <a:pPr indent="0" marL="0">
              <a:buNone/>
            </a:pPr>
            <a:r>
              <a:rPr lang="en-US" sz="1500" b="1" dirty="0">
                <a:solidFill>
                  <a:srgbClr val="10181C"/>
                </a:solidFill>
                <a:latin typeface="Calibri" pitchFamily="34" charset="0"/>
                <a:ea typeface="Calibri" pitchFamily="34" charset="-122"/>
                <a:cs typeface="Calibri" pitchFamily="34" charset="-120"/>
              </a:rPr>
              <a:t>Gmail</a:t>
            </a:r>
            <a:endParaRPr lang="en-US" sz="1500" dirty="0"/>
          </a:p>
        </p:txBody>
      </p:sp>
      <p:sp>
        <p:nvSpPr>
          <p:cNvPr id="14" name="Text 12"/>
          <p:cNvSpPr/>
          <p:nvPr/>
        </p:nvSpPr>
        <p:spPr>
          <a:xfrm>
            <a:off x="1371600" y="5001768"/>
            <a:ext cx="4480560" cy="292608"/>
          </a:xfrm>
          <a:prstGeom prst="rect">
            <a:avLst/>
          </a:prstGeom>
          <a:noFill/>
          <a:ln/>
        </p:spPr>
        <p:txBody>
          <a:bodyPr wrap="square" lIns="0" tIns="0" rIns="0" bIns="0" rtlCol="0" anchor="ctr"/>
          <a:lstStyle/>
          <a:p>
            <a:pPr indent="0" marL="0">
              <a:buNone/>
            </a:pPr>
            <a:r>
              <a:rPr lang="en-US" sz="1250" dirty="0">
                <a:solidFill>
                  <a:srgbClr val="5C6E78"/>
                </a:solidFill>
                <a:latin typeface="Calibri" pitchFamily="34" charset="0"/>
                <a:ea typeface="Calibri" pitchFamily="34" charset="-122"/>
                <a:cs typeface="Calibri" pitchFamily="34" charset="-120"/>
              </a:rPr>
              <a:t>the testing team's verdict</a:t>
            </a:r>
            <a:endParaRPr lang="en-US" sz="1250" dirty="0"/>
          </a:p>
        </p:txBody>
      </p:sp>
      <p:sp>
        <p:nvSpPr>
          <p:cNvPr id="15" name="Shape 13"/>
          <p:cNvSpPr/>
          <p:nvPr/>
        </p:nvSpPr>
        <p:spPr>
          <a:xfrm>
            <a:off x="6400800" y="1920240"/>
            <a:ext cx="5120640" cy="2103120"/>
          </a:xfrm>
          <a:prstGeom prst="roundRect">
            <a:avLst>
              <a:gd name="adj" fmla="val 3478"/>
            </a:avLst>
          </a:prstGeom>
          <a:solidFill>
            <a:srgbClr val="FFFFFF"/>
          </a:solidFill>
          <a:ln/>
          <a:effectLst>
            <a:outerShdw sx="100000" sy="100000" kx="0" ky="0" algn="bl" rotWithShape="0" blurRad="127000" dist="25400" dir="5400000">
              <a:srgbClr val="0E3A40">
                <a:alpha val="13000"/>
              </a:srgbClr>
            </a:outerShdw>
          </a:effectLst>
        </p:spPr>
      </p:sp>
      <p:sp>
        <p:nvSpPr>
          <p:cNvPr id="16" name="Text 14"/>
          <p:cNvSpPr/>
          <p:nvPr/>
        </p:nvSpPr>
        <p:spPr>
          <a:xfrm>
            <a:off x="6720840" y="2148840"/>
            <a:ext cx="4480560" cy="1645920"/>
          </a:xfrm>
          <a:prstGeom prst="rect">
            <a:avLst/>
          </a:prstGeom>
          <a:noFill/>
          <a:ln/>
        </p:spPr>
        <p:txBody>
          <a:bodyPr wrap="square" lIns="0" tIns="0" rIns="0" bIns="0" rtlCol="0" anchor="ctr"/>
          <a:lstStyle/>
          <a:p>
            <a:pPr indent="0" marL="0">
              <a:lnSpc>
                <a:spcPct val="115000"/>
              </a:lnSpc>
              <a:buNone/>
            </a:pPr>
            <a:r>
              <a:rPr lang="en-US" sz="2200" b="1" dirty="0">
                <a:solidFill>
                  <a:srgbClr val="0D666D"/>
                </a:solidFill>
                <a:latin typeface="Cambria" pitchFamily="34" charset="0"/>
                <a:ea typeface="Cambria" pitchFamily="34" charset="-122"/>
                <a:cs typeface="Cambria" pitchFamily="34" charset="-120"/>
              </a:rPr>
              <a:t>The person approving the change has none of it in front of them.</a:t>
            </a:r>
            <a:endParaRPr lang="en-US" sz="2200" dirty="0"/>
          </a:p>
        </p:txBody>
      </p:sp>
      <p:sp>
        <p:nvSpPr>
          <p:cNvPr id="17" name="Text 15"/>
          <p:cNvSpPr/>
          <p:nvPr/>
        </p:nvSpPr>
        <p:spPr>
          <a:xfrm>
            <a:off x="6400800" y="4315968"/>
            <a:ext cx="5120640" cy="320040"/>
          </a:xfrm>
          <a:prstGeom prst="rect">
            <a:avLst/>
          </a:prstGeom>
          <a:noFill/>
          <a:ln/>
        </p:spPr>
        <p:txBody>
          <a:bodyPr wrap="square" lIns="0" tIns="0" rIns="0" bIns="0" rtlCol="0" anchor="ctr"/>
          <a:lstStyle/>
          <a:p>
            <a:pPr indent="0" marL="0">
              <a:buNone/>
            </a:pPr>
            <a:r>
              <a:rPr lang="en-US" sz="1500" b="1" dirty="0">
                <a:solidFill>
                  <a:srgbClr val="10181C"/>
                </a:solidFill>
                <a:latin typeface="Calibri" pitchFamily="34" charset="0"/>
                <a:ea typeface="Calibri" pitchFamily="34" charset="-122"/>
                <a:cs typeface="Calibri" pitchFamily="34" charset="-120"/>
              </a:rPr>
              <a:t>And everything after the merge is manual.</a:t>
            </a:r>
            <a:endParaRPr lang="en-US" sz="1500" dirty="0"/>
          </a:p>
        </p:txBody>
      </p:sp>
      <p:sp>
        <p:nvSpPr>
          <p:cNvPr id="18" name="Text 16"/>
          <p:cNvSpPr/>
          <p:nvPr/>
        </p:nvSpPr>
        <p:spPr>
          <a:xfrm>
            <a:off x="6400800" y="4681728"/>
            <a:ext cx="5120640" cy="1737360"/>
          </a:xfrm>
          <a:prstGeom prst="rect">
            <a:avLst/>
          </a:prstGeom>
          <a:noFill/>
          <a:ln/>
        </p:spPr>
        <p:txBody>
          <a:bodyPr wrap="square" lIns="0" tIns="0" rIns="0" bIns="0" rtlCol="0" anchor="ctr"/>
          <a:lstStyle/>
          <a:p>
            <a:pPr indent="0" marL="0">
              <a:lnSpc>
                <a:spcPct val="125000"/>
              </a:lnSpc>
              <a:buNone/>
            </a:pPr>
            <a:r>
              <a:rPr lang="en-US" sz="1300" dirty="0">
                <a:solidFill>
                  <a:srgbClr val="5C6E78"/>
                </a:solidFill>
                <a:latin typeface="Calibri" pitchFamily="34" charset="0"/>
                <a:ea typeface="Calibri" pitchFamily="34" charset="-122"/>
                <a:cs typeface="Calibri" pitchFamily="34" charset="-120"/>
              </a:rPr>
              <a:t>Briefing the testers. Chasing a reply. Reopening the ticket when they say it's broken. Dragging the board card. GitHub's own automation has exactly one useful trigger — an item closing — so a ticket sits in "Todo" through the branch, the review and the QA thread, then jumps to "Done".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p:bgPr>
    </p:bg>
    <p:spTree>
      <p:nvGrpSpPr>
        <p:cNvPr id="1" name=""/>
        <p:cNvGrpSpPr/>
        <p:nvPr/>
      </p:nvGrpSpPr>
      <p:grpSpPr>
        <a:xfrm>
          <a:off x="0" y="0"/>
          <a:ext cx="0" cy="0"/>
          <a:chOff x="0" y="0"/>
          <a:chExt cx="0" cy="0"/>
        </a:xfrm>
      </p:grpSpPr>
      <p:sp>
        <p:nvSpPr>
          <p:cNvPr id="2" name="Text 0"/>
          <p:cNvSpPr/>
          <p:nvPr/>
        </p:nvSpPr>
        <p:spPr>
          <a:xfrm>
            <a:off x="640080" y="502920"/>
            <a:ext cx="10881360" cy="914400"/>
          </a:xfrm>
          <a:prstGeom prst="rect">
            <a:avLst/>
          </a:prstGeom>
          <a:noFill/>
          <a:ln/>
        </p:spPr>
        <p:txBody>
          <a:bodyPr wrap="square" lIns="0" tIns="0" rIns="0" bIns="0" rtlCol="0" anchor="ctr"/>
          <a:lstStyle/>
          <a:p>
            <a:pPr algn="l" indent="0" marL="0">
              <a:buNone/>
            </a:pPr>
            <a:r>
              <a:rPr lang="en-US" sz="3400" b="1" dirty="0">
                <a:solidFill>
                  <a:srgbClr val="10181C"/>
                </a:solidFill>
                <a:latin typeface="Cambria" pitchFamily="34" charset="0"/>
                <a:ea typeface="Cambria" pitchFamily="34" charset="-122"/>
                <a:cs typeface="Cambria" pitchFamily="34" charset="-120"/>
              </a:rPr>
              <a:t>One pipeline. Ten steps. Zero coordination.</a:t>
            </a:r>
            <a:endParaRPr lang="en-US" sz="3400" dirty="0"/>
          </a:p>
        </p:txBody>
      </p:sp>
      <p:sp>
        <p:nvSpPr>
          <p:cNvPr id="3" name="Shape 1"/>
          <p:cNvSpPr/>
          <p:nvPr/>
        </p:nvSpPr>
        <p:spPr>
          <a:xfrm>
            <a:off x="384048" y="1965960"/>
            <a:ext cx="2121408" cy="1591056"/>
          </a:xfrm>
          <a:prstGeom prst="roundRect">
            <a:avLst>
              <a:gd name="adj" fmla="val 4598"/>
            </a:avLst>
          </a:prstGeom>
          <a:solidFill>
            <a:srgbClr val="FFFFFF"/>
          </a:solidFill>
          <a:ln/>
          <a:effectLst>
            <a:outerShdw sx="100000" sy="100000" kx="0" ky="0" algn="bl" rotWithShape="0" blurRad="127000" dist="25400" dir="5400000">
              <a:srgbClr val="0E3A40">
                <a:alpha val="13000"/>
              </a:srgbClr>
            </a:outerShdw>
          </a:effectLst>
        </p:spPr>
      </p:sp>
      <p:sp>
        <p:nvSpPr>
          <p:cNvPr id="4" name="Text 2"/>
          <p:cNvSpPr/>
          <p:nvPr/>
        </p:nvSpPr>
        <p:spPr>
          <a:xfrm>
            <a:off x="585216" y="2148840"/>
            <a:ext cx="384048" cy="384048"/>
          </a:xfrm>
          <a:prstGeom prst="ellipse">
            <a:avLst/>
          </a:prstGeom>
          <a:solidFill>
            <a:srgbClr val="0D666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585216" y="2624328"/>
            <a:ext cx="1783080" cy="274320"/>
          </a:xfrm>
          <a:prstGeom prst="rect">
            <a:avLst/>
          </a:prstGeom>
          <a:noFill/>
          <a:ln/>
        </p:spPr>
        <p:txBody>
          <a:bodyPr wrap="square" lIns="0" tIns="0" rIns="0" bIns="0" rtlCol="0" anchor="ctr"/>
          <a:lstStyle/>
          <a:p>
            <a:pPr indent="0" marL="0">
              <a:buNone/>
            </a:pPr>
            <a:r>
              <a:rPr lang="en-US" sz="1300" b="1" dirty="0">
                <a:solidFill>
                  <a:srgbClr val="10181C"/>
                </a:solidFill>
                <a:latin typeface="Calibri" pitchFamily="34" charset="0"/>
                <a:ea typeface="Calibri" pitchFamily="34" charset="-122"/>
                <a:cs typeface="Calibri" pitchFamily="34" charset="-120"/>
              </a:rPr>
              <a:t>Gather context</a:t>
            </a:r>
            <a:endParaRPr lang="en-US" sz="1300" dirty="0"/>
          </a:p>
        </p:txBody>
      </p:sp>
      <p:sp>
        <p:nvSpPr>
          <p:cNvPr id="6" name="Text 4"/>
          <p:cNvSpPr/>
          <p:nvPr/>
        </p:nvSpPr>
        <p:spPr>
          <a:xfrm>
            <a:off x="585216" y="2898648"/>
            <a:ext cx="1783080" cy="411480"/>
          </a:xfrm>
          <a:prstGeom prst="rect">
            <a:avLst/>
          </a:prstGeom>
          <a:noFill/>
          <a:ln/>
        </p:spPr>
        <p:txBody>
          <a:bodyPr wrap="square" lIns="0" tIns="0" rIns="0" bIns="0" rtlCol="0" anchor="ctr"/>
          <a:lstStyle/>
          <a:p>
            <a:pPr indent="0" marL="0">
              <a:lnSpc>
                <a:spcPct val="110000"/>
              </a:lnSpc>
              <a:buNone/>
            </a:pPr>
            <a:r>
              <a:rPr lang="en-US" sz="1050" dirty="0">
                <a:solidFill>
                  <a:srgbClr val="5C6E78"/>
                </a:solidFill>
                <a:latin typeface="Calibri" pitchFamily="34" charset="0"/>
                <a:ea typeface="Calibri" pitchFamily="34" charset="-122"/>
                <a:cs typeface="Calibri" pitchFamily="34" charset="-120"/>
              </a:rPr>
              <a:t>ticket, Slack, issues, specs</a:t>
            </a:r>
            <a:endParaRPr lang="en-US" sz="1050" dirty="0"/>
          </a:p>
        </p:txBody>
      </p:sp>
      <p:sp>
        <p:nvSpPr>
          <p:cNvPr id="7" name="Shape 5"/>
          <p:cNvSpPr/>
          <p:nvPr/>
        </p:nvSpPr>
        <p:spPr>
          <a:xfrm>
            <a:off x="2697480" y="1965960"/>
            <a:ext cx="2121408" cy="1591056"/>
          </a:xfrm>
          <a:prstGeom prst="roundRect">
            <a:avLst>
              <a:gd name="adj" fmla="val 4598"/>
            </a:avLst>
          </a:prstGeom>
          <a:solidFill>
            <a:srgbClr val="FFFFFF"/>
          </a:solidFill>
          <a:ln/>
          <a:effectLst>
            <a:outerShdw sx="100000" sy="100000" kx="0" ky="0" algn="bl" rotWithShape="0" blurRad="127000" dist="25400" dir="5400000">
              <a:srgbClr val="0E3A40">
                <a:alpha val="13000"/>
              </a:srgbClr>
            </a:outerShdw>
          </a:effectLst>
        </p:spPr>
      </p:sp>
      <p:sp>
        <p:nvSpPr>
          <p:cNvPr id="8" name="Text 6"/>
          <p:cNvSpPr/>
          <p:nvPr/>
        </p:nvSpPr>
        <p:spPr>
          <a:xfrm>
            <a:off x="2898648" y="2148840"/>
            <a:ext cx="384048" cy="384048"/>
          </a:xfrm>
          <a:prstGeom prst="ellipse">
            <a:avLst/>
          </a:prstGeom>
          <a:solidFill>
            <a:srgbClr val="0D666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2898648" y="2624328"/>
            <a:ext cx="1783080" cy="274320"/>
          </a:xfrm>
          <a:prstGeom prst="rect">
            <a:avLst/>
          </a:prstGeom>
          <a:noFill/>
          <a:ln/>
        </p:spPr>
        <p:txBody>
          <a:bodyPr wrap="square" lIns="0" tIns="0" rIns="0" bIns="0" rtlCol="0" anchor="ctr"/>
          <a:lstStyle/>
          <a:p>
            <a:pPr indent="0" marL="0">
              <a:buNone/>
            </a:pPr>
            <a:r>
              <a:rPr lang="en-US" sz="1300" b="1" dirty="0">
                <a:solidFill>
                  <a:srgbClr val="10181C"/>
                </a:solidFill>
                <a:latin typeface="Calibri" pitchFamily="34" charset="0"/>
                <a:ea typeface="Calibri" pitchFamily="34" charset="-122"/>
                <a:cs typeface="Calibri" pitchFamily="34" charset="-120"/>
              </a:rPr>
              <a:t>Scan the diff</a:t>
            </a:r>
            <a:endParaRPr lang="en-US" sz="1300" dirty="0"/>
          </a:p>
        </p:txBody>
      </p:sp>
      <p:sp>
        <p:nvSpPr>
          <p:cNvPr id="10" name="Text 8"/>
          <p:cNvSpPr/>
          <p:nvPr/>
        </p:nvSpPr>
        <p:spPr>
          <a:xfrm>
            <a:off x="2898648" y="2898648"/>
            <a:ext cx="1783080" cy="411480"/>
          </a:xfrm>
          <a:prstGeom prst="rect">
            <a:avLst/>
          </a:prstGeom>
          <a:noFill/>
          <a:ln/>
        </p:spPr>
        <p:txBody>
          <a:bodyPr wrap="square" lIns="0" tIns="0" rIns="0" bIns="0" rtlCol="0" anchor="ctr"/>
          <a:lstStyle/>
          <a:p>
            <a:pPr indent="0" marL="0">
              <a:lnSpc>
                <a:spcPct val="110000"/>
              </a:lnSpc>
              <a:buNone/>
            </a:pPr>
            <a:r>
              <a:rPr lang="en-US" sz="1050" dirty="0">
                <a:solidFill>
                  <a:srgbClr val="5C6E78"/>
                </a:solidFill>
                <a:latin typeface="Calibri" pitchFamily="34" charset="0"/>
                <a:ea typeface="Calibri" pitchFamily="34" charset="-122"/>
                <a:cs typeface="Calibri" pitchFamily="34" charset="-120"/>
              </a:rPr>
              <a:t>Semgrep, Gitleaks, LLM pass</a:t>
            </a:r>
            <a:endParaRPr lang="en-US" sz="1050" dirty="0"/>
          </a:p>
        </p:txBody>
      </p:sp>
      <p:sp>
        <p:nvSpPr>
          <p:cNvPr id="11" name="Shape 9"/>
          <p:cNvSpPr/>
          <p:nvPr/>
        </p:nvSpPr>
        <p:spPr>
          <a:xfrm>
            <a:off x="5010912" y="1965960"/>
            <a:ext cx="2121408" cy="1591056"/>
          </a:xfrm>
          <a:prstGeom prst="roundRect">
            <a:avLst>
              <a:gd name="adj" fmla="val 4598"/>
            </a:avLst>
          </a:prstGeom>
          <a:solidFill>
            <a:srgbClr val="FFFFFF"/>
          </a:solidFill>
          <a:ln/>
          <a:effectLst>
            <a:outerShdw sx="100000" sy="100000" kx="0" ky="0" algn="bl" rotWithShape="0" blurRad="127000" dist="25400" dir="5400000">
              <a:srgbClr val="0E3A40">
                <a:alpha val="13000"/>
              </a:srgbClr>
            </a:outerShdw>
          </a:effectLst>
        </p:spPr>
      </p:sp>
      <p:sp>
        <p:nvSpPr>
          <p:cNvPr id="12" name="Text 10"/>
          <p:cNvSpPr/>
          <p:nvPr/>
        </p:nvSpPr>
        <p:spPr>
          <a:xfrm>
            <a:off x="5212080" y="2148840"/>
            <a:ext cx="384048" cy="384048"/>
          </a:xfrm>
          <a:prstGeom prst="ellipse">
            <a:avLst/>
          </a:prstGeom>
          <a:solidFill>
            <a:srgbClr val="0D666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5212080" y="2624328"/>
            <a:ext cx="1783080" cy="274320"/>
          </a:xfrm>
          <a:prstGeom prst="rect">
            <a:avLst/>
          </a:prstGeom>
          <a:noFill/>
          <a:ln/>
        </p:spPr>
        <p:txBody>
          <a:bodyPr wrap="square" lIns="0" tIns="0" rIns="0" bIns="0" rtlCol="0" anchor="ctr"/>
          <a:lstStyle/>
          <a:p>
            <a:pPr indent="0" marL="0">
              <a:buNone/>
            </a:pPr>
            <a:r>
              <a:rPr lang="en-US" sz="1300" b="1" dirty="0">
                <a:solidFill>
                  <a:srgbClr val="10181C"/>
                </a:solidFill>
                <a:latin typeface="Calibri" pitchFamily="34" charset="0"/>
                <a:ea typeface="Calibri" pitchFamily="34" charset="-122"/>
                <a:cs typeface="Calibri" pitchFamily="34" charset="-120"/>
              </a:rPr>
              <a:t>Review the code</a:t>
            </a:r>
            <a:endParaRPr lang="en-US" sz="1300" dirty="0"/>
          </a:p>
        </p:txBody>
      </p:sp>
      <p:sp>
        <p:nvSpPr>
          <p:cNvPr id="14" name="Text 12"/>
          <p:cNvSpPr/>
          <p:nvPr/>
        </p:nvSpPr>
        <p:spPr>
          <a:xfrm>
            <a:off x="5212080" y="2898648"/>
            <a:ext cx="1783080" cy="411480"/>
          </a:xfrm>
          <a:prstGeom prst="rect">
            <a:avLst/>
          </a:prstGeom>
          <a:noFill/>
          <a:ln/>
        </p:spPr>
        <p:txBody>
          <a:bodyPr wrap="square" lIns="0" tIns="0" rIns="0" bIns="0" rtlCol="0" anchor="ctr"/>
          <a:lstStyle/>
          <a:p>
            <a:pPr indent="0" marL="0">
              <a:lnSpc>
                <a:spcPct val="110000"/>
              </a:lnSpc>
              <a:buNone/>
            </a:pPr>
            <a:r>
              <a:rPr lang="en-US" sz="1050" dirty="0">
                <a:solidFill>
                  <a:srgbClr val="5C6E78"/>
                </a:solidFill>
                <a:latin typeface="Calibri" pitchFamily="34" charset="0"/>
                <a:ea typeface="Calibri" pitchFamily="34" charset="-122"/>
                <a:cs typeface="Calibri" pitchFamily="34" charset="-120"/>
              </a:rPr>
              <a:t>against the requirement</a:t>
            </a:r>
            <a:endParaRPr lang="en-US" sz="1050" dirty="0"/>
          </a:p>
        </p:txBody>
      </p:sp>
      <p:sp>
        <p:nvSpPr>
          <p:cNvPr id="15" name="Shape 13"/>
          <p:cNvSpPr/>
          <p:nvPr/>
        </p:nvSpPr>
        <p:spPr>
          <a:xfrm>
            <a:off x="7324344" y="1965960"/>
            <a:ext cx="2121408" cy="1591056"/>
          </a:xfrm>
          <a:prstGeom prst="roundRect">
            <a:avLst>
              <a:gd name="adj" fmla="val 4598"/>
            </a:avLst>
          </a:prstGeom>
          <a:solidFill>
            <a:srgbClr val="FFFFFF"/>
          </a:solidFill>
          <a:ln/>
          <a:effectLst>
            <a:outerShdw sx="100000" sy="100000" kx="0" ky="0" algn="bl" rotWithShape="0" blurRad="127000" dist="25400" dir="5400000">
              <a:srgbClr val="0E3A40">
                <a:alpha val="13000"/>
              </a:srgbClr>
            </a:outerShdw>
          </a:effectLst>
        </p:spPr>
      </p:sp>
      <p:sp>
        <p:nvSpPr>
          <p:cNvPr id="16" name="Text 14"/>
          <p:cNvSpPr/>
          <p:nvPr/>
        </p:nvSpPr>
        <p:spPr>
          <a:xfrm>
            <a:off x="7525512" y="2148840"/>
            <a:ext cx="384048" cy="384048"/>
          </a:xfrm>
          <a:prstGeom prst="ellipse">
            <a:avLst/>
          </a:prstGeom>
          <a:solidFill>
            <a:srgbClr val="0D666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7525512" y="2624328"/>
            <a:ext cx="1783080" cy="274320"/>
          </a:xfrm>
          <a:prstGeom prst="rect">
            <a:avLst/>
          </a:prstGeom>
          <a:noFill/>
          <a:ln/>
        </p:spPr>
        <p:txBody>
          <a:bodyPr wrap="square" lIns="0" tIns="0" rIns="0" bIns="0" rtlCol="0" anchor="ctr"/>
          <a:lstStyle/>
          <a:p>
            <a:pPr indent="0" marL="0">
              <a:buNone/>
            </a:pPr>
            <a:r>
              <a:rPr lang="en-US" sz="1300" b="1" dirty="0">
                <a:solidFill>
                  <a:srgbClr val="10181C"/>
                </a:solidFill>
                <a:latin typeface="Calibri" pitchFamily="34" charset="0"/>
                <a:ea typeface="Calibri" pitchFamily="34" charset="-122"/>
                <a:cs typeface="Calibri" pitchFamily="34" charset="-120"/>
              </a:rPr>
              <a:t>Post findings</a:t>
            </a:r>
            <a:endParaRPr lang="en-US" sz="1300" dirty="0"/>
          </a:p>
        </p:txBody>
      </p:sp>
      <p:sp>
        <p:nvSpPr>
          <p:cNvPr id="18" name="Text 16"/>
          <p:cNvSpPr/>
          <p:nvPr/>
        </p:nvSpPr>
        <p:spPr>
          <a:xfrm>
            <a:off x="7525512" y="2898648"/>
            <a:ext cx="1783080" cy="411480"/>
          </a:xfrm>
          <a:prstGeom prst="rect">
            <a:avLst/>
          </a:prstGeom>
          <a:noFill/>
          <a:ln/>
        </p:spPr>
        <p:txBody>
          <a:bodyPr wrap="square" lIns="0" tIns="0" rIns="0" bIns="0" rtlCol="0" anchor="ctr"/>
          <a:lstStyle/>
          <a:p>
            <a:pPr indent="0" marL="0">
              <a:lnSpc>
                <a:spcPct val="110000"/>
              </a:lnSpc>
              <a:buNone/>
            </a:pPr>
            <a:r>
              <a:rPr lang="en-US" sz="1050" dirty="0">
                <a:solidFill>
                  <a:srgbClr val="5C6E78"/>
                </a:solidFill>
                <a:latin typeface="Calibri" pitchFamily="34" charset="0"/>
                <a:ea typeface="Calibri" pitchFamily="34" charset="-122"/>
                <a:cs typeface="Calibri" pitchFamily="34" charset="-120"/>
              </a:rPr>
              <a:t>on the PR and to Slack</a:t>
            </a:r>
            <a:endParaRPr lang="en-US" sz="1050" dirty="0"/>
          </a:p>
        </p:txBody>
      </p:sp>
      <p:sp>
        <p:nvSpPr>
          <p:cNvPr id="19" name="Shape 17"/>
          <p:cNvSpPr/>
          <p:nvPr/>
        </p:nvSpPr>
        <p:spPr>
          <a:xfrm>
            <a:off x="9637776" y="1965960"/>
            <a:ext cx="2121408" cy="1591056"/>
          </a:xfrm>
          <a:prstGeom prst="roundRect">
            <a:avLst>
              <a:gd name="adj" fmla="val 4598"/>
            </a:avLst>
          </a:prstGeom>
          <a:solidFill>
            <a:srgbClr val="FFFFFF"/>
          </a:solidFill>
          <a:ln/>
          <a:effectLst>
            <a:outerShdw sx="100000" sy="100000" kx="0" ky="0" algn="bl" rotWithShape="0" blurRad="127000" dist="25400" dir="5400000">
              <a:srgbClr val="0E3A40">
                <a:alpha val="13000"/>
              </a:srgbClr>
            </a:outerShdw>
          </a:effectLst>
        </p:spPr>
      </p:sp>
      <p:sp>
        <p:nvSpPr>
          <p:cNvPr id="20" name="Text 18"/>
          <p:cNvSpPr/>
          <p:nvPr/>
        </p:nvSpPr>
        <p:spPr>
          <a:xfrm>
            <a:off x="9838944" y="2148840"/>
            <a:ext cx="384048" cy="384048"/>
          </a:xfrm>
          <a:prstGeom prst="ellipse">
            <a:avLst/>
          </a:prstGeom>
          <a:solidFill>
            <a:srgbClr val="0D666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9838944" y="2624328"/>
            <a:ext cx="1783080" cy="274320"/>
          </a:xfrm>
          <a:prstGeom prst="rect">
            <a:avLst/>
          </a:prstGeom>
          <a:noFill/>
          <a:ln/>
        </p:spPr>
        <p:txBody>
          <a:bodyPr wrap="square" lIns="0" tIns="0" rIns="0" bIns="0" rtlCol="0" anchor="ctr"/>
          <a:lstStyle/>
          <a:p>
            <a:pPr indent="0" marL="0">
              <a:buNone/>
            </a:pPr>
            <a:r>
              <a:rPr lang="en-US" sz="1300" b="1" dirty="0">
                <a:solidFill>
                  <a:srgbClr val="10181C"/>
                </a:solidFill>
                <a:latin typeface="Calibri" pitchFamily="34" charset="0"/>
                <a:ea typeface="Calibri" pitchFamily="34" charset="-122"/>
                <a:cs typeface="Calibri" pitchFamily="34" charset="-120"/>
              </a:rPr>
              <a:t>Track the review</a:t>
            </a:r>
            <a:endParaRPr lang="en-US" sz="1300" dirty="0"/>
          </a:p>
        </p:txBody>
      </p:sp>
      <p:sp>
        <p:nvSpPr>
          <p:cNvPr id="22" name="Text 20"/>
          <p:cNvSpPr/>
          <p:nvPr/>
        </p:nvSpPr>
        <p:spPr>
          <a:xfrm>
            <a:off x="9838944" y="2898648"/>
            <a:ext cx="1783080" cy="411480"/>
          </a:xfrm>
          <a:prstGeom prst="rect">
            <a:avLst/>
          </a:prstGeom>
          <a:noFill/>
          <a:ln/>
        </p:spPr>
        <p:txBody>
          <a:bodyPr wrap="square" lIns="0" tIns="0" rIns="0" bIns="0" rtlCol="0" anchor="ctr"/>
          <a:lstStyle/>
          <a:p>
            <a:pPr indent="0" marL="0">
              <a:lnSpc>
                <a:spcPct val="110000"/>
              </a:lnSpc>
              <a:buNone/>
            </a:pPr>
            <a:r>
              <a:rPr lang="en-US" sz="1050" dirty="0">
                <a:solidFill>
                  <a:srgbClr val="5C6E78"/>
                </a:solidFill>
                <a:latin typeface="Calibri" pitchFamily="34" charset="0"/>
                <a:ea typeface="Calibri" pitchFamily="34" charset="-122"/>
                <a:cs typeface="Calibri" pitchFamily="34" charset="-120"/>
              </a:rPr>
              <a:t>rounds, asks, who's waiting</a:t>
            </a:r>
            <a:endParaRPr lang="en-US" sz="1050" dirty="0"/>
          </a:p>
        </p:txBody>
      </p:sp>
      <p:sp>
        <p:nvSpPr>
          <p:cNvPr id="23" name="Shape 21"/>
          <p:cNvSpPr/>
          <p:nvPr/>
        </p:nvSpPr>
        <p:spPr>
          <a:xfrm>
            <a:off x="384048" y="3776472"/>
            <a:ext cx="2121408" cy="1591056"/>
          </a:xfrm>
          <a:prstGeom prst="roundRect">
            <a:avLst>
              <a:gd name="adj" fmla="val 4598"/>
            </a:avLst>
          </a:prstGeom>
          <a:solidFill>
            <a:srgbClr val="FFFFFF"/>
          </a:solidFill>
          <a:ln/>
          <a:effectLst>
            <a:outerShdw sx="100000" sy="100000" kx="0" ky="0" algn="bl" rotWithShape="0" blurRad="127000" dist="25400" dir="5400000">
              <a:srgbClr val="0E3A40">
                <a:alpha val="13000"/>
              </a:srgbClr>
            </a:outerShdw>
          </a:effectLst>
        </p:spPr>
      </p:sp>
      <p:sp>
        <p:nvSpPr>
          <p:cNvPr id="24" name="Text 22"/>
          <p:cNvSpPr/>
          <p:nvPr/>
        </p:nvSpPr>
        <p:spPr>
          <a:xfrm>
            <a:off x="585216" y="3959352"/>
            <a:ext cx="384048" cy="384048"/>
          </a:xfrm>
          <a:prstGeom prst="ellipse">
            <a:avLst/>
          </a:prstGeom>
          <a:solidFill>
            <a:srgbClr val="E8944F"/>
          </a:solidFill>
          <a:ln/>
        </p:spPr>
        <p:txBody>
          <a:bodyPr wrap="square" lIns="0" tIns="0" rIns="0" bIns="0" rtlCol="0" anchor="ctr"/>
          <a:lstStyle/>
          <a:p>
            <a:pPr algn="ctr" indent="0" marL="0">
              <a:buNone/>
            </a:pPr>
            <a:r>
              <a:rPr lang="en-US" sz="1200" b="1" dirty="0">
                <a:solidFill>
                  <a:srgbClr val="10181C"/>
                </a:solidFill>
                <a:latin typeface="Calibri" pitchFamily="34" charset="0"/>
                <a:ea typeface="Calibri" pitchFamily="34" charset="-122"/>
                <a:cs typeface="Calibri" pitchFamily="34" charset="-120"/>
              </a:rPr>
              <a:t>6</a:t>
            </a:r>
            <a:endParaRPr lang="en-US" sz="1200" dirty="0"/>
          </a:p>
        </p:txBody>
      </p:sp>
      <p:sp>
        <p:nvSpPr>
          <p:cNvPr id="25" name="Text 23"/>
          <p:cNvSpPr/>
          <p:nvPr/>
        </p:nvSpPr>
        <p:spPr>
          <a:xfrm>
            <a:off x="585216" y="4434840"/>
            <a:ext cx="1783080" cy="274320"/>
          </a:xfrm>
          <a:prstGeom prst="rect">
            <a:avLst/>
          </a:prstGeom>
          <a:noFill/>
          <a:ln/>
        </p:spPr>
        <p:txBody>
          <a:bodyPr wrap="square" lIns="0" tIns="0" rIns="0" bIns="0" rtlCol="0" anchor="ctr"/>
          <a:lstStyle/>
          <a:p>
            <a:pPr indent="0" marL="0">
              <a:buNone/>
            </a:pPr>
            <a:r>
              <a:rPr lang="en-US" sz="1300" b="1" dirty="0">
                <a:solidFill>
                  <a:srgbClr val="10181C"/>
                </a:solidFill>
                <a:latin typeface="Calibri" pitchFamily="34" charset="0"/>
                <a:ea typeface="Calibri" pitchFamily="34" charset="-122"/>
                <a:cs typeface="Calibri" pitchFamily="34" charset="-120"/>
              </a:rPr>
              <a:t>Merge when gated</a:t>
            </a:r>
            <a:endParaRPr lang="en-US" sz="1300" dirty="0"/>
          </a:p>
        </p:txBody>
      </p:sp>
      <p:sp>
        <p:nvSpPr>
          <p:cNvPr id="26" name="Text 24"/>
          <p:cNvSpPr/>
          <p:nvPr/>
        </p:nvSpPr>
        <p:spPr>
          <a:xfrm>
            <a:off x="585216" y="4709160"/>
            <a:ext cx="1783080" cy="411480"/>
          </a:xfrm>
          <a:prstGeom prst="rect">
            <a:avLst/>
          </a:prstGeom>
          <a:noFill/>
          <a:ln/>
        </p:spPr>
        <p:txBody>
          <a:bodyPr wrap="square" lIns="0" tIns="0" rIns="0" bIns="0" rtlCol="0" anchor="ctr"/>
          <a:lstStyle/>
          <a:p>
            <a:pPr indent="0" marL="0">
              <a:lnSpc>
                <a:spcPct val="110000"/>
              </a:lnSpc>
              <a:buNone/>
            </a:pPr>
            <a:r>
              <a:rPr lang="en-US" sz="1050" dirty="0">
                <a:solidFill>
                  <a:srgbClr val="5C6E78"/>
                </a:solidFill>
                <a:latin typeface="Calibri" pitchFamily="34" charset="0"/>
                <a:ea typeface="Calibri" pitchFamily="34" charset="-122"/>
                <a:cs typeface="Calibri" pitchFamily="34" charset="-120"/>
              </a:rPr>
              <a:t>approval + green CI + clean</a:t>
            </a:r>
            <a:endParaRPr lang="en-US" sz="1050" dirty="0"/>
          </a:p>
        </p:txBody>
      </p:sp>
      <p:sp>
        <p:nvSpPr>
          <p:cNvPr id="27" name="Shape 25"/>
          <p:cNvSpPr/>
          <p:nvPr/>
        </p:nvSpPr>
        <p:spPr>
          <a:xfrm>
            <a:off x="2697480" y="3776472"/>
            <a:ext cx="2121408" cy="1591056"/>
          </a:xfrm>
          <a:prstGeom prst="roundRect">
            <a:avLst>
              <a:gd name="adj" fmla="val 4598"/>
            </a:avLst>
          </a:prstGeom>
          <a:solidFill>
            <a:srgbClr val="FFFFFF"/>
          </a:solidFill>
          <a:ln/>
          <a:effectLst>
            <a:outerShdw sx="100000" sy="100000" kx="0" ky="0" algn="bl" rotWithShape="0" blurRad="127000" dist="25400" dir="5400000">
              <a:srgbClr val="0E3A40">
                <a:alpha val="13000"/>
              </a:srgbClr>
            </a:outerShdw>
          </a:effectLst>
        </p:spPr>
      </p:sp>
      <p:sp>
        <p:nvSpPr>
          <p:cNvPr id="28" name="Text 26"/>
          <p:cNvSpPr/>
          <p:nvPr/>
        </p:nvSpPr>
        <p:spPr>
          <a:xfrm>
            <a:off x="2898648" y="3959352"/>
            <a:ext cx="384048" cy="384048"/>
          </a:xfrm>
          <a:prstGeom prst="ellipse">
            <a:avLst/>
          </a:prstGeom>
          <a:solidFill>
            <a:srgbClr val="E8944F"/>
          </a:solidFill>
          <a:ln/>
        </p:spPr>
        <p:txBody>
          <a:bodyPr wrap="square" lIns="0" tIns="0" rIns="0" bIns="0" rtlCol="0" anchor="ctr"/>
          <a:lstStyle/>
          <a:p>
            <a:pPr algn="ctr" indent="0" marL="0">
              <a:buNone/>
            </a:pPr>
            <a:r>
              <a:rPr lang="en-US" sz="1200" b="1" dirty="0">
                <a:solidFill>
                  <a:srgbClr val="10181C"/>
                </a:solidFill>
                <a:latin typeface="Calibri" pitchFamily="34" charset="0"/>
                <a:ea typeface="Calibri" pitchFamily="34" charset="-122"/>
                <a:cs typeface="Calibri" pitchFamily="34" charset="-120"/>
              </a:rPr>
              <a:t>7</a:t>
            </a:r>
            <a:endParaRPr lang="en-US" sz="1200" dirty="0"/>
          </a:p>
        </p:txBody>
      </p:sp>
      <p:sp>
        <p:nvSpPr>
          <p:cNvPr id="29" name="Text 27"/>
          <p:cNvSpPr/>
          <p:nvPr/>
        </p:nvSpPr>
        <p:spPr>
          <a:xfrm>
            <a:off x="2898648" y="4434840"/>
            <a:ext cx="1783080" cy="274320"/>
          </a:xfrm>
          <a:prstGeom prst="rect">
            <a:avLst/>
          </a:prstGeom>
          <a:noFill/>
          <a:ln/>
        </p:spPr>
        <p:txBody>
          <a:bodyPr wrap="square" lIns="0" tIns="0" rIns="0" bIns="0" rtlCol="0" anchor="ctr"/>
          <a:lstStyle/>
          <a:p>
            <a:pPr indent="0" marL="0">
              <a:buNone/>
            </a:pPr>
            <a:r>
              <a:rPr lang="en-US" sz="1300" b="1" dirty="0">
                <a:solidFill>
                  <a:srgbClr val="10181C"/>
                </a:solidFill>
                <a:latin typeface="Calibri" pitchFamily="34" charset="0"/>
                <a:ea typeface="Calibri" pitchFamily="34" charset="-122"/>
                <a:cs typeface="Calibri" pitchFamily="34" charset="-120"/>
              </a:rPr>
              <a:t>Brief the testers</a:t>
            </a:r>
            <a:endParaRPr lang="en-US" sz="1300" dirty="0"/>
          </a:p>
        </p:txBody>
      </p:sp>
      <p:sp>
        <p:nvSpPr>
          <p:cNvPr id="30" name="Text 28"/>
          <p:cNvSpPr/>
          <p:nvPr/>
        </p:nvSpPr>
        <p:spPr>
          <a:xfrm>
            <a:off x="2898648" y="4709160"/>
            <a:ext cx="1783080" cy="411480"/>
          </a:xfrm>
          <a:prstGeom prst="rect">
            <a:avLst/>
          </a:prstGeom>
          <a:noFill/>
          <a:ln/>
        </p:spPr>
        <p:txBody>
          <a:bodyPr wrap="square" lIns="0" tIns="0" rIns="0" bIns="0" rtlCol="0" anchor="ctr"/>
          <a:lstStyle/>
          <a:p>
            <a:pPr indent="0" marL="0">
              <a:lnSpc>
                <a:spcPct val="110000"/>
              </a:lnSpc>
              <a:buNone/>
            </a:pPr>
            <a:r>
              <a:rPr lang="en-US" sz="1050" dirty="0">
                <a:solidFill>
                  <a:srgbClr val="5C6E78"/>
                </a:solidFill>
                <a:latin typeface="Calibri" pitchFamily="34" charset="0"/>
                <a:ea typeface="Calibri" pitchFamily="34" charset="-122"/>
                <a:cs typeface="Calibri" pitchFamily="34" charset="-120"/>
              </a:rPr>
              <a:t>email or Slack thread</a:t>
            </a:r>
            <a:endParaRPr lang="en-US" sz="1050" dirty="0"/>
          </a:p>
        </p:txBody>
      </p:sp>
      <p:sp>
        <p:nvSpPr>
          <p:cNvPr id="31" name="Shape 29"/>
          <p:cNvSpPr/>
          <p:nvPr/>
        </p:nvSpPr>
        <p:spPr>
          <a:xfrm>
            <a:off x="5010912" y="3776472"/>
            <a:ext cx="2121408" cy="1591056"/>
          </a:xfrm>
          <a:prstGeom prst="roundRect">
            <a:avLst>
              <a:gd name="adj" fmla="val 4598"/>
            </a:avLst>
          </a:prstGeom>
          <a:solidFill>
            <a:srgbClr val="FFFFFF"/>
          </a:solidFill>
          <a:ln/>
          <a:effectLst>
            <a:outerShdw sx="100000" sy="100000" kx="0" ky="0" algn="bl" rotWithShape="0" blurRad="127000" dist="25400" dir="5400000">
              <a:srgbClr val="0E3A40">
                <a:alpha val="13000"/>
              </a:srgbClr>
            </a:outerShdw>
          </a:effectLst>
        </p:spPr>
      </p:sp>
      <p:sp>
        <p:nvSpPr>
          <p:cNvPr id="32" name="Text 30"/>
          <p:cNvSpPr/>
          <p:nvPr/>
        </p:nvSpPr>
        <p:spPr>
          <a:xfrm>
            <a:off x="5212080" y="3959352"/>
            <a:ext cx="384048" cy="384048"/>
          </a:xfrm>
          <a:prstGeom prst="ellipse">
            <a:avLst/>
          </a:prstGeom>
          <a:solidFill>
            <a:srgbClr val="E8944F"/>
          </a:solidFill>
          <a:ln/>
        </p:spPr>
        <p:txBody>
          <a:bodyPr wrap="square" lIns="0" tIns="0" rIns="0" bIns="0" rtlCol="0" anchor="ctr"/>
          <a:lstStyle/>
          <a:p>
            <a:pPr algn="ctr" indent="0" marL="0">
              <a:buNone/>
            </a:pPr>
            <a:r>
              <a:rPr lang="en-US" sz="1200" b="1" dirty="0">
                <a:solidFill>
                  <a:srgbClr val="10181C"/>
                </a:solidFill>
                <a:latin typeface="Calibri" pitchFamily="34" charset="0"/>
                <a:ea typeface="Calibri" pitchFamily="34" charset="-122"/>
                <a:cs typeface="Calibri" pitchFamily="34" charset="-120"/>
              </a:rPr>
              <a:t>8</a:t>
            </a:r>
            <a:endParaRPr lang="en-US" sz="1200" dirty="0"/>
          </a:p>
        </p:txBody>
      </p:sp>
      <p:sp>
        <p:nvSpPr>
          <p:cNvPr id="33" name="Text 31"/>
          <p:cNvSpPr/>
          <p:nvPr/>
        </p:nvSpPr>
        <p:spPr>
          <a:xfrm>
            <a:off x="5212080" y="4434840"/>
            <a:ext cx="1783080" cy="274320"/>
          </a:xfrm>
          <a:prstGeom prst="rect">
            <a:avLst/>
          </a:prstGeom>
          <a:noFill/>
          <a:ln/>
        </p:spPr>
        <p:txBody>
          <a:bodyPr wrap="square" lIns="0" tIns="0" rIns="0" bIns="0" rtlCol="0" anchor="ctr"/>
          <a:lstStyle/>
          <a:p>
            <a:pPr indent="0" marL="0">
              <a:buNone/>
            </a:pPr>
            <a:r>
              <a:rPr lang="en-US" sz="1300" b="1" dirty="0">
                <a:solidFill>
                  <a:srgbClr val="10181C"/>
                </a:solidFill>
                <a:latin typeface="Calibri" pitchFamily="34" charset="0"/>
                <a:ea typeface="Calibri" pitchFamily="34" charset="-122"/>
                <a:cs typeface="Calibri" pitchFamily="34" charset="-120"/>
              </a:rPr>
              <a:t>Read the verdict</a:t>
            </a:r>
            <a:endParaRPr lang="en-US" sz="1300" dirty="0"/>
          </a:p>
        </p:txBody>
      </p:sp>
      <p:sp>
        <p:nvSpPr>
          <p:cNvPr id="34" name="Text 32"/>
          <p:cNvSpPr/>
          <p:nvPr/>
        </p:nvSpPr>
        <p:spPr>
          <a:xfrm>
            <a:off x="5212080" y="4709160"/>
            <a:ext cx="1783080" cy="411480"/>
          </a:xfrm>
          <a:prstGeom prst="rect">
            <a:avLst/>
          </a:prstGeom>
          <a:noFill/>
          <a:ln/>
        </p:spPr>
        <p:txBody>
          <a:bodyPr wrap="square" lIns="0" tIns="0" rIns="0" bIns="0" rtlCol="0" anchor="ctr"/>
          <a:lstStyle/>
          <a:p>
            <a:pPr indent="0" marL="0">
              <a:lnSpc>
                <a:spcPct val="110000"/>
              </a:lnSpc>
              <a:buNone/>
            </a:pPr>
            <a:r>
              <a:rPr lang="en-US" sz="1050" dirty="0">
                <a:solidFill>
                  <a:srgbClr val="5C6E78"/>
                </a:solidFill>
                <a:latin typeface="Calibri" pitchFamily="34" charset="0"/>
                <a:ea typeface="Calibri" pitchFamily="34" charset="-122"/>
                <a:cs typeface="Calibri" pitchFamily="34" charset="-120"/>
              </a:rPr>
              <a:t>passes, or reopens</a:t>
            </a:r>
            <a:endParaRPr lang="en-US" sz="1050" dirty="0"/>
          </a:p>
        </p:txBody>
      </p:sp>
      <p:sp>
        <p:nvSpPr>
          <p:cNvPr id="35" name="Shape 33"/>
          <p:cNvSpPr/>
          <p:nvPr/>
        </p:nvSpPr>
        <p:spPr>
          <a:xfrm>
            <a:off x="7324344" y="3776472"/>
            <a:ext cx="2121408" cy="1591056"/>
          </a:xfrm>
          <a:prstGeom prst="roundRect">
            <a:avLst>
              <a:gd name="adj" fmla="val 4598"/>
            </a:avLst>
          </a:prstGeom>
          <a:solidFill>
            <a:srgbClr val="FFFFFF"/>
          </a:solidFill>
          <a:ln/>
          <a:effectLst>
            <a:outerShdw sx="100000" sy="100000" kx="0" ky="0" algn="bl" rotWithShape="0" blurRad="127000" dist="25400" dir="5400000">
              <a:srgbClr val="0E3A40">
                <a:alpha val="13000"/>
              </a:srgbClr>
            </a:outerShdw>
          </a:effectLst>
        </p:spPr>
      </p:sp>
      <p:sp>
        <p:nvSpPr>
          <p:cNvPr id="36" name="Text 34"/>
          <p:cNvSpPr/>
          <p:nvPr/>
        </p:nvSpPr>
        <p:spPr>
          <a:xfrm>
            <a:off x="7525512" y="3959352"/>
            <a:ext cx="384048" cy="384048"/>
          </a:xfrm>
          <a:prstGeom prst="ellipse">
            <a:avLst/>
          </a:prstGeom>
          <a:solidFill>
            <a:srgbClr val="E8944F"/>
          </a:solidFill>
          <a:ln/>
        </p:spPr>
        <p:txBody>
          <a:bodyPr wrap="square" lIns="0" tIns="0" rIns="0" bIns="0" rtlCol="0" anchor="ctr"/>
          <a:lstStyle/>
          <a:p>
            <a:pPr algn="ctr" indent="0" marL="0">
              <a:buNone/>
            </a:pPr>
            <a:r>
              <a:rPr lang="en-US" sz="1200" b="1" dirty="0">
                <a:solidFill>
                  <a:srgbClr val="10181C"/>
                </a:solidFill>
                <a:latin typeface="Calibri" pitchFamily="34" charset="0"/>
                <a:ea typeface="Calibri" pitchFamily="34" charset="-122"/>
                <a:cs typeface="Calibri" pitchFamily="34" charset="-120"/>
              </a:rPr>
              <a:t>9</a:t>
            </a:r>
            <a:endParaRPr lang="en-US" sz="1200" dirty="0"/>
          </a:p>
        </p:txBody>
      </p:sp>
      <p:sp>
        <p:nvSpPr>
          <p:cNvPr id="37" name="Text 35"/>
          <p:cNvSpPr/>
          <p:nvPr/>
        </p:nvSpPr>
        <p:spPr>
          <a:xfrm>
            <a:off x="7525512" y="4434840"/>
            <a:ext cx="1783080" cy="274320"/>
          </a:xfrm>
          <a:prstGeom prst="rect">
            <a:avLst/>
          </a:prstGeom>
          <a:noFill/>
          <a:ln/>
        </p:spPr>
        <p:txBody>
          <a:bodyPr wrap="square" lIns="0" tIns="0" rIns="0" bIns="0" rtlCol="0" anchor="ctr"/>
          <a:lstStyle/>
          <a:p>
            <a:pPr indent="0" marL="0">
              <a:buNone/>
            </a:pPr>
            <a:r>
              <a:rPr lang="en-US" sz="1300" b="1" dirty="0">
                <a:solidFill>
                  <a:srgbClr val="10181C"/>
                </a:solidFill>
                <a:latin typeface="Calibri" pitchFamily="34" charset="0"/>
                <a:ea typeface="Calibri" pitchFamily="34" charset="-122"/>
                <a:cs typeface="Calibri" pitchFamily="34" charset="-120"/>
              </a:rPr>
              <a:t>Move the board</a:t>
            </a:r>
            <a:endParaRPr lang="en-US" sz="1300" dirty="0"/>
          </a:p>
        </p:txBody>
      </p:sp>
      <p:sp>
        <p:nvSpPr>
          <p:cNvPr id="38" name="Text 36"/>
          <p:cNvSpPr/>
          <p:nvPr/>
        </p:nvSpPr>
        <p:spPr>
          <a:xfrm>
            <a:off x="7525512" y="4709160"/>
            <a:ext cx="1783080" cy="411480"/>
          </a:xfrm>
          <a:prstGeom prst="rect">
            <a:avLst/>
          </a:prstGeom>
          <a:noFill/>
          <a:ln/>
        </p:spPr>
        <p:txBody>
          <a:bodyPr wrap="square" lIns="0" tIns="0" rIns="0" bIns="0" rtlCol="0" anchor="ctr"/>
          <a:lstStyle/>
          <a:p>
            <a:pPr indent="0" marL="0">
              <a:lnSpc>
                <a:spcPct val="110000"/>
              </a:lnSpc>
              <a:buNone/>
            </a:pPr>
            <a:r>
              <a:rPr lang="en-US" sz="1050" dirty="0">
                <a:solidFill>
                  <a:srgbClr val="5C6E78"/>
                </a:solidFill>
                <a:latin typeface="Calibri" pitchFamily="34" charset="0"/>
                <a:ea typeface="Calibri" pitchFamily="34" charset="-122"/>
                <a:cs typeface="Calibri" pitchFamily="34" charset="-120"/>
              </a:rPr>
              <a:t>card follows the pipeline</a:t>
            </a:r>
            <a:endParaRPr lang="en-US" sz="1050" dirty="0"/>
          </a:p>
        </p:txBody>
      </p:sp>
      <p:sp>
        <p:nvSpPr>
          <p:cNvPr id="39" name="Shape 37"/>
          <p:cNvSpPr/>
          <p:nvPr/>
        </p:nvSpPr>
        <p:spPr>
          <a:xfrm>
            <a:off x="9637776" y="3776472"/>
            <a:ext cx="2121408" cy="1591056"/>
          </a:xfrm>
          <a:prstGeom prst="roundRect">
            <a:avLst>
              <a:gd name="adj" fmla="val 4598"/>
            </a:avLst>
          </a:prstGeom>
          <a:solidFill>
            <a:srgbClr val="FFFFFF"/>
          </a:solidFill>
          <a:ln/>
          <a:effectLst>
            <a:outerShdw sx="100000" sy="100000" kx="0" ky="0" algn="bl" rotWithShape="0" blurRad="127000" dist="25400" dir="5400000">
              <a:srgbClr val="0E3A40">
                <a:alpha val="13000"/>
              </a:srgbClr>
            </a:outerShdw>
          </a:effectLst>
        </p:spPr>
      </p:sp>
      <p:sp>
        <p:nvSpPr>
          <p:cNvPr id="40" name="Text 38"/>
          <p:cNvSpPr/>
          <p:nvPr/>
        </p:nvSpPr>
        <p:spPr>
          <a:xfrm>
            <a:off x="9838944" y="3959352"/>
            <a:ext cx="384048" cy="384048"/>
          </a:xfrm>
          <a:prstGeom prst="ellipse">
            <a:avLst/>
          </a:prstGeom>
          <a:solidFill>
            <a:srgbClr val="E8944F"/>
          </a:solidFill>
          <a:ln/>
        </p:spPr>
        <p:txBody>
          <a:bodyPr wrap="square" lIns="0" tIns="0" rIns="0" bIns="0" rtlCol="0" anchor="ctr"/>
          <a:lstStyle/>
          <a:p>
            <a:pPr algn="ctr" indent="0" marL="0">
              <a:buNone/>
            </a:pPr>
            <a:r>
              <a:rPr lang="en-US" sz="1200" b="1" dirty="0">
                <a:solidFill>
                  <a:srgbClr val="10181C"/>
                </a:solidFill>
                <a:latin typeface="Calibri" pitchFamily="34" charset="0"/>
                <a:ea typeface="Calibri" pitchFamily="34" charset="-122"/>
                <a:cs typeface="Calibri" pitchFamily="34" charset="-120"/>
              </a:rPr>
              <a:t>10</a:t>
            </a:r>
            <a:endParaRPr lang="en-US" sz="1200" dirty="0"/>
          </a:p>
        </p:txBody>
      </p:sp>
      <p:sp>
        <p:nvSpPr>
          <p:cNvPr id="41" name="Text 39"/>
          <p:cNvSpPr/>
          <p:nvPr/>
        </p:nvSpPr>
        <p:spPr>
          <a:xfrm>
            <a:off x="9838944" y="4434840"/>
            <a:ext cx="1783080" cy="274320"/>
          </a:xfrm>
          <a:prstGeom prst="rect">
            <a:avLst/>
          </a:prstGeom>
          <a:noFill/>
          <a:ln/>
        </p:spPr>
        <p:txBody>
          <a:bodyPr wrap="square" lIns="0" tIns="0" rIns="0" bIns="0" rtlCol="0" anchor="ctr"/>
          <a:lstStyle/>
          <a:p>
            <a:pPr indent="0" marL="0">
              <a:buNone/>
            </a:pPr>
            <a:r>
              <a:rPr lang="en-US" sz="1300" b="1" dirty="0">
                <a:solidFill>
                  <a:srgbClr val="10181C"/>
                </a:solidFill>
                <a:latin typeface="Calibri" pitchFamily="34" charset="0"/>
                <a:ea typeface="Calibri" pitchFamily="34" charset="-122"/>
                <a:cs typeface="Calibri" pitchFamily="34" charset="-120"/>
              </a:rPr>
              <a:t>Write the record</a:t>
            </a:r>
            <a:endParaRPr lang="en-US" sz="1300" dirty="0"/>
          </a:p>
        </p:txBody>
      </p:sp>
      <p:sp>
        <p:nvSpPr>
          <p:cNvPr id="42" name="Text 40"/>
          <p:cNvSpPr/>
          <p:nvPr/>
        </p:nvSpPr>
        <p:spPr>
          <a:xfrm>
            <a:off x="9838944" y="4709160"/>
            <a:ext cx="1783080" cy="411480"/>
          </a:xfrm>
          <a:prstGeom prst="rect">
            <a:avLst/>
          </a:prstGeom>
          <a:noFill/>
          <a:ln/>
        </p:spPr>
        <p:txBody>
          <a:bodyPr wrap="square" lIns="0" tIns="0" rIns="0" bIns="0" rtlCol="0" anchor="ctr"/>
          <a:lstStyle/>
          <a:p>
            <a:pPr indent="0" marL="0">
              <a:lnSpc>
                <a:spcPct val="110000"/>
              </a:lnSpc>
              <a:buNone/>
            </a:pPr>
            <a:r>
              <a:rPr lang="en-US" sz="1050" dirty="0">
                <a:solidFill>
                  <a:srgbClr val="5C6E78"/>
                </a:solidFill>
                <a:latin typeface="Calibri" pitchFamily="34" charset="0"/>
                <a:ea typeface="Calibri" pitchFamily="34" charset="-122"/>
                <a:cs typeface="Calibri" pitchFamily="34" charset="-120"/>
              </a:rPr>
              <a:t>one doc per work item</a:t>
            </a:r>
            <a:endParaRPr lang="en-US" sz="1050" dirty="0"/>
          </a:p>
        </p:txBody>
      </p:sp>
      <p:sp>
        <p:nvSpPr>
          <p:cNvPr id="43" name="Text 41"/>
          <p:cNvSpPr/>
          <p:nvPr/>
        </p:nvSpPr>
        <p:spPr>
          <a:xfrm>
            <a:off x="411480" y="5806440"/>
            <a:ext cx="10881360" cy="365760"/>
          </a:xfrm>
          <a:prstGeom prst="rect">
            <a:avLst/>
          </a:prstGeom>
          <a:noFill/>
          <a:ln/>
        </p:spPr>
        <p:txBody>
          <a:bodyPr wrap="square" lIns="0" tIns="0" rIns="0" bIns="0" rtlCol="0" anchor="ctr"/>
          <a:lstStyle/>
          <a:p>
            <a:pPr indent="0" marL="0">
              <a:buNone/>
            </a:pPr>
            <a:r>
              <a:rPr lang="en-US" sz="1800" b="1" dirty="0">
                <a:solidFill>
                  <a:srgbClr val="0D666D"/>
                </a:solidFill>
                <a:latin typeface="Cambria" pitchFamily="34" charset="0"/>
                <a:ea typeface="Cambria" pitchFamily="34" charset="-122"/>
                <a:cs typeface="Cambria" pitchFamily="34" charset="-120"/>
              </a:rPr>
              <a:t>Every message searched, sent and received is recorded — not summarized.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3A40"/>
        </a:solidFill>
      </p:bgPr>
    </p:bg>
    <p:spTree>
      <p:nvGrpSpPr>
        <p:cNvPr id="1" name=""/>
        <p:cNvGrpSpPr/>
        <p:nvPr/>
      </p:nvGrpSpPr>
      <p:grpSpPr>
        <a:xfrm>
          <a:off x="0" y="0"/>
          <a:ext cx="0" cy="0"/>
          <a:chOff x="0" y="0"/>
          <a:chExt cx="0" cy="0"/>
        </a:xfrm>
      </p:grpSpPr>
      <p:sp>
        <p:nvSpPr>
          <p:cNvPr id="2" name="Text 0"/>
          <p:cNvSpPr/>
          <p:nvPr/>
        </p:nvSpPr>
        <p:spPr>
          <a:xfrm>
            <a:off x="640080" y="502920"/>
            <a:ext cx="10881360" cy="91440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Two modes</a:t>
            </a:r>
            <a:endParaRPr lang="en-US" sz="3400" dirty="0"/>
          </a:p>
        </p:txBody>
      </p:sp>
      <p:sp>
        <p:nvSpPr>
          <p:cNvPr id="3" name="Text 1"/>
          <p:cNvSpPr/>
          <p:nvPr/>
        </p:nvSpPr>
        <p:spPr>
          <a:xfrm>
            <a:off x="640080" y="1298448"/>
            <a:ext cx="10881360" cy="365760"/>
          </a:xfrm>
          <a:prstGeom prst="rect">
            <a:avLst/>
          </a:prstGeom>
          <a:noFill/>
          <a:ln/>
        </p:spPr>
        <p:txBody>
          <a:bodyPr wrap="square" lIns="0" tIns="0" rIns="0" bIns="0" rtlCol="0" anchor="ctr"/>
          <a:lstStyle/>
          <a:p>
            <a:pPr indent="0" marL="0">
              <a:buNone/>
            </a:pPr>
            <a:r>
              <a:rPr lang="en-US" sz="1800" dirty="0">
                <a:solidFill>
                  <a:srgbClr val="6FCBD1"/>
                </a:solidFill>
                <a:latin typeface="Calibri" pitchFamily="34" charset="0"/>
                <a:ea typeface="Calibri" pitchFamily="34" charset="-122"/>
                <a:cs typeface="Calibri" pitchFamily="34" charset="-120"/>
              </a:rPr>
              <a:t>They differ in exactly one place — who writes the code.</a:t>
            </a:r>
            <a:endParaRPr lang="en-US" sz="1800" dirty="0"/>
          </a:p>
        </p:txBody>
      </p:sp>
      <p:sp>
        <p:nvSpPr>
          <p:cNvPr id="4" name="Shape 2"/>
          <p:cNvSpPr/>
          <p:nvPr/>
        </p:nvSpPr>
        <p:spPr>
          <a:xfrm>
            <a:off x="640080" y="2011680"/>
            <a:ext cx="5349240" cy="3017520"/>
          </a:xfrm>
          <a:prstGeom prst="roundRect">
            <a:avLst>
              <a:gd name="adj" fmla="val 3030"/>
            </a:avLst>
          </a:prstGeom>
          <a:solidFill>
            <a:srgbClr val="0D666D"/>
          </a:solidFill>
          <a:ln/>
        </p:spPr>
      </p:sp>
      <p:sp>
        <p:nvSpPr>
          <p:cNvPr id="5" name="Text 3"/>
          <p:cNvSpPr/>
          <p:nvPr/>
        </p:nvSpPr>
        <p:spPr>
          <a:xfrm>
            <a:off x="960120" y="2286000"/>
            <a:ext cx="4754880" cy="274320"/>
          </a:xfrm>
          <a:prstGeom prst="rect">
            <a:avLst/>
          </a:prstGeom>
          <a:noFill/>
          <a:ln/>
        </p:spPr>
        <p:txBody>
          <a:bodyPr wrap="square" lIns="0" tIns="0" rIns="0" bIns="0" rtlCol="0" anchor="ctr"/>
          <a:lstStyle/>
          <a:p>
            <a:pPr indent="0" marL="0">
              <a:buNone/>
            </a:pPr>
            <a:r>
              <a:rPr lang="en-US" sz="1200" b="1" spc="250" kern="0" dirty="0">
                <a:solidFill>
                  <a:srgbClr val="6FCBD1"/>
                </a:solidFill>
                <a:latin typeface="Calibri" pitchFamily="34" charset="0"/>
                <a:ea typeface="Calibri" pitchFamily="34" charset="-122"/>
                <a:cs typeface="Calibri" pitchFamily="34" charset="-120"/>
              </a:rPr>
              <a:t>ASSISTED</a:t>
            </a:r>
            <a:endParaRPr lang="en-US" sz="1200" dirty="0"/>
          </a:p>
        </p:txBody>
      </p:sp>
      <p:sp>
        <p:nvSpPr>
          <p:cNvPr id="6" name="Text 4"/>
          <p:cNvSpPr/>
          <p:nvPr/>
        </p:nvSpPr>
        <p:spPr>
          <a:xfrm>
            <a:off x="932688" y="2633472"/>
            <a:ext cx="4754880"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You write the code.</a:t>
            </a:r>
            <a:endParaRPr lang="en-US" sz="2700" dirty="0"/>
          </a:p>
        </p:txBody>
      </p:sp>
      <p:sp>
        <p:nvSpPr>
          <p:cNvPr id="7" name="Text 5"/>
          <p:cNvSpPr/>
          <p:nvPr/>
        </p:nvSpPr>
        <p:spPr>
          <a:xfrm>
            <a:off x="960120" y="3310128"/>
            <a:ext cx="4709160" cy="1371600"/>
          </a:xfrm>
          <a:prstGeom prst="rect">
            <a:avLst/>
          </a:prstGeom>
          <a:noFill/>
          <a:ln/>
        </p:spPr>
        <p:txBody>
          <a:bodyPr wrap="square" lIns="0" tIns="0" rIns="0" bIns="0" rtlCol="0" anchor="ctr"/>
          <a:lstStyle/>
          <a:p>
            <a:pPr indent="0" marL="0">
              <a:lnSpc>
                <a:spcPct val="130000"/>
              </a:lnSpc>
              <a:buNone/>
            </a:pPr>
            <a:r>
              <a:rPr lang="en-US" sz="1400" dirty="0">
                <a:solidFill>
                  <a:srgbClr val="D6ECEE"/>
                </a:solidFill>
                <a:latin typeface="Calibri" pitchFamily="34" charset="0"/>
                <a:ea typeface="Calibri" pitchFamily="34" charset="-122"/>
                <a:cs typeface="Calibri" pitchFamily="34" charset="-120"/>
              </a:rPr>
              <a:t>Locus runs all ten steps around you — the context, the review chasing, the QA loop, the board, the paperwork.</a:t>
            </a:r>
            <a:endParaRPr lang="en-US" sz="1400" dirty="0"/>
          </a:p>
        </p:txBody>
      </p:sp>
      <p:sp>
        <p:nvSpPr>
          <p:cNvPr id="8" name="Shape 6"/>
          <p:cNvSpPr/>
          <p:nvPr/>
        </p:nvSpPr>
        <p:spPr>
          <a:xfrm>
            <a:off x="6217920" y="2011680"/>
            <a:ext cx="5349240" cy="3017520"/>
          </a:xfrm>
          <a:prstGeom prst="roundRect">
            <a:avLst>
              <a:gd name="adj" fmla="val 3030"/>
            </a:avLst>
          </a:prstGeom>
          <a:solidFill>
            <a:srgbClr val="E8944F"/>
          </a:solidFill>
          <a:ln/>
        </p:spPr>
      </p:sp>
      <p:sp>
        <p:nvSpPr>
          <p:cNvPr id="9" name="Text 7"/>
          <p:cNvSpPr/>
          <p:nvPr/>
        </p:nvSpPr>
        <p:spPr>
          <a:xfrm>
            <a:off x="6537960" y="2286000"/>
            <a:ext cx="4754880" cy="274320"/>
          </a:xfrm>
          <a:prstGeom prst="rect">
            <a:avLst/>
          </a:prstGeom>
          <a:noFill/>
          <a:ln/>
        </p:spPr>
        <p:txBody>
          <a:bodyPr wrap="square" lIns="0" tIns="0" rIns="0" bIns="0" rtlCol="0" anchor="ctr"/>
          <a:lstStyle/>
          <a:p>
            <a:pPr indent="0" marL="0">
              <a:buNone/>
            </a:pPr>
            <a:r>
              <a:rPr lang="en-US" sz="1200" b="1" spc="250" kern="0" dirty="0">
                <a:solidFill>
                  <a:srgbClr val="6B3A12"/>
                </a:solidFill>
                <a:latin typeface="Calibri" pitchFamily="34" charset="0"/>
                <a:ea typeface="Calibri" pitchFamily="34" charset="-122"/>
                <a:cs typeface="Calibri" pitchFamily="34" charset="-120"/>
              </a:rPr>
              <a:t>AUTONOMOUS</a:t>
            </a:r>
            <a:endParaRPr lang="en-US" sz="1200" dirty="0"/>
          </a:p>
        </p:txBody>
      </p:sp>
      <p:sp>
        <p:nvSpPr>
          <p:cNvPr id="10" name="Text 8"/>
          <p:cNvSpPr/>
          <p:nvPr/>
        </p:nvSpPr>
        <p:spPr>
          <a:xfrm>
            <a:off x="6510528" y="2633472"/>
            <a:ext cx="4754880" cy="457200"/>
          </a:xfrm>
          <a:prstGeom prst="rect">
            <a:avLst/>
          </a:prstGeom>
          <a:noFill/>
          <a:ln/>
        </p:spPr>
        <p:txBody>
          <a:bodyPr wrap="square" lIns="0" tIns="0" rIns="0" bIns="0" rtlCol="0" anchor="ctr"/>
          <a:lstStyle/>
          <a:p>
            <a:pPr indent="0" marL="0">
              <a:buNone/>
            </a:pPr>
            <a:r>
              <a:rPr lang="en-US" sz="2700" b="1" dirty="0">
                <a:solidFill>
                  <a:srgbClr val="2A1608"/>
                </a:solidFill>
                <a:latin typeface="Cambria" pitchFamily="34" charset="0"/>
                <a:ea typeface="Cambria" pitchFamily="34" charset="-122"/>
                <a:cs typeface="Cambria" pitchFamily="34" charset="-120"/>
              </a:rPr>
              <a:t>Locus writes the code.</a:t>
            </a:r>
            <a:endParaRPr lang="en-US" sz="2700" dirty="0"/>
          </a:p>
        </p:txBody>
      </p:sp>
      <p:sp>
        <p:nvSpPr>
          <p:cNvPr id="11" name="Text 9"/>
          <p:cNvSpPr/>
          <p:nvPr/>
        </p:nvSpPr>
        <p:spPr>
          <a:xfrm>
            <a:off x="6537960" y="3310128"/>
            <a:ext cx="4709160" cy="1371600"/>
          </a:xfrm>
          <a:prstGeom prst="rect">
            <a:avLst/>
          </a:prstGeom>
          <a:noFill/>
          <a:ln/>
        </p:spPr>
        <p:txBody>
          <a:bodyPr wrap="square" lIns="0" tIns="0" rIns="0" bIns="0" rtlCol="0" anchor="ctr"/>
          <a:lstStyle/>
          <a:p>
            <a:pPr indent="0" marL="0">
              <a:lnSpc>
                <a:spcPct val="130000"/>
              </a:lnSpc>
              <a:buNone/>
            </a:pPr>
            <a:r>
              <a:rPr lang="en-US" sz="1400" dirty="0">
                <a:solidFill>
                  <a:srgbClr val="3D2210"/>
                </a:solidFill>
                <a:latin typeface="Calibri" pitchFamily="34" charset="0"/>
                <a:ea typeface="Calibri" pitchFamily="34" charset="-122"/>
                <a:cs typeface="Calibri" pitchFamily="34" charset="-120"/>
              </a:rPr>
              <a:t>You assign it the ticket. It reads the requirement, makes the change, opens the pull request — and the same ten steps run behind it.</a:t>
            </a:r>
            <a:endParaRPr lang="en-US" sz="1400" dirty="0"/>
          </a:p>
        </p:txBody>
      </p:sp>
      <p:sp>
        <p:nvSpPr>
          <p:cNvPr id="12" name="Text 10"/>
          <p:cNvSpPr/>
          <p:nvPr/>
        </p:nvSpPr>
        <p:spPr>
          <a:xfrm>
            <a:off x="658368" y="5394960"/>
            <a:ext cx="10881360" cy="457200"/>
          </a:xfrm>
          <a:prstGeom prst="rect">
            <a:avLst/>
          </a:prstGeom>
          <a:noFill/>
          <a:ln/>
        </p:spPr>
        <p:txBody>
          <a:bodyPr wrap="square" lIns="0" tIns="0" rIns="0" bIns="0" rtlCol="0" anchor="ctr"/>
          <a:lstStyle/>
          <a:p>
            <a:pPr indent="0" marL="0">
              <a:buNone/>
            </a:pPr>
            <a:r>
              <a:rPr lang="en-US" sz="1700" i="1" dirty="0">
                <a:solidFill>
                  <a:srgbClr val="6FCBD1"/>
                </a:solidFill>
                <a:latin typeface="Calibri" pitchFamily="34" charset="0"/>
                <a:ea typeface="Calibri" pitchFamily="34" charset="-122"/>
                <a:cs typeface="Calibri" pitchFamily="34" charset="-120"/>
              </a:rPr>
              <a:t>Your senior dev still reviews it. Your tester still signs it off. The author is the only thing that changes.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p:bgPr>
    </p:bg>
    <p:spTree>
      <p:nvGrpSpPr>
        <p:cNvPr id="1" name=""/>
        <p:cNvGrpSpPr/>
        <p:nvPr/>
      </p:nvGrpSpPr>
      <p:grpSpPr>
        <a:xfrm>
          <a:off x="0" y="0"/>
          <a:ext cx="0" cy="0"/>
          <a:chOff x="0" y="0"/>
          <a:chExt cx="0" cy="0"/>
        </a:xfrm>
      </p:grpSpPr>
      <p:sp>
        <p:nvSpPr>
          <p:cNvPr id="2" name="Text 0"/>
          <p:cNvSpPr/>
          <p:nvPr/>
        </p:nvSpPr>
        <p:spPr>
          <a:xfrm>
            <a:off x="640080" y="502920"/>
            <a:ext cx="10881360" cy="914400"/>
          </a:xfrm>
          <a:prstGeom prst="rect">
            <a:avLst/>
          </a:prstGeom>
          <a:noFill/>
          <a:ln/>
        </p:spPr>
        <p:txBody>
          <a:bodyPr wrap="square" lIns="0" tIns="0" rIns="0" bIns="0" rtlCol="0" anchor="ctr"/>
          <a:lstStyle/>
          <a:p>
            <a:pPr algn="l" indent="0" marL="0">
              <a:buNone/>
            </a:pPr>
            <a:r>
              <a:rPr lang="en-US" sz="3400" b="1" dirty="0">
                <a:solidFill>
                  <a:srgbClr val="10181C"/>
                </a:solidFill>
                <a:latin typeface="Cambria" pitchFamily="34" charset="0"/>
                <a:ea typeface="Cambria" pitchFamily="34" charset="-122"/>
                <a:cs typeface="Cambria" pitchFamily="34" charset="-120"/>
              </a:rPr>
              <a:t>The mode is a per-ticket decision</a:t>
            </a:r>
            <a:endParaRPr lang="en-US" sz="3400" dirty="0"/>
          </a:p>
        </p:txBody>
      </p:sp>
      <p:sp>
        <p:nvSpPr>
          <p:cNvPr id="3" name="Shape 1"/>
          <p:cNvSpPr/>
          <p:nvPr/>
        </p:nvSpPr>
        <p:spPr>
          <a:xfrm>
            <a:off x="640080" y="1965960"/>
            <a:ext cx="5120640" cy="2514600"/>
          </a:xfrm>
          <a:prstGeom prst="roundRect">
            <a:avLst>
              <a:gd name="adj" fmla="val 2909"/>
            </a:avLst>
          </a:prstGeom>
          <a:solidFill>
            <a:srgbClr val="FFFFFF"/>
          </a:solidFill>
          <a:ln/>
          <a:effectLst>
            <a:outerShdw sx="100000" sy="100000" kx="0" ky="0" algn="bl" rotWithShape="0" blurRad="127000" dist="25400" dir="5400000">
              <a:srgbClr val="0E3A40">
                <a:alpha val="13000"/>
              </a:srgbClr>
            </a:outerShdw>
          </a:effectLst>
        </p:spPr>
      </p:sp>
      <p:sp>
        <p:nvSpPr>
          <p:cNvPr id="4" name="Text 2"/>
          <p:cNvSpPr/>
          <p:nvPr/>
        </p:nvSpPr>
        <p:spPr>
          <a:xfrm>
            <a:off x="960120" y="2212848"/>
            <a:ext cx="4480560" cy="274320"/>
          </a:xfrm>
          <a:prstGeom prst="rect">
            <a:avLst/>
          </a:prstGeom>
          <a:noFill/>
          <a:ln/>
        </p:spPr>
        <p:txBody>
          <a:bodyPr wrap="square" lIns="0" tIns="0" rIns="0" bIns="0" rtlCol="0" anchor="ctr"/>
          <a:lstStyle/>
          <a:p>
            <a:pPr indent="0" marL="0">
              <a:buNone/>
            </a:pPr>
            <a:r>
              <a:rPr lang="en-US" sz="1300" b="1" spc="100" kern="0" dirty="0">
                <a:solidFill>
                  <a:srgbClr val="E8944F"/>
                </a:solidFill>
                <a:latin typeface="Calibri" pitchFamily="34" charset="0"/>
                <a:ea typeface="Calibri" pitchFamily="34" charset="-122"/>
                <a:cs typeface="Calibri" pitchFamily="34" charset="-120"/>
              </a:rPr>
              <a:t>Why account-wide fails</a:t>
            </a:r>
            <a:endParaRPr lang="en-US" sz="1300" dirty="0"/>
          </a:p>
        </p:txBody>
      </p:sp>
      <p:sp>
        <p:nvSpPr>
          <p:cNvPr id="5" name="Text 3"/>
          <p:cNvSpPr/>
          <p:nvPr/>
        </p:nvSpPr>
        <p:spPr>
          <a:xfrm>
            <a:off x="960120" y="2615184"/>
            <a:ext cx="4480560" cy="1645920"/>
          </a:xfrm>
          <a:prstGeom prst="rect">
            <a:avLst/>
          </a:prstGeom>
          <a:noFill/>
          <a:ln/>
        </p:spPr>
        <p:txBody>
          <a:bodyPr wrap="square" lIns="0" tIns="0" rIns="0" bIns="0" rtlCol="0" anchor="ctr"/>
          <a:lstStyle/>
          <a:p>
            <a:pPr indent="0" marL="0">
              <a:lnSpc>
                <a:spcPct val="130000"/>
              </a:lnSpc>
              <a:buNone/>
            </a:pPr>
            <a:r>
              <a:rPr lang="en-US" sz="1400" dirty="0">
                <a:solidFill>
                  <a:srgbClr val="10181C"/>
                </a:solidFill>
                <a:latin typeface="Calibri" pitchFamily="34" charset="0"/>
                <a:ea typeface="Calibri" pitchFamily="34" charset="-122"/>
                <a:cs typeface="Calibri" pitchFamily="34" charset="-120"/>
              </a:rPr>
              <a:t>As one global switch, the riskiest ticket in the backlog ends up setting policy for every ticket. So any serious team picks manual and leaves it there — and the autonomous path is never used at all.</a:t>
            </a:r>
            <a:endParaRPr lang="en-US" sz="1400" dirty="0"/>
          </a:p>
        </p:txBody>
      </p:sp>
      <p:sp>
        <p:nvSpPr>
          <p:cNvPr id="6" name="Text 4"/>
          <p:cNvSpPr/>
          <p:nvPr/>
        </p:nvSpPr>
        <p:spPr>
          <a:xfrm>
            <a:off x="6400800" y="1965960"/>
            <a:ext cx="5120640" cy="274320"/>
          </a:xfrm>
          <a:prstGeom prst="rect">
            <a:avLst/>
          </a:prstGeom>
          <a:noFill/>
          <a:ln/>
        </p:spPr>
        <p:txBody>
          <a:bodyPr wrap="square" lIns="0" tIns="0" rIns="0" bIns="0" rtlCol="0" anchor="ctr"/>
          <a:lstStyle/>
          <a:p>
            <a:pPr indent="0" marL="0">
              <a:buNone/>
            </a:pPr>
            <a:r>
              <a:rPr lang="en-US" sz="1300" b="1" spc="100" kern="0" dirty="0">
                <a:solidFill>
                  <a:srgbClr val="0D666D"/>
                </a:solidFill>
                <a:latin typeface="Calibri" pitchFamily="34" charset="0"/>
                <a:ea typeface="Calibri" pitchFamily="34" charset="-122"/>
                <a:cs typeface="Calibri" pitchFamily="34" charset="-120"/>
              </a:rPr>
              <a:t>Most specific wins</a:t>
            </a:r>
            <a:endParaRPr lang="en-US" sz="1300" dirty="0"/>
          </a:p>
        </p:txBody>
      </p:sp>
      <p:sp>
        <p:nvSpPr>
          <p:cNvPr id="7" name="Shape 5"/>
          <p:cNvSpPr/>
          <p:nvPr/>
        </p:nvSpPr>
        <p:spPr>
          <a:xfrm>
            <a:off x="6400800" y="2432304"/>
            <a:ext cx="5120640" cy="566928"/>
          </a:xfrm>
          <a:prstGeom prst="roundRect">
            <a:avLst>
              <a:gd name="adj" fmla="val 12903"/>
            </a:avLst>
          </a:prstGeom>
          <a:solidFill>
            <a:srgbClr val="0D666D"/>
          </a:solidFill>
          <a:ln/>
        </p:spPr>
      </p:sp>
      <p:sp>
        <p:nvSpPr>
          <p:cNvPr id="8" name="Text 6"/>
          <p:cNvSpPr/>
          <p:nvPr/>
        </p:nvSpPr>
        <p:spPr>
          <a:xfrm>
            <a:off x="6656832" y="2432304"/>
            <a:ext cx="2011680" cy="566928"/>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libri" pitchFamily="34" charset="0"/>
                <a:ea typeface="Calibri" pitchFamily="34" charset="-122"/>
                <a:cs typeface="Calibri" pitchFamily="34" charset="-120"/>
              </a:rPr>
              <a:t>WORK ITEM</a:t>
            </a:r>
            <a:endParaRPr lang="en-US" sz="1300" dirty="0"/>
          </a:p>
        </p:txBody>
      </p:sp>
      <p:sp>
        <p:nvSpPr>
          <p:cNvPr id="9" name="Text 7"/>
          <p:cNvSpPr/>
          <p:nvPr/>
        </p:nvSpPr>
        <p:spPr>
          <a:xfrm>
            <a:off x="8595360" y="2432304"/>
            <a:ext cx="2651760" cy="566928"/>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this one ticket</a:t>
            </a:r>
            <a:endParaRPr lang="en-US" sz="1200" dirty="0"/>
          </a:p>
        </p:txBody>
      </p:sp>
      <p:sp>
        <p:nvSpPr>
          <p:cNvPr id="10" name="Shape 8"/>
          <p:cNvSpPr/>
          <p:nvPr/>
        </p:nvSpPr>
        <p:spPr>
          <a:xfrm>
            <a:off x="6400800" y="3209544"/>
            <a:ext cx="4663440" cy="566928"/>
          </a:xfrm>
          <a:prstGeom prst="roundRect">
            <a:avLst>
              <a:gd name="adj" fmla="val 12903"/>
            </a:avLst>
          </a:prstGeom>
          <a:solidFill>
            <a:srgbClr val="3E7C82"/>
          </a:solidFill>
          <a:ln/>
        </p:spPr>
      </p:sp>
      <p:sp>
        <p:nvSpPr>
          <p:cNvPr id="11" name="Text 9"/>
          <p:cNvSpPr/>
          <p:nvPr/>
        </p:nvSpPr>
        <p:spPr>
          <a:xfrm>
            <a:off x="6656832" y="3209544"/>
            <a:ext cx="2011680" cy="566928"/>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libri" pitchFamily="34" charset="0"/>
                <a:ea typeface="Calibri" pitchFamily="34" charset="-122"/>
                <a:cs typeface="Calibri" pitchFamily="34" charset="-120"/>
              </a:rPr>
              <a:t>REPO</a:t>
            </a:r>
            <a:endParaRPr lang="en-US" sz="1300" dirty="0"/>
          </a:p>
        </p:txBody>
      </p:sp>
      <p:sp>
        <p:nvSpPr>
          <p:cNvPr id="12" name="Text 10"/>
          <p:cNvSpPr/>
          <p:nvPr/>
        </p:nvSpPr>
        <p:spPr>
          <a:xfrm>
            <a:off x="8595360" y="3209544"/>
            <a:ext cx="2194560" cy="566928"/>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this codebase</a:t>
            </a:r>
            <a:endParaRPr lang="en-US" sz="1200" dirty="0"/>
          </a:p>
        </p:txBody>
      </p:sp>
      <p:sp>
        <p:nvSpPr>
          <p:cNvPr id="13" name="Shape 11"/>
          <p:cNvSpPr/>
          <p:nvPr/>
        </p:nvSpPr>
        <p:spPr>
          <a:xfrm>
            <a:off x="6400800" y="3986784"/>
            <a:ext cx="4206240" cy="566928"/>
          </a:xfrm>
          <a:prstGeom prst="roundRect">
            <a:avLst>
              <a:gd name="adj" fmla="val 12903"/>
            </a:avLst>
          </a:prstGeom>
          <a:solidFill>
            <a:srgbClr val="8FB3B7"/>
          </a:solidFill>
          <a:ln/>
        </p:spPr>
      </p:sp>
      <p:sp>
        <p:nvSpPr>
          <p:cNvPr id="14" name="Text 12"/>
          <p:cNvSpPr/>
          <p:nvPr/>
        </p:nvSpPr>
        <p:spPr>
          <a:xfrm>
            <a:off x="6656832" y="3986784"/>
            <a:ext cx="2011680" cy="566928"/>
          </a:xfrm>
          <a:prstGeom prst="rect">
            <a:avLst/>
          </a:prstGeom>
          <a:noFill/>
          <a:ln/>
        </p:spPr>
        <p:txBody>
          <a:bodyPr wrap="square" lIns="0" tIns="0" rIns="0" bIns="0" rtlCol="0" anchor="ctr"/>
          <a:lstStyle/>
          <a:p>
            <a:pPr indent="0" marL="0">
              <a:buNone/>
            </a:pPr>
            <a:r>
              <a:rPr lang="en-US" sz="1300" b="1" spc="150" kern="0" dirty="0">
                <a:solidFill>
                  <a:srgbClr val="10181C"/>
                </a:solidFill>
                <a:latin typeface="Calibri" pitchFamily="34" charset="0"/>
                <a:ea typeface="Calibri" pitchFamily="34" charset="-122"/>
                <a:cs typeface="Calibri" pitchFamily="34" charset="-120"/>
              </a:rPr>
              <a:t>ACCOUNT</a:t>
            </a:r>
            <a:endParaRPr lang="en-US" sz="1300" dirty="0"/>
          </a:p>
        </p:txBody>
      </p:sp>
      <p:sp>
        <p:nvSpPr>
          <p:cNvPr id="15" name="Text 13"/>
          <p:cNvSpPr/>
          <p:nvPr/>
        </p:nvSpPr>
        <p:spPr>
          <a:xfrm>
            <a:off x="8595360" y="3986784"/>
            <a:ext cx="1737360" cy="566928"/>
          </a:xfrm>
          <a:prstGeom prst="rect">
            <a:avLst/>
          </a:prstGeom>
          <a:noFill/>
          <a:ln/>
        </p:spPr>
        <p:txBody>
          <a:bodyPr wrap="square" lIns="0" tIns="0" rIns="0" bIns="0" rtlCol="0" anchor="ctr"/>
          <a:lstStyle/>
          <a:p>
            <a:pPr algn="r" indent="0" marL="0">
              <a:buNone/>
            </a:pPr>
            <a:r>
              <a:rPr lang="en-US" sz="1200" dirty="0">
                <a:solidFill>
                  <a:srgbClr val="10181C"/>
                </a:solidFill>
                <a:latin typeface="Calibri" pitchFamily="34" charset="0"/>
                <a:ea typeface="Calibri" pitchFamily="34" charset="-122"/>
                <a:cs typeface="Calibri" pitchFamily="34" charset="-120"/>
              </a:rPr>
              <a:t>your default</a:t>
            </a:r>
            <a:endParaRPr lang="en-US" sz="1200" dirty="0"/>
          </a:p>
        </p:txBody>
      </p:sp>
      <p:sp>
        <p:nvSpPr>
          <p:cNvPr id="16" name="Text 14"/>
          <p:cNvSpPr/>
          <p:nvPr/>
        </p:nvSpPr>
        <p:spPr>
          <a:xfrm>
            <a:off x="658368" y="5074920"/>
            <a:ext cx="10881360" cy="365760"/>
          </a:xfrm>
          <a:prstGeom prst="rect">
            <a:avLst/>
          </a:prstGeom>
          <a:noFill/>
          <a:ln/>
        </p:spPr>
        <p:txBody>
          <a:bodyPr wrap="square" lIns="0" tIns="0" rIns="0" bIns="0" rtlCol="0" anchor="ctr"/>
          <a:lstStyle/>
          <a:p>
            <a:pPr indent="0" marL="0">
              <a:buNone/>
            </a:pPr>
            <a:r>
              <a:rPr lang="en-US" sz="1900" b="1" dirty="0">
                <a:solidFill>
                  <a:srgbClr val="0D666D"/>
                </a:solidFill>
                <a:latin typeface="Cambria" pitchFamily="34" charset="0"/>
                <a:ea typeface="Cambria" pitchFamily="34" charset="-122"/>
                <a:cs typeface="Cambria" pitchFamily="34" charset="-120"/>
              </a:rPr>
              <a:t>A version bump goes to the agent. A change touching authentication stays with you.</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p:bgPr>
    </p:bg>
    <p:spTree>
      <p:nvGrpSpPr>
        <p:cNvPr id="1" name=""/>
        <p:cNvGrpSpPr/>
        <p:nvPr/>
      </p:nvGrpSpPr>
      <p:grpSpPr>
        <a:xfrm>
          <a:off x="0" y="0"/>
          <a:ext cx="0" cy="0"/>
          <a:chOff x="0" y="0"/>
          <a:chExt cx="0" cy="0"/>
        </a:xfrm>
      </p:grpSpPr>
      <p:sp>
        <p:nvSpPr>
          <p:cNvPr id="2" name="Text 0"/>
          <p:cNvSpPr/>
          <p:nvPr/>
        </p:nvSpPr>
        <p:spPr>
          <a:xfrm>
            <a:off x="640080" y="502920"/>
            <a:ext cx="10881360" cy="914400"/>
          </a:xfrm>
          <a:prstGeom prst="rect">
            <a:avLst/>
          </a:prstGeom>
          <a:noFill/>
          <a:ln/>
        </p:spPr>
        <p:txBody>
          <a:bodyPr wrap="square" lIns="0" tIns="0" rIns="0" bIns="0" rtlCol="0" anchor="ctr"/>
          <a:lstStyle/>
          <a:p>
            <a:pPr algn="l" indent="0" marL="0">
              <a:buNone/>
            </a:pPr>
            <a:r>
              <a:rPr lang="en-US" sz="3400" b="1" dirty="0">
                <a:solidFill>
                  <a:srgbClr val="10181C"/>
                </a:solidFill>
                <a:latin typeface="Cambria" pitchFamily="34" charset="0"/>
                <a:ea typeface="Cambria" pitchFamily="34" charset="-122"/>
                <a:cs typeface="Cambria" pitchFamily="34" charset="-120"/>
              </a:rPr>
              <a:t>What keeps “autonomous” honest</a:t>
            </a:r>
            <a:endParaRPr lang="en-US" sz="3400" dirty="0"/>
          </a:p>
        </p:txBody>
      </p:sp>
      <p:sp>
        <p:nvSpPr>
          <p:cNvPr id="3" name="Shape 1"/>
          <p:cNvSpPr/>
          <p:nvPr/>
        </p:nvSpPr>
        <p:spPr>
          <a:xfrm>
            <a:off x="640080" y="1920240"/>
            <a:ext cx="5120640" cy="1920240"/>
          </a:xfrm>
          <a:prstGeom prst="roundRect">
            <a:avLst>
              <a:gd name="adj" fmla="val 3810"/>
            </a:avLst>
          </a:prstGeom>
          <a:solidFill>
            <a:srgbClr val="FFFFFF"/>
          </a:solidFill>
          <a:ln/>
          <a:effectLst>
            <a:outerShdw sx="100000" sy="100000" kx="0" ky="0" algn="bl" rotWithShape="0" blurRad="127000" dist="25400" dir="5400000">
              <a:srgbClr val="0E3A40">
                <a:alpha val="13000"/>
              </a:srgbClr>
            </a:outerShdw>
          </a:effectLst>
        </p:spPr>
      </p:sp>
      <p:sp>
        <p:nvSpPr>
          <p:cNvPr id="4" name="Text 2"/>
          <p:cNvSpPr/>
          <p:nvPr/>
        </p:nvSpPr>
        <p:spPr>
          <a:xfrm>
            <a:off x="932688" y="2212848"/>
            <a:ext cx="457200" cy="457200"/>
          </a:xfrm>
          <a:prstGeom prst="ellipse">
            <a:avLst/>
          </a:prstGeom>
          <a:solidFill>
            <a:srgbClr val="0D666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554480" y="2212848"/>
            <a:ext cx="4023360" cy="457200"/>
          </a:xfrm>
          <a:prstGeom prst="rect">
            <a:avLst/>
          </a:prstGeom>
          <a:noFill/>
          <a:ln/>
        </p:spPr>
        <p:txBody>
          <a:bodyPr wrap="square" lIns="0" tIns="0" rIns="0" bIns="0" rtlCol="0" anchor="ctr"/>
          <a:lstStyle/>
          <a:p>
            <a:pPr indent="0" marL="0">
              <a:buNone/>
            </a:pPr>
            <a:r>
              <a:rPr lang="en-US" sz="1600" b="1" dirty="0">
                <a:solidFill>
                  <a:srgbClr val="10181C"/>
                </a:solidFill>
                <a:latin typeface="Calibri" pitchFamily="34" charset="0"/>
                <a:ea typeface="Calibri" pitchFamily="34" charset="-122"/>
                <a:cs typeface="Calibri" pitchFamily="34" charset="-120"/>
              </a:rPr>
              <a:t>Bounded</a:t>
            </a:r>
            <a:endParaRPr lang="en-US" sz="1600" dirty="0"/>
          </a:p>
        </p:txBody>
      </p:sp>
      <p:sp>
        <p:nvSpPr>
          <p:cNvPr id="6" name="Text 4"/>
          <p:cNvSpPr/>
          <p:nvPr/>
        </p:nvSpPr>
        <p:spPr>
          <a:xfrm>
            <a:off x="1554480" y="2761488"/>
            <a:ext cx="3977640" cy="777240"/>
          </a:xfrm>
          <a:prstGeom prst="rect">
            <a:avLst/>
          </a:prstGeom>
          <a:noFill/>
          <a:ln/>
        </p:spPr>
        <p:txBody>
          <a:bodyPr wrap="square" lIns="0" tIns="0" rIns="0" bIns="0" rtlCol="0" anchor="ctr"/>
          <a:lstStyle/>
          <a:p>
            <a:pPr indent="0" marL="0">
              <a:lnSpc>
                <a:spcPct val="125000"/>
              </a:lnSpc>
              <a:buNone/>
            </a:pPr>
            <a:r>
              <a:rPr lang="en-US" sz="1300" dirty="0">
                <a:solidFill>
                  <a:srgbClr val="5C6E78"/>
                </a:solidFill>
                <a:latin typeface="Calibri" pitchFamily="34" charset="0"/>
                <a:ea typeface="Calibri" pitchFamily="34" charset="-122"/>
                <a:cs typeface="Calibri" pitchFamily="34" charset="-120"/>
              </a:rPr>
              <a:t>Three attempts on a ticket. Then it hands the work back to you and says so in Slack.</a:t>
            </a:r>
            <a:endParaRPr lang="en-US" sz="1300" dirty="0"/>
          </a:p>
        </p:txBody>
      </p:sp>
      <p:sp>
        <p:nvSpPr>
          <p:cNvPr id="7" name="Shape 5"/>
          <p:cNvSpPr/>
          <p:nvPr/>
        </p:nvSpPr>
        <p:spPr>
          <a:xfrm>
            <a:off x="6217920" y="1920240"/>
            <a:ext cx="5120640" cy="1920240"/>
          </a:xfrm>
          <a:prstGeom prst="roundRect">
            <a:avLst>
              <a:gd name="adj" fmla="val 3810"/>
            </a:avLst>
          </a:prstGeom>
          <a:solidFill>
            <a:srgbClr val="FFFFFF"/>
          </a:solidFill>
          <a:ln/>
          <a:effectLst>
            <a:outerShdw sx="100000" sy="100000" kx="0" ky="0" algn="bl" rotWithShape="0" blurRad="127000" dist="25400" dir="5400000">
              <a:srgbClr val="0E3A40">
                <a:alpha val="13000"/>
              </a:srgbClr>
            </a:outerShdw>
          </a:effectLst>
        </p:spPr>
      </p:sp>
      <p:sp>
        <p:nvSpPr>
          <p:cNvPr id="8" name="Text 6"/>
          <p:cNvSpPr/>
          <p:nvPr/>
        </p:nvSpPr>
        <p:spPr>
          <a:xfrm>
            <a:off x="6510528" y="2212848"/>
            <a:ext cx="457200" cy="457200"/>
          </a:xfrm>
          <a:prstGeom prst="ellipse">
            <a:avLst/>
          </a:prstGeom>
          <a:solidFill>
            <a:srgbClr val="0D666D"/>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132320" y="2212848"/>
            <a:ext cx="4023360" cy="457200"/>
          </a:xfrm>
          <a:prstGeom prst="rect">
            <a:avLst/>
          </a:prstGeom>
          <a:noFill/>
          <a:ln/>
        </p:spPr>
        <p:txBody>
          <a:bodyPr wrap="square" lIns="0" tIns="0" rIns="0" bIns="0" rtlCol="0" anchor="ctr"/>
          <a:lstStyle/>
          <a:p>
            <a:pPr indent="0" marL="0">
              <a:buNone/>
            </a:pPr>
            <a:r>
              <a:rPr lang="en-US" sz="1600" b="1" dirty="0">
                <a:solidFill>
                  <a:srgbClr val="10181C"/>
                </a:solidFill>
                <a:latin typeface="Calibri" pitchFamily="34" charset="0"/>
                <a:ea typeface="Calibri" pitchFamily="34" charset="-122"/>
                <a:cs typeface="Calibri" pitchFamily="34" charset="-120"/>
              </a:rPr>
              <a:t>You take over, it stops</a:t>
            </a:r>
            <a:endParaRPr lang="en-US" sz="1600" dirty="0"/>
          </a:p>
        </p:txBody>
      </p:sp>
      <p:sp>
        <p:nvSpPr>
          <p:cNvPr id="10" name="Text 8"/>
          <p:cNvSpPr/>
          <p:nvPr/>
        </p:nvSpPr>
        <p:spPr>
          <a:xfrm>
            <a:off x="7132320" y="2761488"/>
            <a:ext cx="3977640" cy="777240"/>
          </a:xfrm>
          <a:prstGeom prst="rect">
            <a:avLst/>
          </a:prstGeom>
          <a:noFill/>
          <a:ln/>
        </p:spPr>
        <p:txBody>
          <a:bodyPr wrap="square" lIns="0" tIns="0" rIns="0" bIns="0" rtlCol="0" anchor="ctr"/>
          <a:lstStyle/>
          <a:p>
            <a:pPr indent="0" marL="0">
              <a:lnSpc>
                <a:spcPct val="125000"/>
              </a:lnSpc>
              <a:buNone/>
            </a:pPr>
            <a:r>
              <a:rPr lang="en-US" sz="1300" dirty="0">
                <a:solidFill>
                  <a:srgbClr val="5C6E78"/>
                </a:solidFill>
                <a:latin typeface="Calibri" pitchFamily="34" charset="0"/>
                <a:ea typeface="Calibri" pitchFamily="34" charset="-122"/>
                <a:cs typeface="Calibri" pitchFamily="34" charset="-120"/>
              </a:rPr>
              <a:t>A commit from you on the branch ends autonomous mode for that ticket immediately.</a:t>
            </a:r>
            <a:endParaRPr lang="en-US" sz="1300" dirty="0"/>
          </a:p>
        </p:txBody>
      </p:sp>
      <p:sp>
        <p:nvSpPr>
          <p:cNvPr id="11" name="Shape 9"/>
          <p:cNvSpPr/>
          <p:nvPr/>
        </p:nvSpPr>
        <p:spPr>
          <a:xfrm>
            <a:off x="640080" y="4069080"/>
            <a:ext cx="5120640" cy="1920240"/>
          </a:xfrm>
          <a:prstGeom prst="roundRect">
            <a:avLst>
              <a:gd name="adj" fmla="val 3810"/>
            </a:avLst>
          </a:prstGeom>
          <a:solidFill>
            <a:srgbClr val="FFFFFF"/>
          </a:solidFill>
          <a:ln/>
          <a:effectLst>
            <a:outerShdw sx="100000" sy="100000" kx="0" ky="0" algn="bl" rotWithShape="0" blurRad="127000" dist="25400" dir="5400000">
              <a:srgbClr val="0E3A40">
                <a:alpha val="13000"/>
              </a:srgbClr>
            </a:outerShdw>
          </a:effectLst>
        </p:spPr>
      </p:sp>
      <p:sp>
        <p:nvSpPr>
          <p:cNvPr id="12" name="Text 10"/>
          <p:cNvSpPr/>
          <p:nvPr/>
        </p:nvSpPr>
        <p:spPr>
          <a:xfrm>
            <a:off x="932688" y="4361688"/>
            <a:ext cx="457200" cy="457200"/>
          </a:xfrm>
          <a:prstGeom prst="ellipse">
            <a:avLst/>
          </a:prstGeom>
          <a:solidFill>
            <a:srgbClr val="E8944F"/>
          </a:solidFill>
          <a:ln/>
        </p:spPr>
        <p:txBody>
          <a:bodyPr wrap="square" lIns="0" tIns="0" rIns="0" bIns="0" rtlCol="0" anchor="ctr"/>
          <a:lstStyle/>
          <a:p>
            <a:pPr algn="ctr" indent="0" marL="0">
              <a:buNone/>
            </a:pPr>
            <a:r>
              <a:rPr lang="en-US" sz="1400" b="1" dirty="0">
                <a:solidFill>
                  <a:srgbClr val="10181C"/>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554480" y="4361688"/>
            <a:ext cx="4023360" cy="457200"/>
          </a:xfrm>
          <a:prstGeom prst="rect">
            <a:avLst/>
          </a:prstGeom>
          <a:noFill/>
          <a:ln/>
        </p:spPr>
        <p:txBody>
          <a:bodyPr wrap="square" lIns="0" tIns="0" rIns="0" bIns="0" rtlCol="0" anchor="ctr"/>
          <a:lstStyle/>
          <a:p>
            <a:pPr indent="0" marL="0">
              <a:buNone/>
            </a:pPr>
            <a:r>
              <a:rPr lang="en-US" sz="1600" b="1" dirty="0">
                <a:solidFill>
                  <a:srgbClr val="10181C"/>
                </a:solidFill>
                <a:latin typeface="Calibri" pitchFamily="34" charset="0"/>
                <a:ea typeface="Calibri" pitchFamily="34" charset="-122"/>
                <a:cs typeface="Calibri" pitchFamily="34" charset="-120"/>
              </a:rPr>
              <a:t>It opens PRs. It never merges.</a:t>
            </a:r>
            <a:endParaRPr lang="en-US" sz="1600" dirty="0"/>
          </a:p>
        </p:txBody>
      </p:sp>
      <p:sp>
        <p:nvSpPr>
          <p:cNvPr id="14" name="Text 12"/>
          <p:cNvSpPr/>
          <p:nvPr/>
        </p:nvSpPr>
        <p:spPr>
          <a:xfrm>
            <a:off x="1554480" y="4910328"/>
            <a:ext cx="3977640" cy="777240"/>
          </a:xfrm>
          <a:prstGeom prst="rect">
            <a:avLst/>
          </a:prstGeom>
          <a:noFill/>
          <a:ln/>
        </p:spPr>
        <p:txBody>
          <a:bodyPr wrap="square" lIns="0" tIns="0" rIns="0" bIns="0" rtlCol="0" anchor="ctr"/>
          <a:lstStyle/>
          <a:p>
            <a:pPr indent="0" marL="0">
              <a:lnSpc>
                <a:spcPct val="125000"/>
              </a:lnSpc>
              <a:buNone/>
            </a:pPr>
            <a:r>
              <a:rPr lang="en-US" sz="1300" dirty="0">
                <a:solidFill>
                  <a:srgbClr val="5C6E78"/>
                </a:solidFill>
                <a:latin typeface="Calibri" pitchFamily="34" charset="0"/>
                <a:ea typeface="Calibri" pitchFamily="34" charset="-122"/>
                <a:cs typeface="Calibri" pitchFamily="34" charset="-120"/>
              </a:rPr>
              <a:t>No merge capability at all, and its token cannot touch CI configuration.</a:t>
            </a:r>
            <a:endParaRPr lang="en-US" sz="1300" dirty="0"/>
          </a:p>
        </p:txBody>
      </p:sp>
      <p:sp>
        <p:nvSpPr>
          <p:cNvPr id="15" name="Shape 13"/>
          <p:cNvSpPr/>
          <p:nvPr/>
        </p:nvSpPr>
        <p:spPr>
          <a:xfrm>
            <a:off x="6217920" y="4069080"/>
            <a:ext cx="5120640" cy="1920240"/>
          </a:xfrm>
          <a:prstGeom prst="roundRect">
            <a:avLst>
              <a:gd name="adj" fmla="val 3810"/>
            </a:avLst>
          </a:prstGeom>
          <a:solidFill>
            <a:srgbClr val="FFFFFF"/>
          </a:solidFill>
          <a:ln/>
          <a:effectLst>
            <a:outerShdw sx="100000" sy="100000" kx="0" ky="0" algn="bl" rotWithShape="0" blurRad="127000" dist="25400" dir="5400000">
              <a:srgbClr val="0E3A40">
                <a:alpha val="13000"/>
              </a:srgbClr>
            </a:outerShdw>
          </a:effectLst>
        </p:spPr>
      </p:sp>
      <p:sp>
        <p:nvSpPr>
          <p:cNvPr id="16" name="Text 14"/>
          <p:cNvSpPr/>
          <p:nvPr/>
        </p:nvSpPr>
        <p:spPr>
          <a:xfrm>
            <a:off x="6510528" y="4361688"/>
            <a:ext cx="457200" cy="457200"/>
          </a:xfrm>
          <a:prstGeom prst="ellipse">
            <a:avLst/>
          </a:prstGeom>
          <a:solidFill>
            <a:srgbClr val="E8944F"/>
          </a:solidFill>
          <a:ln/>
        </p:spPr>
        <p:txBody>
          <a:bodyPr wrap="square" lIns="0" tIns="0" rIns="0" bIns="0" rtlCol="0" anchor="ctr"/>
          <a:lstStyle/>
          <a:p>
            <a:pPr algn="ctr" indent="0" marL="0">
              <a:buNone/>
            </a:pPr>
            <a:r>
              <a:rPr lang="en-US" sz="1400" b="1" dirty="0">
                <a:solidFill>
                  <a:srgbClr val="10181C"/>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7132320" y="4361688"/>
            <a:ext cx="4023360" cy="457200"/>
          </a:xfrm>
          <a:prstGeom prst="rect">
            <a:avLst/>
          </a:prstGeom>
          <a:noFill/>
          <a:ln/>
        </p:spPr>
        <p:txBody>
          <a:bodyPr wrap="square" lIns="0" tIns="0" rIns="0" bIns="0" rtlCol="0" anchor="ctr"/>
          <a:lstStyle/>
          <a:p>
            <a:pPr indent="0" marL="0">
              <a:buNone/>
            </a:pPr>
            <a:r>
              <a:rPr lang="en-US" sz="1600" b="1" dirty="0">
                <a:solidFill>
                  <a:srgbClr val="10181C"/>
                </a:solidFill>
                <a:latin typeface="Calibri" pitchFamily="34" charset="0"/>
                <a:ea typeface="Calibri" pitchFamily="34" charset="-122"/>
                <a:cs typeface="Calibri" pitchFamily="34" charset="-120"/>
              </a:rPr>
              <a:t>Capped throughput</a:t>
            </a:r>
            <a:endParaRPr lang="en-US" sz="1600" dirty="0"/>
          </a:p>
        </p:txBody>
      </p:sp>
      <p:sp>
        <p:nvSpPr>
          <p:cNvPr id="18" name="Text 16"/>
          <p:cNvSpPr/>
          <p:nvPr/>
        </p:nvSpPr>
        <p:spPr>
          <a:xfrm>
            <a:off x="7132320" y="4910328"/>
            <a:ext cx="3977640" cy="777240"/>
          </a:xfrm>
          <a:prstGeom prst="rect">
            <a:avLst/>
          </a:prstGeom>
          <a:noFill/>
          <a:ln/>
        </p:spPr>
        <p:txBody>
          <a:bodyPr wrap="square" lIns="0" tIns="0" rIns="0" bIns="0" rtlCol="0" anchor="ctr"/>
          <a:lstStyle/>
          <a:p>
            <a:pPr indent="0" marL="0">
              <a:lnSpc>
                <a:spcPct val="125000"/>
              </a:lnSpc>
              <a:buNone/>
            </a:pPr>
            <a:r>
              <a:rPr lang="en-US" sz="1300" dirty="0">
                <a:solidFill>
                  <a:srgbClr val="5C6E78"/>
                </a:solidFill>
                <a:latin typeface="Calibri" pitchFamily="34" charset="0"/>
                <a:ea typeface="Calibri" pitchFamily="34" charset="-122"/>
                <a:cs typeface="Calibri" pitchFamily="34" charset="-120"/>
              </a:rPr>
              <a:t>A limit on open agent-written PRs, so an approval never becomes a rubber stamp.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8"/>
        </a:solidFill>
      </p:bgPr>
    </p:bg>
    <p:spTree>
      <p:nvGrpSpPr>
        <p:cNvPr id="1" name=""/>
        <p:cNvGrpSpPr/>
        <p:nvPr/>
      </p:nvGrpSpPr>
      <p:grpSpPr>
        <a:xfrm>
          <a:off x="0" y="0"/>
          <a:ext cx="0" cy="0"/>
          <a:chOff x="0" y="0"/>
          <a:chExt cx="0" cy="0"/>
        </a:xfrm>
      </p:grpSpPr>
      <p:sp>
        <p:nvSpPr>
          <p:cNvPr id="2" name="Text 0"/>
          <p:cNvSpPr/>
          <p:nvPr/>
        </p:nvSpPr>
        <p:spPr>
          <a:xfrm>
            <a:off x="640080" y="502920"/>
            <a:ext cx="10881360" cy="914400"/>
          </a:xfrm>
          <a:prstGeom prst="rect">
            <a:avLst/>
          </a:prstGeom>
          <a:noFill/>
          <a:ln/>
        </p:spPr>
        <p:txBody>
          <a:bodyPr wrap="square" lIns="0" tIns="0" rIns="0" bIns="0" rtlCol="0" anchor="ctr"/>
          <a:lstStyle/>
          <a:p>
            <a:pPr algn="l" indent="0" marL="0">
              <a:buNone/>
            </a:pPr>
            <a:r>
              <a:rPr lang="en-US" sz="3400" b="1" dirty="0">
                <a:solidFill>
                  <a:srgbClr val="10181C"/>
                </a:solidFill>
                <a:latin typeface="Cambria" pitchFamily="34" charset="0"/>
                <a:ea typeface="Cambria" pitchFamily="34" charset="-122"/>
                <a:cs typeface="Cambria" pitchFamily="34" charset="-120"/>
              </a:rPr>
              <a:t>Your reviewers become the bottleneck</a:t>
            </a:r>
            <a:endParaRPr lang="en-US" sz="3400" dirty="0"/>
          </a:p>
        </p:txBody>
      </p:sp>
      <p:sp>
        <p:nvSpPr>
          <p:cNvPr id="3" name="Text 1"/>
          <p:cNvSpPr/>
          <p:nvPr/>
        </p:nvSpPr>
        <p:spPr>
          <a:xfrm>
            <a:off x="640080" y="1389888"/>
            <a:ext cx="10881360" cy="320040"/>
          </a:xfrm>
          <a:prstGeom prst="rect">
            <a:avLst/>
          </a:prstGeom>
          <a:noFill/>
          <a:ln/>
        </p:spPr>
        <p:txBody>
          <a:bodyPr wrap="square" lIns="0" tIns="0" rIns="0" bIns="0" rtlCol="0" anchor="ctr"/>
          <a:lstStyle/>
          <a:p>
            <a:pPr indent="0" marL="0">
              <a:buNone/>
            </a:pPr>
            <a:r>
              <a:rPr lang="en-US" sz="1500" dirty="0">
                <a:solidFill>
                  <a:srgbClr val="5C6E78"/>
                </a:solidFill>
                <a:latin typeface="Calibri" pitchFamily="34" charset="0"/>
                <a:ea typeface="Calibri" pitchFamily="34" charset="-122"/>
                <a:cs typeface="Calibri" pitchFamily="34" charset="-120"/>
              </a:rPr>
              <a:t>In autonomous mode they are the only humans left in the loop — so Locus protects their time.</a:t>
            </a:r>
            <a:endParaRPr lang="en-US" sz="1500" dirty="0"/>
          </a:p>
        </p:txBody>
      </p:sp>
      <p:sp>
        <p:nvSpPr>
          <p:cNvPr id="4" name="Shape 2"/>
          <p:cNvSpPr/>
          <p:nvPr/>
        </p:nvSpPr>
        <p:spPr>
          <a:xfrm>
            <a:off x="640080" y="2057400"/>
            <a:ext cx="5120640" cy="2606040"/>
          </a:xfrm>
          <a:prstGeom prst="roundRect">
            <a:avLst>
              <a:gd name="adj" fmla="val 2807"/>
            </a:avLst>
          </a:prstGeom>
          <a:solidFill>
            <a:srgbClr val="FFFFFF"/>
          </a:solidFill>
          <a:ln/>
          <a:effectLst>
            <a:outerShdw sx="100000" sy="100000" kx="0" ky="0" algn="bl" rotWithShape="0" blurRad="127000" dist="25400" dir="5400000">
              <a:srgbClr val="0E3A40">
                <a:alpha val="13000"/>
              </a:srgbClr>
            </a:outerShdw>
          </a:effectLst>
        </p:spPr>
      </p:sp>
      <p:sp>
        <p:nvSpPr>
          <p:cNvPr id="5" name="Text 3"/>
          <p:cNvSpPr/>
          <p:nvPr/>
        </p:nvSpPr>
        <p:spPr>
          <a:xfrm>
            <a:off x="960120" y="2331720"/>
            <a:ext cx="4480560" cy="274320"/>
          </a:xfrm>
          <a:prstGeom prst="rect">
            <a:avLst/>
          </a:prstGeom>
          <a:noFill/>
          <a:ln/>
        </p:spPr>
        <p:txBody>
          <a:bodyPr wrap="square" lIns="0" tIns="0" rIns="0" bIns="0" rtlCol="0" anchor="ctr"/>
          <a:lstStyle/>
          <a:p>
            <a:pPr indent="0" marL="0">
              <a:buNone/>
            </a:pPr>
            <a:r>
              <a:rPr lang="en-US" sz="1200" dirty="0">
                <a:solidFill>
                  <a:srgbClr val="5C6E78"/>
                </a:solidFill>
                <a:latin typeface="Calibri" pitchFamily="34" charset="0"/>
                <a:ea typeface="Calibri" pitchFamily="34" charset="-122"/>
                <a:cs typeface="Calibri" pitchFamily="34" charset="-120"/>
              </a:rPr>
              <a:t>14:10 — someone messages you</a:t>
            </a:r>
            <a:endParaRPr lang="en-US" sz="1200" dirty="0"/>
          </a:p>
        </p:txBody>
      </p:sp>
      <p:sp>
        <p:nvSpPr>
          <p:cNvPr id="6" name="Text 4"/>
          <p:cNvSpPr/>
          <p:nvPr/>
        </p:nvSpPr>
        <p:spPr>
          <a:xfrm>
            <a:off x="960120" y="2651760"/>
            <a:ext cx="4480560" cy="320040"/>
          </a:xfrm>
          <a:prstGeom prst="rect">
            <a:avLst/>
          </a:prstGeom>
          <a:noFill/>
          <a:ln/>
        </p:spPr>
        <p:txBody>
          <a:bodyPr wrap="square" lIns="0" tIns="0" rIns="0" bIns="0" rtlCol="0" anchor="ctr"/>
          <a:lstStyle/>
          <a:p>
            <a:pPr indent="0" marL="0">
              <a:buNone/>
            </a:pPr>
            <a:r>
              <a:rPr lang="en-US" sz="1500" b="1" dirty="0">
                <a:solidFill>
                  <a:srgbClr val="10181C"/>
                </a:solidFill>
                <a:latin typeface="Calibri" pitchFamily="34" charset="0"/>
                <a:ea typeface="Calibri" pitchFamily="34" charset="-122"/>
                <a:cs typeface="Calibri" pitchFamily="34" charset="-120"/>
              </a:rPr>
              <a:t>You're in a meeting until 15:30.</a:t>
            </a:r>
            <a:endParaRPr lang="en-US" sz="1500" dirty="0"/>
          </a:p>
        </p:txBody>
      </p:sp>
      <p:sp>
        <p:nvSpPr>
          <p:cNvPr id="7" name="Shape 5"/>
          <p:cNvSpPr/>
          <p:nvPr/>
        </p:nvSpPr>
        <p:spPr>
          <a:xfrm>
            <a:off x="960120" y="3200400"/>
            <a:ext cx="4480560" cy="1051560"/>
          </a:xfrm>
          <a:prstGeom prst="roundRect">
            <a:avLst>
              <a:gd name="adj" fmla="val 6957"/>
            </a:avLst>
          </a:prstGeom>
          <a:solidFill>
            <a:srgbClr val="E4EFF0"/>
          </a:solidFill>
          <a:ln/>
        </p:spPr>
      </p:sp>
      <p:sp>
        <p:nvSpPr>
          <p:cNvPr id="8" name="Text 6"/>
          <p:cNvSpPr/>
          <p:nvPr/>
        </p:nvSpPr>
        <p:spPr>
          <a:xfrm>
            <a:off x="1188720" y="3200400"/>
            <a:ext cx="4023360" cy="1051560"/>
          </a:xfrm>
          <a:prstGeom prst="rect">
            <a:avLst/>
          </a:prstGeom>
          <a:noFill/>
          <a:ln/>
        </p:spPr>
        <p:txBody>
          <a:bodyPr wrap="square" lIns="0" tIns="0" rIns="0" bIns="0" rtlCol="0" anchor="ctr"/>
          <a:lstStyle/>
          <a:p>
            <a:pPr indent="0" marL="0">
              <a:buNone/>
            </a:pPr>
            <a:r>
              <a:rPr lang="en-US" sz="1500" i="1" dirty="0">
                <a:solidFill>
                  <a:srgbClr val="0D666D"/>
                </a:solidFill>
                <a:latin typeface="Calibri" pitchFamily="34" charset="0"/>
                <a:ea typeface="Calibri" pitchFamily="34" charset="-122"/>
                <a:cs typeface="Calibri" pitchFamily="34" charset="-120"/>
              </a:rPr>
              <a:t>“Nakul is booked until 15:30 IST.”</a:t>
            </a:r>
            <a:endParaRPr lang="en-US" sz="1500" dirty="0"/>
          </a:p>
        </p:txBody>
      </p:sp>
      <p:sp>
        <p:nvSpPr>
          <p:cNvPr id="9" name="Shape 7"/>
          <p:cNvSpPr/>
          <p:nvPr/>
        </p:nvSpPr>
        <p:spPr>
          <a:xfrm>
            <a:off x="6400800" y="2057400"/>
            <a:ext cx="5120640" cy="2606040"/>
          </a:xfrm>
          <a:prstGeom prst="roundRect">
            <a:avLst>
              <a:gd name="adj" fmla="val 2807"/>
            </a:avLst>
          </a:prstGeom>
          <a:solidFill>
            <a:srgbClr val="FFFFFF"/>
          </a:solidFill>
          <a:ln/>
          <a:effectLst>
            <a:outerShdw sx="100000" sy="100000" kx="0" ky="0" algn="bl" rotWithShape="0" blurRad="127000" dist="25400" dir="5400000">
              <a:srgbClr val="0E3A40">
                <a:alpha val="13000"/>
              </a:srgbClr>
            </a:outerShdw>
          </a:effectLst>
        </p:spPr>
      </p:sp>
      <p:sp>
        <p:nvSpPr>
          <p:cNvPr id="10" name="Text 8"/>
          <p:cNvSpPr/>
          <p:nvPr/>
        </p:nvSpPr>
        <p:spPr>
          <a:xfrm>
            <a:off x="6720840" y="2331720"/>
            <a:ext cx="4480560" cy="274320"/>
          </a:xfrm>
          <a:prstGeom prst="rect">
            <a:avLst/>
          </a:prstGeom>
          <a:noFill/>
          <a:ln/>
        </p:spPr>
        <p:txBody>
          <a:bodyPr wrap="square" lIns="0" tIns="0" rIns="0" bIns="0" rtlCol="0" anchor="ctr"/>
          <a:lstStyle/>
          <a:p>
            <a:pPr indent="0" marL="0">
              <a:buNone/>
            </a:pPr>
            <a:r>
              <a:rPr lang="en-US" sz="1200" b="1" spc="200" kern="0" dirty="0">
                <a:solidFill>
                  <a:srgbClr val="E8944F"/>
                </a:solidFill>
                <a:latin typeface="Calibri" pitchFamily="34" charset="0"/>
                <a:ea typeface="Calibri" pitchFamily="34" charset="-122"/>
                <a:cs typeface="Calibri" pitchFamily="34" charset="-120"/>
              </a:rPr>
              <a:t>IF IT ACTUALLY MATTERS</a:t>
            </a:r>
            <a:endParaRPr lang="en-US" sz="1200" dirty="0"/>
          </a:p>
        </p:txBody>
      </p:sp>
      <p:sp>
        <p:nvSpPr>
          <p:cNvPr id="11" name="Text 9"/>
          <p:cNvSpPr/>
          <p:nvPr/>
        </p:nvSpPr>
        <p:spPr>
          <a:xfrm>
            <a:off x="6720840" y="2743200"/>
            <a:ext cx="4480560" cy="1645920"/>
          </a:xfrm>
          <a:prstGeom prst="rect">
            <a:avLst/>
          </a:prstGeom>
          <a:noFill/>
          <a:ln/>
        </p:spPr>
        <p:txBody>
          <a:bodyPr wrap="square" lIns="0" tIns="0" rIns="0" bIns="0" rtlCol="0" anchor="ctr"/>
          <a:lstStyle/>
          <a:p>
            <a:pPr indent="0" marL="0">
              <a:lnSpc>
                <a:spcPct val="130000"/>
              </a:lnSpc>
              <a:buNone/>
            </a:pPr>
            <a:r>
              <a:rPr lang="en-US" sz="1400" dirty="0">
                <a:solidFill>
                  <a:srgbClr val="10181C"/>
                </a:solidFill>
                <a:latin typeface="Calibri" pitchFamily="34" charset="0"/>
                <a:ea typeface="Calibri" pitchFamily="34" charset="-122"/>
                <a:cs typeface="Calibri" pitchFamily="34" charset="-120"/>
              </a:rPr>
              <a:t>A reviewer mid-round, or a message naming a ticket already blocked on you — Locus proposes times instead of just deflecting, and the reschedule waits for you in the UI.</a:t>
            </a:r>
            <a:endParaRPr lang="en-US" sz="1400" dirty="0"/>
          </a:p>
        </p:txBody>
      </p:sp>
      <p:sp>
        <p:nvSpPr>
          <p:cNvPr id="12" name="Text 10"/>
          <p:cNvSpPr/>
          <p:nvPr/>
        </p:nvSpPr>
        <p:spPr>
          <a:xfrm>
            <a:off x="658368" y="5120640"/>
            <a:ext cx="10881360" cy="365760"/>
          </a:xfrm>
          <a:prstGeom prst="rect">
            <a:avLst/>
          </a:prstGeom>
          <a:noFill/>
          <a:ln/>
        </p:spPr>
        <p:txBody>
          <a:bodyPr wrap="square" lIns="0" tIns="0" rIns="0" bIns="0" rtlCol="0" anchor="ctr"/>
          <a:lstStyle/>
          <a:p>
            <a:pPr indent="0" marL="0">
              <a:buNone/>
            </a:pPr>
            <a:r>
              <a:rPr lang="en-US" sz="1900" b="1" dirty="0">
                <a:solidFill>
                  <a:srgbClr val="0D666D"/>
                </a:solidFill>
                <a:latin typeface="Cambria" pitchFamily="34" charset="0"/>
                <a:ea typeface="Cambria" pitchFamily="34" charset="-122"/>
                <a:cs typeface="Cambria" pitchFamily="34" charset="-120"/>
              </a:rPr>
              <a:t>Status and end time only — never what the meeting is about.</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3A40"/>
        </a:solidFill>
      </p:bgPr>
    </p:bg>
    <p:spTree>
      <p:nvGrpSpPr>
        <p:cNvPr id="1" name=""/>
        <p:cNvGrpSpPr/>
        <p:nvPr/>
      </p:nvGrpSpPr>
      <p:grpSpPr>
        <a:xfrm>
          <a:off x="0" y="0"/>
          <a:ext cx="0" cy="0"/>
          <a:chOff x="0" y="0"/>
          <a:chExt cx="0" cy="0"/>
        </a:xfrm>
      </p:grpSpPr>
      <p:sp>
        <p:nvSpPr>
          <p:cNvPr id="2" name="Text 0"/>
          <p:cNvSpPr/>
          <p:nvPr/>
        </p:nvSpPr>
        <p:spPr>
          <a:xfrm>
            <a:off x="640080" y="502920"/>
            <a:ext cx="10881360" cy="91440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Where it stands</a:t>
            </a:r>
            <a:endParaRPr lang="en-US" sz="3400" dirty="0"/>
          </a:p>
        </p:txBody>
      </p:sp>
      <p:sp>
        <p:nvSpPr>
          <p:cNvPr id="3" name="Shape 1"/>
          <p:cNvSpPr/>
          <p:nvPr/>
        </p:nvSpPr>
        <p:spPr>
          <a:xfrm>
            <a:off x="640080" y="1874520"/>
            <a:ext cx="5349240" cy="3429000"/>
          </a:xfrm>
          <a:prstGeom prst="roundRect">
            <a:avLst>
              <a:gd name="adj" fmla="val 2667"/>
            </a:avLst>
          </a:prstGeom>
          <a:solidFill>
            <a:srgbClr val="11484F"/>
          </a:solidFill>
          <a:ln w="19050">
            <a:solidFill>
              <a:srgbClr val="0D666D"/>
            </a:solidFill>
            <a:prstDash val="solid"/>
          </a:ln>
        </p:spPr>
      </p:sp>
      <p:sp>
        <p:nvSpPr>
          <p:cNvPr id="4" name="Text 2"/>
          <p:cNvSpPr/>
          <p:nvPr/>
        </p:nvSpPr>
        <p:spPr>
          <a:xfrm>
            <a:off x="960120" y="2176272"/>
            <a:ext cx="457200" cy="457200"/>
          </a:xfrm>
          <a:prstGeom prst="ellipse">
            <a:avLst/>
          </a:prstGeom>
          <a:solidFill>
            <a:srgbClr val="0D666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5" name="Text 3"/>
          <p:cNvSpPr/>
          <p:nvPr/>
        </p:nvSpPr>
        <p:spPr>
          <a:xfrm>
            <a:off x="1572768" y="2176272"/>
            <a:ext cx="4023360" cy="457200"/>
          </a:xfrm>
          <a:prstGeom prst="rect">
            <a:avLst/>
          </a:prstGeom>
          <a:noFill/>
          <a:ln/>
        </p:spPr>
        <p:txBody>
          <a:bodyPr wrap="square" lIns="0" tIns="0" rIns="0" bIns="0" rtlCol="0" anchor="ctr"/>
          <a:lstStyle/>
          <a:p>
            <a:pPr indent="0" marL="0">
              <a:buNone/>
            </a:pPr>
            <a:r>
              <a:rPr lang="en-US" sz="1300" b="1" spc="250" kern="0" dirty="0">
                <a:solidFill>
                  <a:srgbClr val="6FCBD1"/>
                </a:solidFill>
                <a:latin typeface="Calibri" pitchFamily="34" charset="0"/>
                <a:ea typeface="Calibri" pitchFamily="34" charset="-122"/>
                <a:cs typeface="Calibri" pitchFamily="34" charset="-120"/>
              </a:rPr>
              <a:t>SHIPPED</a:t>
            </a:r>
            <a:endParaRPr lang="en-US" sz="1300" dirty="0"/>
          </a:p>
        </p:txBody>
      </p:sp>
      <p:sp>
        <p:nvSpPr>
          <p:cNvPr id="6" name="Text 4"/>
          <p:cNvSpPr/>
          <p:nvPr/>
        </p:nvSpPr>
        <p:spPr>
          <a:xfrm>
            <a:off x="960120" y="2834640"/>
            <a:ext cx="466344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pipeline, end to end.</a:t>
            </a:r>
            <a:endParaRPr lang="en-US" sz="2000" dirty="0"/>
          </a:p>
        </p:txBody>
      </p:sp>
      <p:sp>
        <p:nvSpPr>
          <p:cNvPr id="7" name="Text 5"/>
          <p:cNvSpPr/>
          <p:nvPr/>
        </p:nvSpPr>
        <p:spPr>
          <a:xfrm>
            <a:off x="1051560" y="3401568"/>
            <a:ext cx="4572000" cy="16459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BFD8DA"/>
                </a:solidFill>
                <a:latin typeface="Calibri" pitchFamily="34" charset="0"/>
                <a:ea typeface="Calibri" pitchFamily="34" charset="-122"/>
                <a:cs typeface="Calibri" pitchFamily="34" charset="-120"/>
              </a:rPr>
              <a:t>651 passing tests</a:t>
            </a:r>
            <a:endParaRPr lang="en-US" sz="1350" dirty="0"/>
          </a:p>
          <a:p>
            <a:pPr marL="342900" indent="-342900">
              <a:spcAft>
                <a:spcPts val="600"/>
              </a:spcAft>
              <a:buSzPct val="100000"/>
              <a:buChar char="•"/>
            </a:pPr>
            <a:r>
              <a:rPr lang="en-US" sz="1350" dirty="0">
                <a:solidFill>
                  <a:srgbClr val="BFD8DA"/>
                </a:solidFill>
                <a:latin typeface="Calibri" pitchFamily="34" charset="0"/>
                <a:ea typeface="Calibri" pitchFamily="34" charset="-122"/>
                <a:cs typeface="Calibri" pitchFamily="34" charset="-120"/>
              </a:rPr>
              <a:t>49 backend service modules</a:t>
            </a:r>
            <a:endParaRPr lang="en-US" sz="1350" dirty="0"/>
          </a:p>
          <a:p>
            <a:pPr marL="342900" indent="-342900">
              <a:spcAft>
                <a:spcPts val="600"/>
              </a:spcAft>
              <a:buSzPct val="100000"/>
              <a:buChar char="•"/>
            </a:pPr>
            <a:r>
              <a:rPr lang="en-US" sz="1350" dirty="0">
                <a:solidFill>
                  <a:srgbClr val="BFD8DA"/>
                </a:solidFill>
                <a:latin typeface="Calibri" pitchFamily="34" charset="0"/>
                <a:ea typeface="Calibri" pitchFamily="34" charset="-122"/>
                <a:cs typeface="Calibri" pitchFamily="34" charset="-120"/>
              </a:rPr>
              <a:t>21 schema migrations</a:t>
            </a:r>
            <a:endParaRPr lang="en-US" sz="1350" dirty="0"/>
          </a:p>
          <a:p>
            <a:pPr marL="342900" indent="-342900">
              <a:spcAft>
                <a:spcPts val="600"/>
              </a:spcAft>
              <a:buSzPct val="100000"/>
              <a:buChar char="•"/>
            </a:pPr>
            <a:r>
              <a:rPr lang="en-US" sz="1350" dirty="0">
                <a:solidFill>
                  <a:srgbClr val="BFD8DA"/>
                </a:solidFill>
                <a:latin typeface="Calibri" pitchFamily="34" charset="0"/>
                <a:ea typeface="Calibri" pitchFamily="34" charset="-122"/>
                <a:cs typeface="Calibri" pitchFamily="34" charset="-120"/>
              </a:rPr>
              <a:t>8 integrations, inference fully local</a:t>
            </a:r>
            <a:endParaRPr lang="en-US" sz="1350" dirty="0"/>
          </a:p>
        </p:txBody>
      </p:sp>
      <p:sp>
        <p:nvSpPr>
          <p:cNvPr id="8" name="Shape 6"/>
          <p:cNvSpPr/>
          <p:nvPr/>
        </p:nvSpPr>
        <p:spPr>
          <a:xfrm>
            <a:off x="6217920" y="1874520"/>
            <a:ext cx="5349240" cy="3429000"/>
          </a:xfrm>
          <a:prstGeom prst="roundRect">
            <a:avLst>
              <a:gd name="adj" fmla="val 2667"/>
            </a:avLst>
          </a:prstGeom>
          <a:solidFill>
            <a:srgbClr val="11484F"/>
          </a:solidFill>
          <a:ln w="19050">
            <a:solidFill>
              <a:srgbClr val="E8944F"/>
            </a:solidFill>
            <a:prstDash val="solid"/>
          </a:ln>
        </p:spPr>
      </p:sp>
      <p:sp>
        <p:nvSpPr>
          <p:cNvPr id="9" name="Text 7"/>
          <p:cNvSpPr/>
          <p:nvPr/>
        </p:nvSpPr>
        <p:spPr>
          <a:xfrm>
            <a:off x="6537960" y="2176272"/>
            <a:ext cx="457200" cy="457200"/>
          </a:xfrm>
          <a:prstGeom prst="ellipse">
            <a:avLst/>
          </a:prstGeom>
          <a:solidFill>
            <a:srgbClr val="E8944F"/>
          </a:solidFill>
          <a:ln/>
        </p:spPr>
        <p:txBody>
          <a:bodyPr wrap="square" lIns="0" tIns="0" rIns="0" bIns="0" rtlCol="0" anchor="ctr"/>
          <a:lstStyle/>
          <a:p>
            <a:pPr algn="ctr" indent="0" marL="0">
              <a:buNone/>
            </a:pPr>
            <a:r>
              <a:rPr lang="en-US" sz="2000" b="1" dirty="0">
                <a:solidFill>
                  <a:srgbClr val="10181C"/>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7150608" y="2176272"/>
            <a:ext cx="4023360" cy="457200"/>
          </a:xfrm>
          <a:prstGeom prst="rect">
            <a:avLst/>
          </a:prstGeom>
          <a:noFill/>
          <a:ln/>
        </p:spPr>
        <p:txBody>
          <a:bodyPr wrap="square" lIns="0" tIns="0" rIns="0" bIns="0" rtlCol="0" anchor="ctr"/>
          <a:lstStyle/>
          <a:p>
            <a:pPr indent="0" marL="0">
              <a:buNone/>
            </a:pPr>
            <a:r>
              <a:rPr lang="en-US" sz="1300" b="1" spc="250" kern="0" dirty="0">
                <a:solidFill>
                  <a:srgbClr val="F6C89A"/>
                </a:solidFill>
                <a:latin typeface="Calibri" pitchFamily="34" charset="0"/>
                <a:ea typeface="Calibri" pitchFamily="34" charset="-122"/>
                <a:cs typeface="Calibri" pitchFamily="34" charset="-120"/>
              </a:rPr>
              <a:t>DESIGNED</a:t>
            </a:r>
            <a:endParaRPr lang="en-US" sz="1300" dirty="0"/>
          </a:p>
        </p:txBody>
      </p:sp>
      <p:sp>
        <p:nvSpPr>
          <p:cNvPr id="11" name="Text 9"/>
          <p:cNvSpPr/>
          <p:nvPr/>
        </p:nvSpPr>
        <p:spPr>
          <a:xfrm>
            <a:off x="6537960" y="2834640"/>
            <a:ext cx="466344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two-mode layer.</a:t>
            </a:r>
            <a:endParaRPr lang="en-US" sz="2000" dirty="0"/>
          </a:p>
        </p:txBody>
      </p:sp>
      <p:sp>
        <p:nvSpPr>
          <p:cNvPr id="12" name="Text 10"/>
          <p:cNvSpPr/>
          <p:nvPr/>
        </p:nvSpPr>
        <p:spPr>
          <a:xfrm>
            <a:off x="6629400" y="3401568"/>
            <a:ext cx="4572000" cy="16459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E0CDBB"/>
                </a:solidFill>
                <a:latin typeface="Calibri" pitchFamily="34" charset="0"/>
                <a:ea typeface="Calibri" pitchFamily="34" charset="-122"/>
                <a:cs typeface="Calibri" pitchFamily="34" charset="-120"/>
              </a:rPr>
              <a:t>8 phases, specced against the running code</a:t>
            </a:r>
            <a:endParaRPr lang="en-US" sz="1350" dirty="0"/>
          </a:p>
          <a:p>
            <a:pPr marL="342900" indent="-342900">
              <a:spcAft>
                <a:spcPts val="600"/>
              </a:spcAft>
              <a:buSzPct val="100000"/>
              <a:buChar char="•"/>
            </a:pPr>
            <a:r>
              <a:rPr lang="en-US" sz="1350" dirty="0">
                <a:solidFill>
                  <a:srgbClr val="E0CDBB"/>
                </a:solidFill>
                <a:latin typeface="Calibri" pitchFamily="34" charset="0"/>
                <a:ea typeface="Calibri" pitchFamily="34" charset="-122"/>
                <a:cs typeface="Calibri" pitchFamily="34" charset="-120"/>
              </a:rPr>
              <a:t>4 migrations, every call site traced</a:t>
            </a:r>
            <a:endParaRPr lang="en-US" sz="1350" dirty="0"/>
          </a:p>
          <a:p>
            <a:pPr marL="342900" indent="-342900">
              <a:spcAft>
                <a:spcPts val="600"/>
              </a:spcAft>
              <a:buSzPct val="100000"/>
              <a:buChar char="•"/>
            </a:pPr>
            <a:r>
              <a:rPr lang="en-US" sz="1350" dirty="0">
                <a:solidFill>
                  <a:srgbClr val="E0CDBB"/>
                </a:solidFill>
                <a:latin typeface="Calibri" pitchFamily="34" charset="0"/>
                <a:ea typeface="Calibri" pitchFamily="34" charset="-122"/>
                <a:cs typeface="Calibri" pitchFamily="34" charset="-120"/>
              </a:rPr>
              <a:t>Each rail written with the failure behind it</a:t>
            </a:r>
            <a:endParaRPr lang="en-US" sz="1350" dirty="0"/>
          </a:p>
          <a:p>
            <a:pPr marL="342900" indent="-342900">
              <a:spcAft>
                <a:spcPts val="600"/>
              </a:spcAft>
              <a:buSzPct val="100000"/>
              <a:buChar char="•"/>
            </a:pPr>
            <a:r>
              <a:rPr lang="en-US" sz="1350" dirty="0">
                <a:solidFill>
                  <a:srgbClr val="E0CDBB"/>
                </a:solidFill>
                <a:latin typeface="Calibri" pitchFamily="34" charset="0"/>
                <a:ea typeface="Calibri" pitchFamily="34" charset="-122"/>
                <a:cs typeface="Calibri" pitchFamily="34" charset="-120"/>
              </a:rPr>
              <a:t>Nothing merged yet — this is the roadmap</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3A40"/>
        </a:solidFill>
      </p:bgPr>
    </p:bg>
    <p:spTree>
      <p:nvGrpSpPr>
        <p:cNvPr id="1" name=""/>
        <p:cNvGrpSpPr/>
        <p:nvPr/>
      </p:nvGrpSpPr>
      <p:grpSpPr>
        <a:xfrm>
          <a:off x="0" y="0"/>
          <a:ext cx="0" cy="0"/>
          <a:chOff x="0" y="0"/>
          <a:chExt cx="0" cy="0"/>
        </a:xfrm>
      </p:grpSpPr>
      <p:sp>
        <p:nvSpPr>
          <p:cNvPr id="2" name="Text 0"/>
          <p:cNvSpPr/>
          <p:nvPr/>
        </p:nvSpPr>
        <p:spPr>
          <a:xfrm>
            <a:off x="731520" y="1783080"/>
            <a:ext cx="6949440" cy="12801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Now the part that's running today.</a:t>
            </a:r>
            <a:endParaRPr lang="en-US" sz="4200" dirty="0"/>
          </a:p>
        </p:txBody>
      </p:sp>
      <p:sp>
        <p:nvSpPr>
          <p:cNvPr id="3" name="Text 1"/>
          <p:cNvSpPr/>
          <p:nvPr/>
        </p:nvSpPr>
        <p:spPr>
          <a:xfrm>
            <a:off x="777240" y="3291840"/>
            <a:ext cx="6675120" cy="201168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6FCBD1"/>
                </a:solidFill>
                <a:latin typeface="Calibri" pitchFamily="34" charset="0"/>
                <a:ea typeface="Calibri" pitchFamily="34" charset="-122"/>
                <a:cs typeface="Calibri" pitchFamily="34" charset="-120"/>
              </a:rPr>
              <a:t>The board — every ticket assigned to me, and its live stage</a:t>
            </a:r>
            <a:endParaRPr lang="en-US" sz="1600" dirty="0"/>
          </a:p>
          <a:p>
            <a:pPr marL="342900" indent="-342900">
              <a:spcAft>
                <a:spcPts val="1000"/>
              </a:spcAft>
              <a:buSzPct val="100000"/>
              <a:buChar char="•"/>
            </a:pPr>
            <a:r>
              <a:rPr lang="en-US" sz="1600" dirty="0">
                <a:solidFill>
                  <a:srgbClr val="6FCBD1"/>
                </a:solidFill>
                <a:latin typeface="Calibri" pitchFamily="34" charset="0"/>
                <a:ea typeface="Calibri" pitchFamily="34" charset="-122"/>
                <a:cs typeface="Calibri" pitchFamily="34" charset="-120"/>
              </a:rPr>
              <a:t>One task — the context it gathered, from four tools</a:t>
            </a:r>
            <a:endParaRPr lang="en-US" sz="1600" dirty="0"/>
          </a:p>
          <a:p>
            <a:pPr marL="342900" indent="-342900">
              <a:spcAft>
                <a:spcPts val="1000"/>
              </a:spcAft>
              <a:buSzPct val="100000"/>
              <a:buChar char="•"/>
            </a:pPr>
            <a:r>
              <a:rPr lang="en-US" sz="1600" dirty="0">
                <a:solidFill>
                  <a:srgbClr val="6FCBD1"/>
                </a:solidFill>
                <a:latin typeface="Calibri" pitchFamily="34" charset="0"/>
                <a:ea typeface="Calibri" pitchFamily="34" charset="-122"/>
                <a:cs typeface="Calibri" pitchFamily="34" charset="-120"/>
              </a:rPr>
              <a:t>The review round trip, and the merge gate</a:t>
            </a:r>
            <a:endParaRPr lang="en-US" sz="1600" dirty="0"/>
          </a:p>
          <a:p>
            <a:pPr marL="342900" indent="-342900">
              <a:spcAft>
                <a:spcPts val="1000"/>
              </a:spcAft>
              <a:buSzPct val="100000"/>
              <a:buChar char="•"/>
            </a:pPr>
            <a:r>
              <a:rPr lang="en-US" sz="1600" dirty="0">
                <a:solidFill>
                  <a:srgbClr val="6FCBD1"/>
                </a:solidFill>
                <a:latin typeface="Calibri" pitchFamily="34" charset="0"/>
                <a:ea typeface="Calibri" pitchFamily="34" charset="-122"/>
                <a:cs typeface="Calibri" pitchFamily="34" charset="-120"/>
              </a:rPr>
              <a:t>The QA thread, and the record it wrote</a:t>
            </a:r>
            <a:endParaRPr lang="en-US" sz="1600" dirty="0"/>
          </a:p>
        </p:txBody>
      </p:sp>
      <p:sp>
        <p:nvSpPr>
          <p:cNvPr id="4" name="Text 2"/>
          <p:cNvSpPr/>
          <p:nvPr/>
        </p:nvSpPr>
        <p:spPr>
          <a:xfrm>
            <a:off x="8869680" y="2606040"/>
            <a:ext cx="2286000" cy="2286000"/>
          </a:xfrm>
          <a:prstGeom prst="ellipse">
            <a:avLst/>
          </a:prstGeom>
          <a:solidFill>
            <a:srgbClr val="0D666D"/>
          </a:solid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DEMO</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Locus — two modes</dc:title>
  <dc:subject>PptxGenJS Presentation</dc:subject>
  <dc:creator>Nakul</dc:creator>
  <cp:lastModifiedBy>Nakul</cp:lastModifiedBy>
  <cp:revision>1</cp:revision>
  <dcterms:created xsi:type="dcterms:W3CDTF">2026-08-23T18:52:11Z</dcterms:created>
  <dcterms:modified xsi:type="dcterms:W3CDTF">2026-08-23T18:52:11Z</dcterms:modified>
</cp:coreProperties>
</file>